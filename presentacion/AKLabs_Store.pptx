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AKLabs Store: la tienda del merch propio AKLabs. Stack: Medusa v2 como backend de comercio, un storefront Next.js y Supabase Postgres como base de datos. Vende en Ecuador en dólares (/ec) y en Europa en euros (/dk). Hoy muestro la arquitectura, las decisiones y una compra en vivo que termina como una fila en la tabla order de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6 productos propios con 28 variantes y precios en dos monedas, 2 regiones de venta, 147 tablas creadas por las migraciones de Medusa en Supabase y un checkout de 4 pasos que termina en una orden registrada. A la derecha, la home del storefront con el diseño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Flujo: el navegador pide páginas al storefront Next.js. El storefront, desde el servidor, llama a la Store API de Medusa con la publishable key. Medusa ejecuta la lógica de comercio (precios por región, carrito, envíos, pagos, workflows) y es el único que habla SQL con Postgres, a través del Session pooler de Supabase con TLS. Supabase solo almacena: no calcula precios ni crea órdenes.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paso de la compra es una llamada del storefront a la Store API, y cada llamada escribe tablas concretas: el carrito y sus líneas, la dirección, el método de envío, la colección y la sesión de pago. Al confirmar, completeCartWorkflow crea la orden (order, order_item, order_summary, payment). Es un workflow con compensaciones: si algo falla, revierte.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ofrece tres modos. La conexión directa es solo IPv6 en el plan gratuito, así que desde muchas redes IPv4 no conecta. El Transaction pooler (6543) reasigna la conexión por transacción y rompe prepared statements y estado de sesión, que MikroORM y las migraciones necesitan. Por eso uso el Session pooler en el 5432: IPv4, sesión completa y pool de Supavisor. El proyecto es propio, en us-west-2, Postgres 17, en estado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Monorepo pnpm con Turborepo: pnpm dev levanta backend y storefront juntos, en los puertos por defecto (9000 y 8000). El admin está en /app. REDIS_URL se eliminó del .env en vez de dejarlo vacío: sin Redis, Medusa usa event bus, caché y locking en memoria, y lo dice en el log (redisUrl not found). La publishable key está en .env.local, no pegada en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pnpm medusa db:migrate creó 147 tablas en el esquema public y registró 181 migraciones. Están product, region y order y todas las demás: catálogo, precios, regiones, carrito, órdenes, pagos y logística. Cada módulo de Medusa es dueño de sus tablas y las relaciones entre módulos se guardan en tablas link. La configuración quedó limpia: una sola DATABASE_URL, sin URIs viejas comentadas y con los CORS del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Decisiones de región: USD porque es la moneda oficial de Ecuador desde la dolarización. Una región propia porque en Medusa la región define moneda, impuestos, proveedores de pago y zonas de envío. Precios explícitos por moneda (no conversión). Envío configurado con una service zone para EC con dos opciones. USD quedó como moneda por defecto de la tienda y el middleware usa ec como fallback. La región Europe se mantuvo: /dk sigue funcionando en euros con el mismo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productos propios de AKLabs, con fotos propias. Cada uno tiene variantes con SKU (28 en total), inventario de 500 unidades por variante, precio en USD y en EUR, imágenes, categoría, material y peso, y está publicado en el canal de venta. Todo se carga con pnpm seed, que es idempotente: se puede correr varias veces y deja la base igual. También elimina el catálogo demo del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storefront tiene diseño propio: la paleta sale del monograma AK (rojo, azul real, celeste y navy), Bebas Neue para los titulares como el wordmark, superficies de vidrio (liquid glass), gradientes y fondos aurora. Todo está en español y con formato de moneda local. Se rediseñaron home, tienda, producto, carrito, checkout, confirmación y cuenta. Funciona en móvil sin scroll horizontal.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supabase-js: primero, porque la lógica de comercio vive en Medusa y escribir tablas desde el navegador la saltaría (órdenes sin pago, stock sin reservar). Segundo, seguridad: supabase-js expone la anon key y obliga a RLS sobre 147 tablas que no fueron diseñadas para eso; aquí las credenciales están solo en el servidor. Tercero, Medusa es dueño del esquema por sus migraciones. Cuarto, separación de responsabilidades: Supabase es Postgres administrado, no el backend. Por eso tampoco uso Supabase Auth: los clientes se autentican con Medusa.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 la demo: 1) en Supabase abro el Table Editor y muestro product, region y order. 2) Compro una hoodie en /ec y completo el checkout. 3) En el SQL Editor ejecuto la consulta de la derecha y refresco: la fila nueva aparece arriba. 4) Relaciono el número #N y el ID order_… con lo que muestra la página de confirmación. Nota: cada paso del checkout tarda unos segundos porque la base está en us-west-2; aprovecho para explicar qué tabla se escribe en cada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Higiene: .gitignore que excluye node_modules, builds y todos los .env salvo los .env.example; ejemplos de variables para backend y storefront sin secretos; README con los pasos de arranque; historial de commits con mensajes descriptivos en un PR; nada de supabase-js, Supabase Auth ni RLS; y el seed es idempotente. En las diapositivas la contraseña de la base aparece enmascarada.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Aprendizajes: Medusa separa el dominio de comercio (módulos y workflows) de los datos; el modo de conexión a Supabase importa (Session pooler para ORMs con sesión); y multi-región no es solo convertir moneda, es moneda, impuestos y envíos por región. La latencia a us-west-2 (unos 160 ms por consulta) explica que el checkout tarde. Próximos pasos: IVA del 15%, pagos reales, Redis y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El repositorio está en GitHub con el PR del trabajo, y la tienda corre localmente en localhost:8000/ec con el admin en localhost:9000/app.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2-7.png"/><Relationship Id="rId8" Type="http://schemas.openxmlformats.org/officeDocument/2006/relationships/image" Target="../media/image-2-3.png"/><Relationship Id="rId9" Type="http://schemas.openxmlformats.org/officeDocument/2006/relationships/image" Target="../media/image-2-9.png"/><Relationship Id="rId10" Type="http://schemas.openxmlformats.org/officeDocument/2006/relationships/image" Target="../media/image-2-3.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3.png"/><Relationship Id="rId7" Type="http://schemas.openxmlformats.org/officeDocument/2006/relationships/image" Target="../media/image-3-7.png"/><Relationship Id="rId8" Type="http://schemas.openxmlformats.org/officeDocument/2006/relationships/image" Target="../media/image-3-3.png"/><Relationship Id="rId9" Type="http://schemas.openxmlformats.org/officeDocument/2006/relationships/image" Target="../media/image-3-9.png"/><Relationship Id="rId10" Type="http://schemas.openxmlformats.org/officeDocument/2006/relationships/image" Target="../media/image-3-3.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3.png"/><Relationship Id="rId8" Type="http://schemas.openxmlformats.org/officeDocument/2006/relationships/image" Target="../media/image-4-3.png"/><Relationship Id="rId9" Type="http://schemas.openxmlformats.org/officeDocument/2006/relationships/image" Target="../media/image-4-3.png"/><Relationship Id="rId10" Type="http://schemas.openxmlformats.org/officeDocument/2006/relationships/image" Target="../media/image-4-3.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4.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6.png"/><Relationship Id="rId9" Type="http://schemas.openxmlformats.org/officeDocument/2006/relationships/image" Target="../media/image-5-6.png"/><Relationship Id="rId10" Type="http://schemas.openxmlformats.org/officeDocument/2006/relationships/image" Target="../media/image-5-6.png"/><Relationship Id="rId11" Type="http://schemas.openxmlformats.org/officeDocument/2006/relationships/image" Target="../media/image-5-6.png"/><Relationship Id="rId12" Type="http://schemas.openxmlformats.org/officeDocument/2006/relationships/image" Target="../media/image-5-4.png"/><Relationship Id="rId13" Type="http://schemas.openxmlformats.org/officeDocument/2006/relationships/image" Target="../media/image-5-4.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5.png"/><Relationship Id="rId6" Type="http://schemas.openxmlformats.org/officeDocument/2006/relationships/image" Target="../media/image-6-3.png"/><Relationship Id="rId7" Type="http://schemas.openxmlformats.org/officeDocument/2006/relationships/image" Target="../media/image-6-7.png"/><Relationship Id="rId8" Type="http://schemas.openxmlformats.org/officeDocument/2006/relationships/image" Target="../media/image-6-3.png"/><Relationship Id="rId9" Type="http://schemas.openxmlformats.org/officeDocument/2006/relationships/image" Target="../media/image-6-9.png"/><Relationship Id="rId10" Type="http://schemas.openxmlformats.org/officeDocument/2006/relationships/image" Target="../media/image-6-3.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5.png"/><Relationship Id="rId6" Type="http://schemas.openxmlformats.org/officeDocument/2006/relationships/image" Target="../media/image-8-3.png"/><Relationship Id="rId7" Type="http://schemas.openxmlformats.org/officeDocument/2006/relationships/image" Target="../media/image-8-7.png"/><Relationship Id="rId8" Type="http://schemas.openxmlformats.org/officeDocument/2006/relationships/image" Target="../media/image-8-3.png"/><Relationship Id="rId9" Type="http://schemas.openxmlformats.org/officeDocument/2006/relationships/image" Target="../media/image-8-9.png"/><Relationship Id="rId10" Type="http://schemas.openxmlformats.org/officeDocument/2006/relationships/image" Target="../media/image-8-3.png"/><Relationship Id="rId11" Type="http://schemas.openxmlformats.org/officeDocument/2006/relationships/image" Target="../media/image-8-11.png"/><Relationship Id="rId12" Type="http://schemas.openxmlformats.org/officeDocument/2006/relationships/image" Target="../media/image-8-3.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4.png"/><Relationship Id="rId17" Type="http://schemas.openxmlformats.org/officeDocument/2006/relationships/image" Target="../media/image-8-15.png"/><Relationship Id="rId18" Type="http://schemas.openxmlformats.org/officeDocument/2006/relationships/slideLayout" Target="../slideLayouts/slideLayout1.xml"/><Relationship Id="rId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0.png"/><Relationship Id="rId12" Type="http://schemas.openxmlformats.org/officeDocument/2006/relationships/image" Target="../media/image-9-10.png"/><Relationship Id="rId13" Type="http://schemas.openxmlformats.org/officeDocument/2006/relationships/image" Target="../media/image-9-10.png"/><Relationship Id="rId14" Type="http://schemas.openxmlformats.org/officeDocument/2006/relationships/image" Target="../media/image-9-10.png"/><Relationship Id="rId15" Type="http://schemas.openxmlformats.org/officeDocument/2006/relationships/image" Target="../media/image-9-10.png"/><Relationship Id="rId16" Type="http://schemas.openxmlformats.org/officeDocument/2006/relationships/image" Target="../media/image-9-16.png"/><Relationship Id="rId17" Type="http://schemas.openxmlformats.org/officeDocument/2006/relationships/slideLayout" Target="../slideLayouts/slideLayout1.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image" Target="../media/image-11-5.png"/><Relationship Id="rId6" Type="http://schemas.openxmlformats.org/officeDocument/2006/relationships/image" Target="../media/image-11-3.png"/><Relationship Id="rId7" Type="http://schemas.openxmlformats.org/officeDocument/2006/relationships/image" Target="../media/image-11-7.png"/><Relationship Id="rId8" Type="http://schemas.openxmlformats.org/officeDocument/2006/relationships/image" Target="../media/image-11-3.png"/><Relationship Id="rId9" Type="http://schemas.openxmlformats.org/officeDocument/2006/relationships/image" Target="../media/image-11-9.png"/><Relationship Id="rId10" Type="http://schemas.openxmlformats.org/officeDocument/2006/relationships/image" Target="../media/image-11-3.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3.png"/><Relationship Id="rId7" Type="http://schemas.openxmlformats.org/officeDocument/2006/relationships/image" Target="../media/image-12-3.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4.png"/><Relationship Id="rId6" Type="http://schemas.openxmlformats.org/officeDocument/2006/relationships/image" Target="../media/image-13-4.png"/><Relationship Id="rId7" Type="http://schemas.openxmlformats.org/officeDocument/2006/relationships/image" Target="../media/image-13-4.png"/><Relationship Id="rId8" Type="http://schemas.openxmlformats.org/officeDocument/2006/relationships/image" Target="../media/image-13-4.png"/><Relationship Id="rId9" Type="http://schemas.openxmlformats.org/officeDocument/2006/relationships/image" Target="../media/image-13-4.png"/><Relationship Id="rId10" Type="http://schemas.openxmlformats.org/officeDocument/2006/relationships/image" Target="../media/image-13-4.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5.png"/><Relationship Id="rId6" Type="http://schemas.openxmlformats.org/officeDocument/2006/relationships/image" Target="../media/image-14-3.png"/><Relationship Id="rId7" Type="http://schemas.openxmlformats.org/officeDocument/2006/relationships/image" Target="../media/image-14-7.png"/><Relationship Id="rId8" Type="http://schemas.openxmlformats.org/officeDocument/2006/relationships/image" Target="../media/image-14-3.png"/><Relationship Id="rId9" Type="http://schemas.openxmlformats.org/officeDocument/2006/relationships/image" Target="../media/image-14-9.png"/><Relationship Id="rId10" Type="http://schemas.openxmlformats.org/officeDocument/2006/relationships/image" Target="../media/image-14-3.png"/><Relationship Id="rId11" Type="http://schemas.openxmlformats.org/officeDocument/2006/relationships/image" Target="../media/image-14-11.png"/><Relationship Id="rId12" Type="http://schemas.openxmlformats.org/officeDocument/2006/relationships/image" Target="../media/image-14-3.png"/><Relationship Id="rId13" Type="http://schemas.openxmlformats.org/officeDocument/2006/relationships/image" Target="../media/image-14-13.png"/><Relationship Id="rId14" Type="http://schemas.openxmlformats.org/officeDocument/2006/relationships/image" Target="../media/image-14-3.png"/><Relationship Id="rId15" Type="http://schemas.openxmlformats.org/officeDocument/2006/relationships/image" Target="../media/image-14-15.png"/><Relationship Id="rId16" Type="http://schemas.openxmlformats.org/officeDocument/2006/relationships/image" Target="../media/image-14-3.png"/><Relationship Id="rId17" Type="http://schemas.openxmlformats.org/officeDocument/2006/relationships/image" Target="../media/image-14-17.png"/><Relationship Id="rId18" Type="http://schemas.openxmlformats.org/officeDocument/2006/relationships/image" Target="../media/image-14-3.png"/><Relationship Id="rId19" Type="http://schemas.openxmlformats.org/officeDocument/2006/relationships/image" Target="../media/image-14-19.png"/><Relationship Id="rId20" Type="http://schemas.openxmlformats.org/officeDocument/2006/relationships/slideLayout" Target="../slideLayouts/slideLayout1.xml"/><Relationship Id="rId2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502920"/>
            <a:ext cx="676656" cy="640080"/>
          </a:xfrm>
          <a:prstGeom prst="rect">
            <a:avLst/>
          </a:prstGeom>
        </p:spPr>
      </p:pic>
      <p:sp>
        <p:nvSpPr>
          <p:cNvPr id="3" name="Shape 0"/>
          <p:cNvSpPr/>
          <p:nvPr/>
        </p:nvSpPr>
        <p:spPr>
          <a:xfrm>
            <a:off x="1417320" y="658368"/>
            <a:ext cx="4197096"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4"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1572768" y="781812"/>
            <a:ext cx="82296" cy="82296"/>
          </a:xfrm>
          <a:prstGeom prst="rect">
            <a:avLst/>
          </a:prstGeom>
        </p:spPr>
      </p:pic>
      <p:sp>
        <p:nvSpPr>
          <p:cNvPr id="5" name="Text 1"/>
          <p:cNvSpPr txBox="1"/>
          <p:nvPr/>
        </p:nvSpPr>
        <p:spPr>
          <a:xfrm>
            <a:off x="1728216" y="658368"/>
            <a:ext cx="3831336"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PROYECTO · E-COMMERCE HEADLESS</a:t>
            </a:r>
            <a:endParaRPr lang="en-US" sz="1000" dirty="0"/>
          </a:p>
        </p:txBody>
      </p:sp>
      <p:pic>
        <p:nvPicPr>
          <p:cNvPr id="6" name="Image 2" descr="C:\Users\AlexAmaze\AppData\Local\Temp\claude\C--My-Files-repos-supaday-ecommerce\b329a27c-f2be-420c-b170-4436a9ee7093\scratchpad\ppt\assets\t-cover.png">    </p:cNvPr>
          <p:cNvPicPr>
            <a:picLocks noChangeAspect="1"/>
          </p:cNvPicPr>
          <p:nvPr/>
        </p:nvPicPr>
        <p:blipFill>
          <a:blip r:embed="rId4"/>
          <a:stretch>
            <a:fillRect/>
          </a:stretch>
        </p:blipFill>
        <p:spPr>
          <a:xfrm>
            <a:off x="548640" y="1645920"/>
            <a:ext cx="6126480" cy="1038838"/>
          </a:xfrm>
          <a:prstGeom prst="rect">
            <a:avLst/>
          </a:prstGeom>
        </p:spPr>
      </p:pic>
      <p:sp>
        <p:nvSpPr>
          <p:cNvPr id="7" name="Text 2"/>
          <p:cNvSpPr txBox="1"/>
          <p:nvPr/>
        </p:nvSpPr>
        <p:spPr>
          <a:xfrm>
            <a:off x="548640" y="2926080"/>
            <a:ext cx="5943600" cy="914400"/>
          </a:xfrm>
          <a:prstGeom prst="rect">
            <a:avLst/>
          </a:prstGeom>
          <a:noFill/>
          <a:ln/>
        </p:spPr>
        <p:txBody>
          <a:bodyPr wrap="square" lIns="0" tIns="0" rIns="0" bIns="0" rtlCol="0" anchor="t"/>
          <a:lstStyle/>
          <a:p>
            <a:pPr indent="0" marL="0">
              <a:lnSpc>
                <a:spcPct val="110000"/>
              </a:lnSpc>
              <a:buNone/>
            </a:pPr>
            <a:r>
              <a:rPr lang="en-US" sz="1800" dirty="0">
                <a:solidFill>
                  <a:srgbClr val="DCE3F7"/>
                </a:solidFill>
                <a:latin typeface="Segoe UI" pitchFamily="34" charset="0"/>
                <a:ea typeface="Segoe UI" pitchFamily="34" charset="-122"/>
                <a:cs typeface="Segoe UI" pitchFamily="34" charset="-120"/>
              </a:rPr>
              <a:t>Tienda del merch propio AKLabs: catálogo propio, región Ecuador en dólares y órdenes registradas en Supabase Postgres.</a:t>
            </a:r>
            <a:endParaRPr lang="en-US" sz="1800" dirty="0"/>
          </a:p>
        </p:txBody>
      </p:sp>
      <p:sp>
        <p:nvSpPr>
          <p:cNvPr id="8" name="Shape 3"/>
          <p:cNvSpPr/>
          <p:nvPr/>
        </p:nvSpPr>
        <p:spPr>
          <a:xfrm>
            <a:off x="548640" y="4069080"/>
            <a:ext cx="1417320" cy="402336"/>
          </a:xfrm>
          <a:prstGeom prst="roundRect">
            <a:avLst>
              <a:gd name="adj" fmla="val 50000"/>
            </a:avLst>
          </a:prstGeom>
          <a:solidFill>
            <a:srgbClr val="FFFFFF">
              <a:alpha val="14000"/>
            </a:srgbClr>
          </a:solidFill>
          <a:ln w="12700">
            <a:solidFill>
              <a:srgbClr val="FFFFFF">
                <a:alpha val="24000"/>
              </a:srgbClr>
            </a:solidFill>
            <a:prstDash val="solid"/>
          </a:ln>
        </p:spPr>
      </p:sp>
      <p:sp>
        <p:nvSpPr>
          <p:cNvPr id="9" name="Text 4"/>
          <p:cNvSpPr txBox="1"/>
          <p:nvPr/>
        </p:nvSpPr>
        <p:spPr>
          <a:xfrm>
            <a:off x="548640" y="4069080"/>
            <a:ext cx="1417320" cy="402336"/>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Medusa v2</a:t>
            </a:r>
            <a:endParaRPr lang="en-US" sz="1250" dirty="0"/>
          </a:p>
        </p:txBody>
      </p:sp>
      <p:sp>
        <p:nvSpPr>
          <p:cNvPr id="10" name="Shape 5"/>
          <p:cNvSpPr/>
          <p:nvPr/>
        </p:nvSpPr>
        <p:spPr>
          <a:xfrm>
            <a:off x="2130552" y="4069080"/>
            <a:ext cx="1417320" cy="402336"/>
          </a:xfrm>
          <a:prstGeom prst="roundRect">
            <a:avLst>
              <a:gd name="adj" fmla="val 50000"/>
            </a:avLst>
          </a:prstGeom>
          <a:solidFill>
            <a:srgbClr val="FFFFFF">
              <a:alpha val="14000"/>
            </a:srgbClr>
          </a:solidFill>
          <a:ln w="12700">
            <a:solidFill>
              <a:srgbClr val="FFFFFF">
                <a:alpha val="24000"/>
              </a:srgbClr>
            </a:solidFill>
            <a:prstDash val="solid"/>
          </a:ln>
        </p:spPr>
      </p:sp>
      <p:sp>
        <p:nvSpPr>
          <p:cNvPr id="11" name="Text 6"/>
          <p:cNvSpPr txBox="1"/>
          <p:nvPr/>
        </p:nvSpPr>
        <p:spPr>
          <a:xfrm>
            <a:off x="2130552" y="4069080"/>
            <a:ext cx="1417320" cy="402336"/>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Next.js 15</a:t>
            </a:r>
            <a:endParaRPr lang="en-US" sz="1250" dirty="0"/>
          </a:p>
        </p:txBody>
      </p:sp>
      <p:sp>
        <p:nvSpPr>
          <p:cNvPr id="12" name="Shape 7"/>
          <p:cNvSpPr/>
          <p:nvPr/>
        </p:nvSpPr>
        <p:spPr>
          <a:xfrm>
            <a:off x="3712464" y="4069080"/>
            <a:ext cx="2057400" cy="402336"/>
          </a:xfrm>
          <a:prstGeom prst="roundRect">
            <a:avLst>
              <a:gd name="adj" fmla="val 50000"/>
            </a:avLst>
          </a:prstGeom>
          <a:solidFill>
            <a:srgbClr val="FFFFFF">
              <a:alpha val="14000"/>
            </a:srgbClr>
          </a:solidFill>
          <a:ln w="12700">
            <a:solidFill>
              <a:srgbClr val="FFFFFF">
                <a:alpha val="24000"/>
              </a:srgbClr>
            </a:solidFill>
            <a:prstDash val="solid"/>
          </a:ln>
        </p:spPr>
      </p:sp>
      <p:sp>
        <p:nvSpPr>
          <p:cNvPr id="13" name="Text 8"/>
          <p:cNvSpPr txBox="1"/>
          <p:nvPr/>
        </p:nvSpPr>
        <p:spPr>
          <a:xfrm>
            <a:off x="3712464" y="4069080"/>
            <a:ext cx="2057400" cy="402336"/>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Supabase Postgres</a:t>
            </a:r>
            <a:endParaRPr lang="en-US" sz="1250" dirty="0"/>
          </a:p>
        </p:txBody>
      </p:sp>
      <p:sp>
        <p:nvSpPr>
          <p:cNvPr id="14" name="Text 9"/>
          <p:cNvSpPr txBox="1"/>
          <p:nvPr/>
        </p:nvSpPr>
        <p:spPr>
          <a:xfrm>
            <a:off x="548640" y="5669280"/>
            <a:ext cx="4572000" cy="365760"/>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Alexander Kholodov</a:t>
            </a:r>
            <a:endParaRPr lang="en-US" sz="1700" dirty="0"/>
          </a:p>
        </p:txBody>
      </p:sp>
      <p:sp>
        <p:nvSpPr>
          <p:cNvPr id="15" name="Text 10"/>
          <p:cNvSpPr txBox="1"/>
          <p:nvPr/>
        </p:nvSpPr>
        <p:spPr>
          <a:xfrm>
            <a:off x="548640" y="6035040"/>
            <a:ext cx="4572000" cy="274320"/>
          </a:xfrm>
          <a:prstGeom prst="rect">
            <a:avLst/>
          </a:prstGeom>
          <a:noFill/>
          <a:ln/>
        </p:spPr>
        <p:txBody>
          <a:bodyPr wrap="square" lIns="0" tIns="0" rIns="0" bIns="0" rtlCol="0" anchor="t"/>
          <a:lstStyle/>
          <a:p>
            <a:pPr indent="0" marL="0">
              <a:buNone/>
            </a:pPr>
            <a:r>
              <a:rPr lang="en-US" sz="1200" dirty="0">
                <a:solidFill>
                  <a:srgbClr val="C9D2EE"/>
                </a:solidFill>
                <a:latin typeface="Segoe UI" pitchFamily="34" charset="0"/>
                <a:ea typeface="Segoe UI" pitchFamily="34" charset="-122"/>
                <a:cs typeface="Segoe UI" pitchFamily="34" charset="-120"/>
              </a:rPr>
              <a:t>Septiembre 2026</a:t>
            </a:r>
            <a:endParaRPr lang="en-US" sz="1200" dirty="0"/>
          </a:p>
        </p:txBody>
      </p:sp>
      <p:sp>
        <p:nvSpPr>
          <p:cNvPr id="16" name="Shape 11"/>
          <p:cNvSpPr/>
          <p:nvPr/>
        </p:nvSpPr>
        <p:spPr>
          <a:xfrm>
            <a:off x="6903720" y="868680"/>
            <a:ext cx="2971800" cy="3337560"/>
          </a:xfrm>
          <a:prstGeom prst="roundRect">
            <a:avLst>
              <a:gd name="adj" fmla="val 9231"/>
            </a:avLst>
          </a:prstGeom>
          <a:solidFill>
            <a:srgbClr val="FFFFFF">
              <a:alpha val="14000"/>
            </a:srgbClr>
          </a:solidFill>
          <a:ln w="12700">
            <a:solidFill>
              <a:srgbClr val="FFFFFF">
                <a:alpha val="24000"/>
              </a:srgbClr>
            </a:solidFill>
            <a:prstDash val="solid"/>
          </a:ln>
        </p:spPr>
      </p:sp>
      <p:pic>
        <p:nvPicPr>
          <p:cNvPr id="17" name="Image 3" descr="C:\Users\AlexAmaze\AppData\Local\Temp\claude\C--My-Files-repos-supaday-ecommerce\b329a27c-f2be-420c-b170-4436a9ee7093\scratchpad\ppt\assets\p-hoodie-black-front.png">    </p:cNvPr>
          <p:cNvPicPr>
            <a:picLocks noChangeAspect="1"/>
          </p:cNvPicPr>
          <p:nvPr/>
        </p:nvPicPr>
        <p:blipFill>
          <a:blip r:embed="rId5"/>
          <a:stretch>
            <a:fillRect/>
          </a:stretch>
        </p:blipFill>
        <p:spPr>
          <a:xfrm>
            <a:off x="7040880" y="1005840"/>
            <a:ext cx="2697480" cy="2697480"/>
          </a:xfrm>
          <a:prstGeom prst="rect">
            <a:avLst/>
          </a:prstGeom>
        </p:spPr>
      </p:pic>
      <p:sp>
        <p:nvSpPr>
          <p:cNvPr id="18" name="Text 12"/>
          <p:cNvSpPr txBox="1"/>
          <p:nvPr/>
        </p:nvSpPr>
        <p:spPr>
          <a:xfrm>
            <a:off x="7086600" y="3776472"/>
            <a:ext cx="2651760" cy="320040"/>
          </a:xfrm>
          <a:prstGeom prst="rect">
            <a:avLst/>
          </a:prstGeom>
          <a:noFill/>
          <a:ln/>
        </p:spPr>
        <p:txBody>
          <a:bodyPr wrap="square" lIns="0" tIns="0" rIns="0" bIns="0" rtlCol="0" anchor="ct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Essential Hoodie</a:t>
            </a:r>
            <a:endParaRPr lang="en-US" sz="1200" dirty="0"/>
          </a:p>
        </p:txBody>
      </p:sp>
      <p:sp>
        <p:nvSpPr>
          <p:cNvPr id="19" name="Shape 13"/>
          <p:cNvSpPr/>
          <p:nvPr/>
        </p:nvSpPr>
        <p:spPr>
          <a:xfrm>
            <a:off x="10040112" y="868680"/>
            <a:ext cx="1600200" cy="1938528"/>
          </a:xfrm>
          <a:prstGeom prst="roundRect">
            <a:avLst>
              <a:gd name="adj" fmla="val 14857"/>
            </a:avLst>
          </a:prstGeom>
          <a:solidFill>
            <a:srgbClr val="FFFFFF">
              <a:alpha val="14000"/>
            </a:srgbClr>
          </a:solidFill>
          <a:ln w="12700">
            <a:solidFill>
              <a:srgbClr val="FFFFFF">
                <a:alpha val="24000"/>
              </a:srgbClr>
            </a:solidFill>
            <a:prstDash val="solid"/>
          </a:ln>
        </p:spPr>
      </p:sp>
      <p:pic>
        <p:nvPicPr>
          <p:cNvPr id="20" name="Image 4" descr="C:\Users\AlexAmaze\AppData\Local\Temp\claude\C--My-Files-repos-supaday-ecommerce\b329a27c-f2be-420c-b170-4436a9ee7093\scratchpad\ppt\assets\p-cap-navy-front.png">    </p:cNvPr>
          <p:cNvPicPr>
            <a:picLocks noChangeAspect="1"/>
          </p:cNvPicPr>
          <p:nvPr/>
        </p:nvPicPr>
        <p:blipFill>
          <a:blip r:embed="rId6"/>
          <a:stretch>
            <a:fillRect/>
          </a:stretch>
        </p:blipFill>
        <p:spPr>
          <a:xfrm>
            <a:off x="10131552" y="960120"/>
            <a:ext cx="1417320" cy="1417320"/>
          </a:xfrm>
          <a:prstGeom prst="rect">
            <a:avLst/>
          </a:prstGeom>
        </p:spPr>
      </p:pic>
      <p:sp>
        <p:nvSpPr>
          <p:cNvPr id="21" name="Text 14"/>
          <p:cNvSpPr txBox="1"/>
          <p:nvPr/>
        </p:nvSpPr>
        <p:spPr>
          <a:xfrm>
            <a:off x="10177272" y="2432304"/>
            <a:ext cx="1371600" cy="274320"/>
          </a:xfrm>
          <a:prstGeom prst="rect">
            <a:avLst/>
          </a:prstGeom>
          <a:noFill/>
          <a:ln/>
        </p:spPr>
        <p:txBody>
          <a:bodyPr wrap="square" lIns="0" tIns="0" rIns="0" bIns="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Pro Cap</a:t>
            </a:r>
            <a:endParaRPr lang="en-US" sz="1100" dirty="0"/>
          </a:p>
        </p:txBody>
      </p:sp>
      <p:sp>
        <p:nvSpPr>
          <p:cNvPr id="22" name="Shape 15"/>
          <p:cNvSpPr/>
          <p:nvPr/>
        </p:nvSpPr>
        <p:spPr>
          <a:xfrm>
            <a:off x="10040112" y="2971800"/>
            <a:ext cx="1600200" cy="1938528"/>
          </a:xfrm>
          <a:prstGeom prst="roundRect">
            <a:avLst>
              <a:gd name="adj" fmla="val 14857"/>
            </a:avLst>
          </a:prstGeom>
          <a:solidFill>
            <a:srgbClr val="FFFFFF">
              <a:alpha val="14000"/>
            </a:srgbClr>
          </a:solidFill>
          <a:ln w="12700">
            <a:solidFill>
              <a:srgbClr val="FFFFFF">
                <a:alpha val="24000"/>
              </a:srgbClr>
            </a:solidFill>
            <a:prstDash val="solid"/>
          </a:ln>
        </p:spPr>
      </p:sp>
      <p:pic>
        <p:nvPicPr>
          <p:cNvPr id="23" name="Image 5" descr="C:\Users\AlexAmaze\AppData\Local\Temp\claude\C--My-Files-repos-supaday-ecommerce\b329a27c-f2be-420c-b170-4436a9ee7093\scratchpad\ppt\assets\p-thermo-black.png">    </p:cNvPr>
          <p:cNvPicPr>
            <a:picLocks noChangeAspect="1"/>
          </p:cNvPicPr>
          <p:nvPr/>
        </p:nvPicPr>
        <p:blipFill>
          <a:blip r:embed="rId7"/>
          <a:stretch>
            <a:fillRect/>
          </a:stretch>
        </p:blipFill>
        <p:spPr>
          <a:xfrm>
            <a:off x="10131552" y="3063240"/>
            <a:ext cx="1417320" cy="1417320"/>
          </a:xfrm>
          <a:prstGeom prst="rect">
            <a:avLst/>
          </a:prstGeom>
        </p:spPr>
      </p:pic>
      <p:sp>
        <p:nvSpPr>
          <p:cNvPr id="24" name="Text 16"/>
          <p:cNvSpPr txBox="1"/>
          <p:nvPr/>
        </p:nvSpPr>
        <p:spPr>
          <a:xfrm>
            <a:off x="10177272" y="4535424"/>
            <a:ext cx="1371600" cy="274320"/>
          </a:xfrm>
          <a:prstGeom prst="rect">
            <a:avLst/>
          </a:prstGeom>
          <a:noFill/>
          <a:ln/>
        </p:spPr>
        <p:txBody>
          <a:bodyPr wrap="square" lIns="0" tIns="0" rIns="0" bIns="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Steel Thermo</a:t>
            </a:r>
            <a:endParaRPr lang="en-US" sz="1100" dirty="0"/>
          </a:p>
        </p:txBody>
      </p:sp>
      <p:sp>
        <p:nvSpPr>
          <p:cNvPr id="25" name="Shape 17"/>
          <p:cNvSpPr/>
          <p:nvPr/>
        </p:nvSpPr>
        <p:spPr>
          <a:xfrm>
            <a:off x="6903720" y="4434840"/>
            <a:ext cx="1417320" cy="960120"/>
          </a:xfrm>
          <a:prstGeom prst="roundRect">
            <a:avLst>
              <a:gd name="adj" fmla="val 20952"/>
            </a:avLst>
          </a:prstGeom>
          <a:solidFill>
            <a:srgbClr val="FFFFFF">
              <a:alpha val="14000"/>
            </a:srgbClr>
          </a:solidFill>
          <a:ln w="12700">
            <a:solidFill>
              <a:srgbClr val="FFFFFF">
                <a:alpha val="24000"/>
              </a:srgbClr>
            </a:solidFill>
            <a:prstDash val="solid"/>
          </a:ln>
        </p:spPr>
      </p:sp>
      <p:sp>
        <p:nvSpPr>
          <p:cNvPr id="26" name="Text 18"/>
          <p:cNvSpPr txBox="1"/>
          <p:nvPr/>
        </p:nvSpPr>
        <p:spPr>
          <a:xfrm>
            <a:off x="6903720" y="4434840"/>
            <a:ext cx="1417320" cy="960120"/>
          </a:xfrm>
          <a:prstGeom prst="rect">
            <a:avLst/>
          </a:prstGeom>
          <a:noFill/>
          <a:ln/>
        </p:spPr>
        <p:txBody>
          <a:bodyPr wrap="square" lIns="0" tIns="0" rIns="0" bIns="0" rtlCol="0" anchor="ctr"/>
          <a:lstStyle/>
          <a:p>
            <a:pPr algn="ctr" indent="0" marL="0">
              <a:buNone/>
            </a:pPr>
            <a:r>
              <a:rPr lang="en-US" sz="2600" dirty="0">
                <a:solidFill>
                  <a:srgbClr val="FFFFFF"/>
                </a:solidFill>
                <a:latin typeface="Bebas Neue" pitchFamily="34" charset="0"/>
                <a:ea typeface="Bebas Neue" pitchFamily="34" charset="-122"/>
                <a:cs typeface="Bebas Neue" pitchFamily="34" charset="-120"/>
              </a:rPr>
              <a:t>USD</a:t>
            </a:r>
            <a:endParaRPr lang="en-US" sz="1200" dirty="0"/>
          </a:p>
          <a:p>
            <a:pPr algn="ctr" indent="0" marL="0">
              <a:buNone/>
            </a:pPr>
            <a:r>
              <a:rPr lang="en-US" sz="1000" dirty="0">
                <a:solidFill>
                  <a:srgbClr val="C9D2EE"/>
                </a:solidFill>
                <a:latin typeface="Segoe UI" pitchFamily="34" charset="0"/>
                <a:ea typeface="Segoe UI" pitchFamily="34" charset="-122"/>
                <a:cs typeface="Segoe UI" pitchFamily="34" charset="-120"/>
              </a:rPr>
              <a:t>Ecuador · /ec</a:t>
            </a:r>
            <a:endParaRPr lang="en-US" sz="1200" dirty="0"/>
          </a:p>
        </p:txBody>
      </p:sp>
      <p:sp>
        <p:nvSpPr>
          <p:cNvPr id="27" name="Shape 19"/>
          <p:cNvSpPr/>
          <p:nvPr/>
        </p:nvSpPr>
        <p:spPr>
          <a:xfrm>
            <a:off x="8485632" y="4434840"/>
            <a:ext cx="1417320" cy="960120"/>
          </a:xfrm>
          <a:prstGeom prst="roundRect">
            <a:avLst>
              <a:gd name="adj" fmla="val 20952"/>
            </a:avLst>
          </a:prstGeom>
          <a:solidFill>
            <a:srgbClr val="FFFFFF">
              <a:alpha val="14000"/>
            </a:srgbClr>
          </a:solidFill>
          <a:ln w="12700">
            <a:solidFill>
              <a:srgbClr val="FFFFFF">
                <a:alpha val="24000"/>
              </a:srgbClr>
            </a:solidFill>
            <a:prstDash val="solid"/>
          </a:ln>
        </p:spPr>
      </p:sp>
      <p:sp>
        <p:nvSpPr>
          <p:cNvPr id="28" name="Text 20"/>
          <p:cNvSpPr txBox="1"/>
          <p:nvPr/>
        </p:nvSpPr>
        <p:spPr>
          <a:xfrm>
            <a:off x="8485632" y="4434840"/>
            <a:ext cx="1417320" cy="960120"/>
          </a:xfrm>
          <a:prstGeom prst="rect">
            <a:avLst/>
          </a:prstGeom>
          <a:noFill/>
          <a:ln/>
        </p:spPr>
        <p:txBody>
          <a:bodyPr wrap="square" lIns="0" tIns="0" rIns="0" bIns="0" rtlCol="0" anchor="ctr"/>
          <a:lstStyle/>
          <a:p>
            <a:pPr algn="ctr" indent="0" marL="0">
              <a:buNone/>
            </a:pPr>
            <a:r>
              <a:rPr lang="en-US" sz="2600" dirty="0">
                <a:solidFill>
                  <a:srgbClr val="FFFFFF"/>
                </a:solidFill>
                <a:latin typeface="Bebas Neue" pitchFamily="34" charset="0"/>
                <a:ea typeface="Bebas Neue" pitchFamily="34" charset="-122"/>
                <a:cs typeface="Bebas Neue" pitchFamily="34" charset="-120"/>
              </a:rPr>
              <a:t>EUR</a:t>
            </a:r>
            <a:endParaRPr lang="en-US" sz="1200" dirty="0"/>
          </a:p>
          <a:p>
            <a:pPr algn="ctr" indent="0" marL="0">
              <a:buNone/>
            </a:pPr>
            <a:r>
              <a:rPr lang="en-US" sz="1000" dirty="0">
                <a:solidFill>
                  <a:srgbClr val="C9D2EE"/>
                </a:solidFill>
                <a:latin typeface="Segoe UI" pitchFamily="34" charset="0"/>
                <a:ea typeface="Segoe UI" pitchFamily="34" charset="-122"/>
                <a:cs typeface="Segoe UI" pitchFamily="34" charset="-120"/>
              </a:rPr>
              <a:t>Europa · /dk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02 / 15   ·   RESUMEN</a:t>
            </a:r>
            <a:endParaRPr lang="en-US" sz="1000" dirty="0"/>
          </a:p>
        </p:txBody>
      </p:sp>
      <p:sp>
        <p:nvSpPr>
          <p:cNvPr id="5" name="Shape 2"/>
          <p:cNvSpPr/>
          <p:nvPr/>
        </p:nvSpPr>
        <p:spPr>
          <a:xfrm>
            <a:off x="548640" y="1005840"/>
            <a:ext cx="2441448"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2075688"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LO QUE CONSTRUÍ</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UNA TIENDA REAL, </a:t>
            </a:r>
            <a:pPr indent="0" marL="0">
              <a:buNone/>
            </a:pPr>
            <a:r>
              <a:rPr lang="en-US" sz="4600" spc="100" kern="0" dirty="0">
                <a:solidFill>
                  <a:srgbClr val="0B1ED8"/>
                </a:solidFill>
                <a:latin typeface="Bebas Neue" pitchFamily="34" charset="0"/>
                <a:ea typeface="Bebas Neue" pitchFamily="34" charset="-122"/>
                <a:cs typeface="Bebas Neue" pitchFamily="34" charset="-120"/>
              </a:rPr>
              <a:t>DE PUNTA A PUNTA</a:t>
            </a:r>
            <a:endParaRPr lang="en-US" sz="4600" dirty="0"/>
          </a:p>
        </p:txBody>
      </p:sp>
      <p:sp>
        <p:nvSpPr>
          <p:cNvPr id="9" name="Shape 5"/>
          <p:cNvSpPr/>
          <p:nvPr/>
        </p:nvSpPr>
        <p:spPr>
          <a:xfrm>
            <a:off x="548640" y="2514600"/>
            <a:ext cx="2880360" cy="1737360"/>
          </a:xfrm>
          <a:prstGeom prst="roundRect">
            <a:avLst>
              <a:gd name="adj" fmla="val 1052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0"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777240" y="2770632"/>
            <a:ext cx="457200" cy="457200"/>
          </a:xfrm>
          <a:prstGeom prst="rect">
            <a:avLst/>
          </a:prstGeom>
        </p:spPr>
      </p:pic>
      <p:pic>
        <p:nvPicPr>
          <p:cNvPr id="11" name="Image 3" descr="C:\Users\AlexAmaze\AppData\Local\Temp\claude\C--My-Files-repos-supaday-ecommerce\b329a27c-f2be-420c-b170-4436a9ee7093\scratchpad\ppt\assets\icons\package-w.png">    </p:cNvPr>
          <p:cNvPicPr>
            <a:picLocks noChangeAspect="1"/>
          </p:cNvPicPr>
          <p:nvPr/>
        </p:nvPicPr>
        <p:blipFill>
          <a:blip r:embed="rId5"/>
          <a:stretch>
            <a:fillRect/>
          </a:stretch>
        </p:blipFill>
        <p:spPr>
          <a:xfrm>
            <a:off x="891540" y="2884932"/>
            <a:ext cx="228600" cy="228600"/>
          </a:xfrm>
          <a:prstGeom prst="rect">
            <a:avLst/>
          </a:prstGeom>
        </p:spPr>
      </p:pic>
      <p:sp>
        <p:nvSpPr>
          <p:cNvPr id="12" name="Text 6"/>
          <p:cNvSpPr txBox="1"/>
          <p:nvPr/>
        </p:nvSpPr>
        <p:spPr>
          <a:xfrm>
            <a:off x="1417320" y="2624328"/>
            <a:ext cx="1874520" cy="777240"/>
          </a:xfrm>
          <a:prstGeom prst="rect">
            <a:avLst/>
          </a:prstGeom>
          <a:noFill/>
          <a:ln/>
        </p:spPr>
        <p:txBody>
          <a:bodyPr wrap="square" lIns="0" tIns="0" rIns="0" bIns="0" rtlCol="0" anchor="t"/>
          <a:lstStyle/>
          <a:p>
            <a:pPr indent="0" marL="0">
              <a:buNone/>
            </a:pPr>
            <a:r>
              <a:rPr lang="en-US" sz="5400" dirty="0">
                <a:solidFill>
                  <a:srgbClr val="E3161F"/>
                </a:solidFill>
                <a:latin typeface="Bebas Neue" pitchFamily="34" charset="0"/>
                <a:ea typeface="Bebas Neue" pitchFamily="34" charset="-122"/>
                <a:cs typeface="Bebas Neue" pitchFamily="34" charset="-120"/>
              </a:rPr>
              <a:t>6</a:t>
            </a:r>
            <a:endParaRPr lang="en-US" sz="5400" dirty="0"/>
          </a:p>
        </p:txBody>
      </p:sp>
      <p:sp>
        <p:nvSpPr>
          <p:cNvPr id="13" name="Text 7"/>
          <p:cNvSpPr txBox="1"/>
          <p:nvPr/>
        </p:nvSpPr>
        <p:spPr>
          <a:xfrm>
            <a:off x="777240" y="3429000"/>
            <a:ext cx="2514600" cy="292608"/>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productos propios</a:t>
            </a:r>
            <a:endParaRPr lang="en-US" sz="1400" dirty="0"/>
          </a:p>
        </p:txBody>
      </p:sp>
      <p:sp>
        <p:nvSpPr>
          <p:cNvPr id="14" name="Text 8"/>
          <p:cNvSpPr txBox="1"/>
          <p:nvPr/>
        </p:nvSpPr>
        <p:spPr>
          <a:xfrm>
            <a:off x="777240" y="3730752"/>
            <a:ext cx="2514600" cy="41148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28 variantes con precios en USD y EUR</a:t>
            </a:r>
            <a:endParaRPr lang="en-US" sz="1100" dirty="0"/>
          </a:p>
        </p:txBody>
      </p:sp>
      <p:sp>
        <p:nvSpPr>
          <p:cNvPr id="15" name="Shape 9"/>
          <p:cNvSpPr/>
          <p:nvPr/>
        </p:nvSpPr>
        <p:spPr>
          <a:xfrm>
            <a:off x="3657600" y="2514600"/>
            <a:ext cx="2880360" cy="1737360"/>
          </a:xfrm>
          <a:prstGeom prst="roundRect">
            <a:avLst>
              <a:gd name="adj" fmla="val 1052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6"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3886200" y="2770632"/>
            <a:ext cx="457200" cy="457200"/>
          </a:xfrm>
          <a:prstGeom prst="rect">
            <a:avLst/>
          </a:prstGeom>
        </p:spPr>
      </p:pic>
      <p:pic>
        <p:nvPicPr>
          <p:cNvPr id="17" name="Image 5" descr="C:\Users\AlexAmaze\AppData\Local\Temp\claude\C--My-Files-repos-supaday-ecommerce\b329a27c-f2be-420c-b170-4436a9ee7093\scratchpad\ppt\assets\icons\globe-w.png">    </p:cNvPr>
          <p:cNvPicPr>
            <a:picLocks noChangeAspect="1"/>
          </p:cNvPicPr>
          <p:nvPr/>
        </p:nvPicPr>
        <p:blipFill>
          <a:blip r:embed="rId7"/>
          <a:stretch>
            <a:fillRect/>
          </a:stretch>
        </p:blipFill>
        <p:spPr>
          <a:xfrm>
            <a:off x="4000500" y="2884932"/>
            <a:ext cx="228600" cy="228600"/>
          </a:xfrm>
          <a:prstGeom prst="rect">
            <a:avLst/>
          </a:prstGeom>
        </p:spPr>
      </p:pic>
      <p:sp>
        <p:nvSpPr>
          <p:cNvPr id="18" name="Text 10"/>
          <p:cNvSpPr txBox="1"/>
          <p:nvPr/>
        </p:nvSpPr>
        <p:spPr>
          <a:xfrm>
            <a:off x="4526280" y="2624328"/>
            <a:ext cx="1874520" cy="777240"/>
          </a:xfrm>
          <a:prstGeom prst="rect">
            <a:avLst/>
          </a:prstGeom>
          <a:noFill/>
          <a:ln/>
        </p:spPr>
        <p:txBody>
          <a:bodyPr wrap="square" lIns="0" tIns="0" rIns="0" bIns="0" rtlCol="0" anchor="t"/>
          <a:lstStyle/>
          <a:p>
            <a:pPr indent="0" marL="0">
              <a:buNone/>
            </a:pPr>
            <a:r>
              <a:rPr lang="en-US" sz="5400" dirty="0">
                <a:solidFill>
                  <a:srgbClr val="0B1ED8"/>
                </a:solidFill>
                <a:latin typeface="Bebas Neue" pitchFamily="34" charset="0"/>
                <a:ea typeface="Bebas Neue" pitchFamily="34" charset="-122"/>
                <a:cs typeface="Bebas Neue" pitchFamily="34" charset="-120"/>
              </a:rPr>
              <a:t>2</a:t>
            </a:r>
            <a:endParaRPr lang="en-US" sz="5400" dirty="0"/>
          </a:p>
        </p:txBody>
      </p:sp>
      <p:sp>
        <p:nvSpPr>
          <p:cNvPr id="19" name="Text 11"/>
          <p:cNvSpPr txBox="1"/>
          <p:nvPr/>
        </p:nvSpPr>
        <p:spPr>
          <a:xfrm>
            <a:off x="3886200" y="3429000"/>
            <a:ext cx="2514600" cy="292608"/>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regiones de venta</a:t>
            </a:r>
            <a:endParaRPr lang="en-US" sz="1400" dirty="0"/>
          </a:p>
        </p:txBody>
      </p:sp>
      <p:sp>
        <p:nvSpPr>
          <p:cNvPr id="20" name="Text 12"/>
          <p:cNvSpPr txBox="1"/>
          <p:nvPr/>
        </p:nvSpPr>
        <p:spPr>
          <a:xfrm>
            <a:off x="3886200" y="3730752"/>
            <a:ext cx="2514600" cy="41148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Ecuador en USD y Europa en EUR</a:t>
            </a:r>
            <a:endParaRPr lang="en-US" sz="1100" dirty="0"/>
          </a:p>
        </p:txBody>
      </p:sp>
      <p:sp>
        <p:nvSpPr>
          <p:cNvPr id="21" name="Shape 13"/>
          <p:cNvSpPr/>
          <p:nvPr/>
        </p:nvSpPr>
        <p:spPr>
          <a:xfrm>
            <a:off x="548640" y="4453128"/>
            <a:ext cx="2880360" cy="1737360"/>
          </a:xfrm>
          <a:prstGeom prst="roundRect">
            <a:avLst>
              <a:gd name="adj" fmla="val 1052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2"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777240" y="4709160"/>
            <a:ext cx="457200" cy="457200"/>
          </a:xfrm>
          <a:prstGeom prst="rect">
            <a:avLst/>
          </a:prstGeom>
        </p:spPr>
      </p:pic>
      <p:pic>
        <p:nvPicPr>
          <p:cNvPr id="23" name="Image 7" descr="C:\Users\AlexAmaze\AppData\Local\Temp\claude\C--My-Files-repos-supaday-ecommerce\b329a27c-f2be-420c-b170-4436a9ee7093\scratchpad\ppt\assets\icons\database-w.png">    </p:cNvPr>
          <p:cNvPicPr>
            <a:picLocks noChangeAspect="1"/>
          </p:cNvPicPr>
          <p:nvPr/>
        </p:nvPicPr>
        <p:blipFill>
          <a:blip r:embed="rId9"/>
          <a:stretch>
            <a:fillRect/>
          </a:stretch>
        </p:blipFill>
        <p:spPr>
          <a:xfrm>
            <a:off x="891540" y="4823460"/>
            <a:ext cx="228600" cy="228600"/>
          </a:xfrm>
          <a:prstGeom prst="rect">
            <a:avLst/>
          </a:prstGeom>
        </p:spPr>
      </p:pic>
      <p:sp>
        <p:nvSpPr>
          <p:cNvPr id="24" name="Text 14"/>
          <p:cNvSpPr txBox="1"/>
          <p:nvPr/>
        </p:nvSpPr>
        <p:spPr>
          <a:xfrm>
            <a:off x="1417320" y="4562856"/>
            <a:ext cx="1874520" cy="777240"/>
          </a:xfrm>
          <a:prstGeom prst="rect">
            <a:avLst/>
          </a:prstGeom>
          <a:noFill/>
          <a:ln/>
        </p:spPr>
        <p:txBody>
          <a:bodyPr wrap="square" lIns="0" tIns="0" rIns="0" bIns="0" rtlCol="0" anchor="t"/>
          <a:lstStyle/>
          <a:p>
            <a:pPr indent="0" marL="0">
              <a:buNone/>
            </a:pPr>
            <a:r>
              <a:rPr lang="en-US" sz="5400" dirty="0">
                <a:solidFill>
                  <a:srgbClr val="0A4FB3"/>
                </a:solidFill>
                <a:latin typeface="Bebas Neue" pitchFamily="34" charset="0"/>
                <a:ea typeface="Bebas Neue" pitchFamily="34" charset="-122"/>
                <a:cs typeface="Bebas Neue" pitchFamily="34" charset="-120"/>
              </a:rPr>
              <a:t>147</a:t>
            </a:r>
            <a:endParaRPr lang="en-US" sz="5400" dirty="0"/>
          </a:p>
        </p:txBody>
      </p:sp>
      <p:sp>
        <p:nvSpPr>
          <p:cNvPr id="25" name="Text 15"/>
          <p:cNvSpPr txBox="1"/>
          <p:nvPr/>
        </p:nvSpPr>
        <p:spPr>
          <a:xfrm>
            <a:off x="777240" y="5367528"/>
            <a:ext cx="2514600" cy="292608"/>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tablas en Supabase</a:t>
            </a:r>
            <a:endParaRPr lang="en-US" sz="1400" dirty="0"/>
          </a:p>
        </p:txBody>
      </p:sp>
      <p:sp>
        <p:nvSpPr>
          <p:cNvPr id="26" name="Text 16"/>
          <p:cNvSpPr txBox="1"/>
          <p:nvPr/>
        </p:nvSpPr>
        <p:spPr>
          <a:xfrm>
            <a:off x="777240" y="5669280"/>
            <a:ext cx="2514600" cy="41148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181 migraciones de Medusa aplicadas</a:t>
            </a:r>
            <a:endParaRPr lang="en-US" sz="1100" dirty="0"/>
          </a:p>
        </p:txBody>
      </p:sp>
      <p:sp>
        <p:nvSpPr>
          <p:cNvPr id="27" name="Shape 17"/>
          <p:cNvSpPr/>
          <p:nvPr/>
        </p:nvSpPr>
        <p:spPr>
          <a:xfrm>
            <a:off x="3657600" y="4453128"/>
            <a:ext cx="2880360" cy="1737360"/>
          </a:xfrm>
          <a:prstGeom prst="roundRect">
            <a:avLst>
              <a:gd name="adj" fmla="val 1052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8"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3886200" y="4709160"/>
            <a:ext cx="457200" cy="457200"/>
          </a:xfrm>
          <a:prstGeom prst="rect">
            <a:avLst/>
          </a:prstGeom>
        </p:spPr>
      </p:pic>
      <p:pic>
        <p:nvPicPr>
          <p:cNvPr id="29" name="Image 9" descr="C:\Users\AlexAmaze\AppData\Local\Temp\claude\C--My-Files-repos-supaday-ecommerce\b329a27c-f2be-420c-b170-4436a9ee7093\scratchpad\ppt\assets\icons\receipt-w.png">    </p:cNvPr>
          <p:cNvPicPr>
            <a:picLocks noChangeAspect="1"/>
          </p:cNvPicPr>
          <p:nvPr/>
        </p:nvPicPr>
        <p:blipFill>
          <a:blip r:embed="rId11"/>
          <a:stretch>
            <a:fillRect/>
          </a:stretch>
        </p:blipFill>
        <p:spPr>
          <a:xfrm>
            <a:off x="4000500" y="4823460"/>
            <a:ext cx="228600" cy="228600"/>
          </a:xfrm>
          <a:prstGeom prst="rect">
            <a:avLst/>
          </a:prstGeom>
        </p:spPr>
      </p:pic>
      <p:sp>
        <p:nvSpPr>
          <p:cNvPr id="30" name="Text 18"/>
          <p:cNvSpPr txBox="1"/>
          <p:nvPr/>
        </p:nvSpPr>
        <p:spPr>
          <a:xfrm>
            <a:off x="4526280" y="4562856"/>
            <a:ext cx="1874520" cy="777240"/>
          </a:xfrm>
          <a:prstGeom prst="rect">
            <a:avLst/>
          </a:prstGeom>
          <a:noFill/>
          <a:ln/>
        </p:spPr>
        <p:txBody>
          <a:bodyPr wrap="square" lIns="0" tIns="0" rIns="0" bIns="0" rtlCol="0" anchor="t"/>
          <a:lstStyle/>
          <a:p>
            <a:pPr indent="0" marL="0">
              <a:buNone/>
            </a:pPr>
            <a:r>
              <a:rPr lang="en-US" sz="5400" dirty="0">
                <a:solidFill>
                  <a:srgbClr val="E3161F"/>
                </a:solidFill>
                <a:latin typeface="Bebas Neue" pitchFamily="34" charset="0"/>
                <a:ea typeface="Bebas Neue" pitchFamily="34" charset="-122"/>
                <a:cs typeface="Bebas Neue" pitchFamily="34" charset="-120"/>
              </a:rPr>
              <a:t>4</a:t>
            </a:r>
            <a:endParaRPr lang="en-US" sz="5400" dirty="0"/>
          </a:p>
        </p:txBody>
      </p:sp>
      <p:sp>
        <p:nvSpPr>
          <p:cNvPr id="31" name="Text 19"/>
          <p:cNvSpPr txBox="1"/>
          <p:nvPr/>
        </p:nvSpPr>
        <p:spPr>
          <a:xfrm>
            <a:off x="3886200" y="5367528"/>
            <a:ext cx="2514600" cy="292608"/>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pasos de checkout</a:t>
            </a:r>
            <a:endParaRPr lang="en-US" sz="1400" dirty="0"/>
          </a:p>
        </p:txBody>
      </p:sp>
      <p:sp>
        <p:nvSpPr>
          <p:cNvPr id="32" name="Text 20"/>
          <p:cNvSpPr txBox="1"/>
          <p:nvPr/>
        </p:nvSpPr>
        <p:spPr>
          <a:xfrm>
            <a:off x="3886200" y="5669280"/>
            <a:ext cx="2514600" cy="41148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de la dirección a la orden en la base</a:t>
            </a:r>
            <a:endParaRPr lang="en-US" sz="1100" dirty="0"/>
          </a:p>
        </p:txBody>
      </p:sp>
      <p:sp>
        <p:nvSpPr>
          <p:cNvPr id="33" name="Shape 21"/>
          <p:cNvSpPr/>
          <p:nvPr/>
        </p:nvSpPr>
        <p:spPr>
          <a:xfrm>
            <a:off x="7004304" y="2514600"/>
            <a:ext cx="4718304" cy="3200400"/>
          </a:xfrm>
          <a:prstGeom prst="roundRect">
            <a:avLst>
              <a:gd name="adj" fmla="val 628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4" name="Image 10" descr="C:\Users\AlexAmaze\AppData\Local\Temp\claude\C--My-Files-repos-supaday-ecommerce\b329a27c-f2be-420c-b170-4436a9ee7093\scratchpad\ppt\assets\shot-home.png">    </p:cNvPr>
          <p:cNvPicPr>
            <a:picLocks noChangeAspect="1"/>
          </p:cNvPicPr>
          <p:nvPr/>
        </p:nvPicPr>
        <p:blipFill>
          <a:blip r:embed="rId12"/>
          <a:stretch>
            <a:fillRect/>
          </a:stretch>
        </p:blipFill>
        <p:spPr>
          <a:xfrm>
            <a:off x="7086600" y="2596896"/>
            <a:ext cx="4553712" cy="3035808"/>
          </a:xfrm>
          <a:prstGeom prst="rect">
            <a:avLst/>
          </a:prstGeom>
        </p:spPr>
      </p:pic>
      <p:sp>
        <p:nvSpPr>
          <p:cNvPr id="35" name="Text 22"/>
          <p:cNvSpPr txBox="1"/>
          <p:nvPr/>
        </p:nvSpPr>
        <p:spPr>
          <a:xfrm>
            <a:off x="7086600" y="5833872"/>
            <a:ext cx="4553712" cy="274320"/>
          </a:xfrm>
          <a:prstGeom prst="rect">
            <a:avLst/>
          </a:prstGeom>
          <a:noFill/>
          <a:ln/>
        </p:spPr>
        <p:txBody>
          <a:bodyPr wrap="square" lIns="0" tIns="0" rIns="0" bIns="0" rtlCol="0" anchor="t"/>
          <a:lstStyle/>
          <a:p>
            <a:pPr algn="ctr" indent="0" marL="0">
              <a:buNone/>
            </a:pPr>
            <a:r>
              <a:rPr lang="en-US" sz="1100" dirty="0">
                <a:solidFill>
                  <a:srgbClr val="56607E"/>
                </a:solidFill>
                <a:latin typeface="Segoe UI" pitchFamily="34" charset="0"/>
                <a:ea typeface="Segoe UI" pitchFamily="34" charset="-122"/>
                <a:cs typeface="Segoe UI" pitchFamily="34" charset="-120"/>
              </a:rPr>
              <a:t>localhost:8000/ec · Home de AKLabs Store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03 / 15   ·   ARQUITECTURA</a:t>
            </a:r>
            <a:endParaRPr lang="en-US" sz="1000" dirty="0"/>
          </a:p>
        </p:txBody>
      </p:sp>
      <p:sp>
        <p:nvSpPr>
          <p:cNvPr id="5" name="Shape 2"/>
          <p:cNvSpPr/>
          <p:nvPr/>
        </p:nvSpPr>
        <p:spPr>
          <a:xfrm>
            <a:off x="548640" y="1005840"/>
            <a:ext cx="4314139"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3948379"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STOREFRONT → BACKEND → POSTGRES</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TRES CAPAS, </a:t>
            </a:r>
            <a:pPr indent="0" marL="0">
              <a:buNone/>
            </a:pPr>
            <a:r>
              <a:rPr lang="en-US" sz="4600" spc="100" kern="0" dirty="0">
                <a:solidFill>
                  <a:srgbClr val="62CFF6"/>
                </a:solidFill>
                <a:latin typeface="Bebas Neue" pitchFamily="34" charset="0"/>
                <a:ea typeface="Bebas Neue" pitchFamily="34" charset="-122"/>
                <a:cs typeface="Bebas Neue" pitchFamily="34" charset="-120"/>
              </a:rPr>
              <a:t>CADA UNA CON SU TRABAJO</a:t>
            </a:r>
            <a:endParaRPr lang="en-US" sz="4600" dirty="0"/>
          </a:p>
        </p:txBody>
      </p:sp>
      <p:sp>
        <p:nvSpPr>
          <p:cNvPr id="9" name="Shape 5"/>
          <p:cNvSpPr/>
          <p:nvPr/>
        </p:nvSpPr>
        <p:spPr>
          <a:xfrm>
            <a:off x="548640" y="2468880"/>
            <a:ext cx="1965960" cy="3063240"/>
          </a:xfrm>
          <a:prstGeom prst="roundRect">
            <a:avLst>
              <a:gd name="adj" fmla="val 11163"/>
            </a:avLst>
          </a:prstGeom>
          <a:solidFill>
            <a:srgbClr val="FFFFFF">
              <a:alpha val="9000"/>
            </a:srgbClr>
          </a:solidFill>
          <a:ln w="12700">
            <a:solidFill>
              <a:srgbClr val="FFFFFF">
                <a:alpha val="24000"/>
              </a:srgbClr>
            </a:solidFill>
            <a:prstDash val="solid"/>
          </a:ln>
        </p:spPr>
      </p:sp>
      <p:pic>
        <p:nvPicPr>
          <p:cNvPr id="10"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777240" y="2724912"/>
            <a:ext cx="530352" cy="530352"/>
          </a:xfrm>
          <a:prstGeom prst="rect">
            <a:avLst/>
          </a:prstGeom>
        </p:spPr>
      </p:pic>
      <p:pic>
        <p:nvPicPr>
          <p:cNvPr id="11" name="Image 3" descr="C:\Users\AlexAmaze\AppData\Local\Temp\claude\C--My-Files-repos-supaday-ecommerce\b329a27c-f2be-420c-b170-4436a9ee7093\scratchpad\ppt\assets\icons\globe-w.png">    </p:cNvPr>
          <p:cNvPicPr>
            <a:picLocks noChangeAspect="1"/>
          </p:cNvPicPr>
          <p:nvPr/>
        </p:nvPicPr>
        <p:blipFill>
          <a:blip r:embed="rId5"/>
          <a:stretch>
            <a:fillRect/>
          </a:stretch>
        </p:blipFill>
        <p:spPr>
          <a:xfrm>
            <a:off x="909828" y="2857500"/>
            <a:ext cx="265176" cy="265176"/>
          </a:xfrm>
          <a:prstGeom prst="rect">
            <a:avLst/>
          </a:prstGeom>
        </p:spPr>
      </p:pic>
      <p:sp>
        <p:nvSpPr>
          <p:cNvPr id="12" name="Text 6"/>
          <p:cNvSpPr txBox="1"/>
          <p:nvPr/>
        </p:nvSpPr>
        <p:spPr>
          <a:xfrm>
            <a:off x="777240" y="3401568"/>
            <a:ext cx="1554480" cy="347472"/>
          </a:xfrm>
          <a:prstGeom prst="rect">
            <a:avLst/>
          </a:prstGeom>
          <a:noFill/>
          <a:ln/>
        </p:spPr>
        <p:txBody>
          <a:bodyPr wrap="square" lIns="0" tIns="0" rIns="0" bIns="0" rtlCol="0" anchor="t"/>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Navegador</a:t>
            </a:r>
            <a:endParaRPr lang="en-US" sz="1600" dirty="0"/>
          </a:p>
        </p:txBody>
      </p:sp>
      <p:sp>
        <p:nvSpPr>
          <p:cNvPr id="13" name="Text 7"/>
          <p:cNvSpPr txBox="1"/>
          <p:nvPr/>
        </p:nvSpPr>
        <p:spPr>
          <a:xfrm>
            <a:off x="777240" y="3749040"/>
            <a:ext cx="1554480" cy="274320"/>
          </a:xfrm>
          <a:prstGeom prst="rect">
            <a:avLst/>
          </a:prstGeom>
          <a:noFill/>
          <a:ln/>
        </p:spPr>
        <p:txBody>
          <a:bodyPr wrap="square" lIns="0" tIns="0" rIns="0" bIns="0" rtlCol="0" anchor="t"/>
          <a:lstStyle/>
          <a:p>
            <a:pPr indent="0" marL="0">
              <a:buNone/>
            </a:pPr>
            <a:r>
              <a:rPr lang="en-US" sz="1050" dirty="0">
                <a:solidFill>
                  <a:srgbClr val="62CFF6"/>
                </a:solidFill>
                <a:latin typeface="Segoe UI" pitchFamily="34" charset="0"/>
                <a:ea typeface="Segoe UI" pitchFamily="34" charset="-122"/>
                <a:cs typeface="Segoe UI" pitchFamily="34" charset="-120"/>
              </a:rPr>
              <a:t>Cliente</a:t>
            </a:r>
            <a:endParaRPr lang="en-US" sz="1050" dirty="0"/>
          </a:p>
        </p:txBody>
      </p:sp>
      <p:sp>
        <p:nvSpPr>
          <p:cNvPr id="14" name="Text 8"/>
          <p:cNvSpPr txBox="1"/>
          <p:nvPr/>
        </p:nvSpPr>
        <p:spPr>
          <a:xfrm>
            <a:off x="777240" y="4133088"/>
            <a:ext cx="160020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Recibe HTML y JSON</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Guarda la cookie del carrito</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Nunca ve la base de datos</a:t>
            </a:r>
            <a:endParaRPr lang="en-US" sz="1150" dirty="0"/>
          </a:p>
        </p:txBody>
      </p:sp>
      <p:sp>
        <p:nvSpPr>
          <p:cNvPr id="15" name="Shape 9"/>
          <p:cNvSpPr/>
          <p:nvPr/>
        </p:nvSpPr>
        <p:spPr>
          <a:xfrm>
            <a:off x="2542032" y="4000500"/>
            <a:ext cx="201168" cy="0"/>
          </a:xfrm>
          <a:prstGeom prst="line">
            <a:avLst/>
          </a:prstGeom>
          <a:noFill/>
          <a:ln w="25400">
            <a:solidFill>
              <a:srgbClr val="62CFF6"/>
            </a:solidFill>
            <a:prstDash val="solid"/>
            <a:tailEnd type="triangle"/>
          </a:ln>
        </p:spPr>
      </p:sp>
      <p:sp>
        <p:nvSpPr>
          <p:cNvPr id="16" name="Shape 10"/>
          <p:cNvSpPr/>
          <p:nvPr/>
        </p:nvSpPr>
        <p:spPr>
          <a:xfrm>
            <a:off x="2770632" y="2468880"/>
            <a:ext cx="2788920" cy="3063240"/>
          </a:xfrm>
          <a:prstGeom prst="roundRect">
            <a:avLst>
              <a:gd name="adj" fmla="val 7869"/>
            </a:avLst>
          </a:prstGeom>
          <a:solidFill>
            <a:srgbClr val="FFFFFF">
              <a:alpha val="9000"/>
            </a:srgbClr>
          </a:solidFill>
          <a:ln w="12700">
            <a:solidFill>
              <a:srgbClr val="FFFFFF">
                <a:alpha val="24000"/>
              </a:srgbClr>
            </a:solidFill>
            <a:prstDash val="solid"/>
          </a:ln>
        </p:spPr>
      </p:sp>
      <p:pic>
        <p:nvPicPr>
          <p:cNvPr id="17"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2999232" y="2724912"/>
            <a:ext cx="530352" cy="530352"/>
          </a:xfrm>
          <a:prstGeom prst="rect">
            <a:avLst/>
          </a:prstGeom>
        </p:spPr>
      </p:pic>
      <p:pic>
        <p:nvPicPr>
          <p:cNvPr id="18" name="Image 5" descr="C:\Users\AlexAmaze\AppData\Local\Temp\claude\C--My-Files-repos-supaday-ecommerce\b329a27c-f2be-420c-b170-4436a9ee7093\scratchpad\ppt\assets\icons\monitor-w.png">    </p:cNvPr>
          <p:cNvPicPr>
            <a:picLocks noChangeAspect="1"/>
          </p:cNvPicPr>
          <p:nvPr/>
        </p:nvPicPr>
        <p:blipFill>
          <a:blip r:embed="rId7"/>
          <a:stretch>
            <a:fillRect/>
          </a:stretch>
        </p:blipFill>
        <p:spPr>
          <a:xfrm>
            <a:off x="3131820" y="2857500"/>
            <a:ext cx="265176" cy="265176"/>
          </a:xfrm>
          <a:prstGeom prst="rect">
            <a:avLst/>
          </a:prstGeom>
        </p:spPr>
      </p:pic>
      <p:sp>
        <p:nvSpPr>
          <p:cNvPr id="19" name="Text 11"/>
          <p:cNvSpPr txBox="1"/>
          <p:nvPr/>
        </p:nvSpPr>
        <p:spPr>
          <a:xfrm>
            <a:off x="2999232" y="3401568"/>
            <a:ext cx="2377440" cy="347472"/>
          </a:xfrm>
          <a:prstGeom prst="rect">
            <a:avLst/>
          </a:prstGeom>
          <a:noFill/>
          <a:ln/>
        </p:spPr>
        <p:txBody>
          <a:bodyPr wrap="square" lIns="0" tIns="0" rIns="0" bIns="0" rtlCol="0" anchor="t"/>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Storefront Next.js</a:t>
            </a:r>
            <a:endParaRPr lang="en-US" sz="1600" dirty="0"/>
          </a:p>
        </p:txBody>
      </p:sp>
      <p:sp>
        <p:nvSpPr>
          <p:cNvPr id="20" name="Text 12"/>
          <p:cNvSpPr txBox="1"/>
          <p:nvPr/>
        </p:nvSpPr>
        <p:spPr>
          <a:xfrm>
            <a:off x="2999232" y="3749040"/>
            <a:ext cx="2377440" cy="274320"/>
          </a:xfrm>
          <a:prstGeom prst="rect">
            <a:avLst/>
          </a:prstGeom>
          <a:noFill/>
          <a:ln/>
        </p:spPr>
        <p:txBody>
          <a:bodyPr wrap="square" lIns="0" tIns="0" rIns="0" bIns="0" rtlCol="0" anchor="t"/>
          <a:lstStyle/>
          <a:p>
            <a:pPr indent="0" marL="0">
              <a:buNone/>
            </a:pPr>
            <a:r>
              <a:rPr lang="en-US" sz="1050" dirty="0">
                <a:solidFill>
                  <a:srgbClr val="62CFF6"/>
                </a:solidFill>
                <a:latin typeface="Segoe UI" pitchFamily="34" charset="0"/>
                <a:ea typeface="Segoe UI" pitchFamily="34" charset="-122"/>
                <a:cs typeface="Segoe UI" pitchFamily="34" charset="-120"/>
              </a:rPr>
              <a:t>:8000 · SSR + Server Actions</a:t>
            </a:r>
            <a:endParaRPr lang="en-US" sz="1050" dirty="0"/>
          </a:p>
        </p:txBody>
      </p:sp>
      <p:sp>
        <p:nvSpPr>
          <p:cNvPr id="21" name="Text 13"/>
          <p:cNvSpPr txBox="1"/>
          <p:nvPr/>
        </p:nvSpPr>
        <p:spPr>
          <a:xfrm>
            <a:off x="2999232" y="4133088"/>
            <a:ext cx="242316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Renderiza catálogo y checkout</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Llama a la Store API con la publishable key</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País en la URL: /ec, /dk</a:t>
            </a:r>
            <a:endParaRPr lang="en-US" sz="1150" dirty="0"/>
          </a:p>
        </p:txBody>
      </p:sp>
      <p:sp>
        <p:nvSpPr>
          <p:cNvPr id="22" name="Shape 14"/>
          <p:cNvSpPr/>
          <p:nvPr/>
        </p:nvSpPr>
        <p:spPr>
          <a:xfrm>
            <a:off x="5586984" y="4000500"/>
            <a:ext cx="201168" cy="0"/>
          </a:xfrm>
          <a:prstGeom prst="line">
            <a:avLst/>
          </a:prstGeom>
          <a:noFill/>
          <a:ln w="25400">
            <a:solidFill>
              <a:srgbClr val="62CFF6"/>
            </a:solidFill>
            <a:prstDash val="solid"/>
            <a:tailEnd type="triangle"/>
          </a:ln>
        </p:spPr>
      </p:sp>
      <p:sp>
        <p:nvSpPr>
          <p:cNvPr id="23" name="Shape 15"/>
          <p:cNvSpPr/>
          <p:nvPr/>
        </p:nvSpPr>
        <p:spPr>
          <a:xfrm>
            <a:off x="5815584" y="2468880"/>
            <a:ext cx="2788920" cy="3063240"/>
          </a:xfrm>
          <a:prstGeom prst="roundRect">
            <a:avLst>
              <a:gd name="adj" fmla="val 7869"/>
            </a:avLst>
          </a:prstGeom>
          <a:solidFill>
            <a:srgbClr val="FFFFFF">
              <a:alpha val="9000"/>
            </a:srgbClr>
          </a:solidFill>
          <a:ln w="12700">
            <a:solidFill>
              <a:srgbClr val="FFFFFF">
                <a:alpha val="24000"/>
              </a:srgbClr>
            </a:solidFill>
            <a:prstDash val="solid"/>
          </a:ln>
        </p:spPr>
      </p:sp>
      <p:pic>
        <p:nvPicPr>
          <p:cNvPr id="24"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6044184" y="2724912"/>
            <a:ext cx="530352" cy="530352"/>
          </a:xfrm>
          <a:prstGeom prst="rect">
            <a:avLst/>
          </a:prstGeom>
        </p:spPr>
      </p:pic>
      <p:pic>
        <p:nvPicPr>
          <p:cNvPr id="25" name="Image 7" descr="C:\Users\AlexAmaze\AppData\Local\Temp\claude\C--My-Files-repos-supaday-ecommerce\b329a27c-f2be-420c-b170-4436a9ee7093\scratchpad\ppt\assets\icons\server-w.png">    </p:cNvPr>
          <p:cNvPicPr>
            <a:picLocks noChangeAspect="1"/>
          </p:cNvPicPr>
          <p:nvPr/>
        </p:nvPicPr>
        <p:blipFill>
          <a:blip r:embed="rId9"/>
          <a:stretch>
            <a:fillRect/>
          </a:stretch>
        </p:blipFill>
        <p:spPr>
          <a:xfrm>
            <a:off x="6176772" y="2857500"/>
            <a:ext cx="265176" cy="265176"/>
          </a:xfrm>
          <a:prstGeom prst="rect">
            <a:avLst/>
          </a:prstGeom>
        </p:spPr>
      </p:pic>
      <p:sp>
        <p:nvSpPr>
          <p:cNvPr id="26" name="Text 16"/>
          <p:cNvSpPr txBox="1"/>
          <p:nvPr/>
        </p:nvSpPr>
        <p:spPr>
          <a:xfrm>
            <a:off x="6044184" y="3401568"/>
            <a:ext cx="2377440" cy="347472"/>
          </a:xfrm>
          <a:prstGeom prst="rect">
            <a:avLst/>
          </a:prstGeom>
          <a:noFill/>
          <a:ln/>
        </p:spPr>
        <p:txBody>
          <a:bodyPr wrap="square" lIns="0" tIns="0" rIns="0" bIns="0" rtlCol="0" anchor="t"/>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Medusa v2</a:t>
            </a:r>
            <a:endParaRPr lang="en-US" sz="1600" dirty="0"/>
          </a:p>
        </p:txBody>
      </p:sp>
      <p:sp>
        <p:nvSpPr>
          <p:cNvPr id="27" name="Text 17"/>
          <p:cNvSpPr txBox="1"/>
          <p:nvPr/>
        </p:nvSpPr>
        <p:spPr>
          <a:xfrm>
            <a:off x="6044184" y="3749040"/>
            <a:ext cx="2377440" cy="274320"/>
          </a:xfrm>
          <a:prstGeom prst="rect">
            <a:avLst/>
          </a:prstGeom>
          <a:noFill/>
          <a:ln/>
        </p:spPr>
        <p:txBody>
          <a:bodyPr wrap="square" lIns="0" tIns="0" rIns="0" bIns="0" rtlCol="0" anchor="t"/>
          <a:lstStyle/>
          <a:p>
            <a:pPr indent="0" marL="0">
              <a:buNone/>
            </a:pPr>
            <a:r>
              <a:rPr lang="en-US" sz="1050" dirty="0">
                <a:solidFill>
                  <a:srgbClr val="62CFF6"/>
                </a:solidFill>
                <a:latin typeface="Segoe UI" pitchFamily="34" charset="0"/>
                <a:ea typeface="Segoe UI" pitchFamily="34" charset="-122"/>
                <a:cs typeface="Segoe UI" pitchFamily="34" charset="-120"/>
              </a:rPr>
              <a:t>:9000 · Store API + Admin</a:t>
            </a:r>
            <a:endParaRPr lang="en-US" sz="1050" dirty="0"/>
          </a:p>
        </p:txBody>
      </p:sp>
      <p:sp>
        <p:nvSpPr>
          <p:cNvPr id="28" name="Text 18"/>
          <p:cNvSpPr txBox="1"/>
          <p:nvPr/>
        </p:nvSpPr>
        <p:spPr>
          <a:xfrm>
            <a:off x="6044184" y="4133088"/>
            <a:ext cx="242316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Precios por región, carrito, envíos y pagos</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Workflows: completeCartWorkflow crea la orden</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Único que abre conexiones a Postgres</a:t>
            </a:r>
            <a:endParaRPr lang="en-US" sz="1150" dirty="0"/>
          </a:p>
        </p:txBody>
      </p:sp>
      <p:sp>
        <p:nvSpPr>
          <p:cNvPr id="29" name="Shape 19"/>
          <p:cNvSpPr/>
          <p:nvPr/>
        </p:nvSpPr>
        <p:spPr>
          <a:xfrm>
            <a:off x="8631936" y="4000500"/>
            <a:ext cx="201168" cy="0"/>
          </a:xfrm>
          <a:prstGeom prst="line">
            <a:avLst/>
          </a:prstGeom>
          <a:noFill/>
          <a:ln w="25400">
            <a:solidFill>
              <a:srgbClr val="62CFF6"/>
            </a:solidFill>
            <a:prstDash val="solid"/>
            <a:tailEnd type="triangle"/>
          </a:ln>
        </p:spPr>
      </p:sp>
      <p:sp>
        <p:nvSpPr>
          <p:cNvPr id="30" name="Shape 20"/>
          <p:cNvSpPr/>
          <p:nvPr/>
        </p:nvSpPr>
        <p:spPr>
          <a:xfrm>
            <a:off x="8860536" y="2468880"/>
            <a:ext cx="2788920" cy="3063240"/>
          </a:xfrm>
          <a:prstGeom prst="roundRect">
            <a:avLst>
              <a:gd name="adj" fmla="val 7869"/>
            </a:avLst>
          </a:prstGeom>
          <a:solidFill>
            <a:srgbClr val="FFFFFF">
              <a:alpha val="9000"/>
            </a:srgbClr>
          </a:solidFill>
          <a:ln w="12700">
            <a:solidFill>
              <a:srgbClr val="FFFFFF">
                <a:alpha val="24000"/>
              </a:srgbClr>
            </a:solidFill>
            <a:prstDash val="solid"/>
          </a:ln>
        </p:spPr>
      </p:sp>
      <p:pic>
        <p:nvPicPr>
          <p:cNvPr id="31"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9089136" y="2724912"/>
            <a:ext cx="530352" cy="530352"/>
          </a:xfrm>
          <a:prstGeom prst="rect">
            <a:avLst/>
          </a:prstGeom>
        </p:spPr>
      </p:pic>
      <p:pic>
        <p:nvPicPr>
          <p:cNvPr id="32" name="Image 9" descr="C:\Users\AlexAmaze\AppData\Local\Temp\claude\C--My-Files-repos-supaday-ecommerce\b329a27c-f2be-420c-b170-4436a9ee7093\scratchpad\ppt\assets\icons\database-w.png">    </p:cNvPr>
          <p:cNvPicPr>
            <a:picLocks noChangeAspect="1"/>
          </p:cNvPicPr>
          <p:nvPr/>
        </p:nvPicPr>
        <p:blipFill>
          <a:blip r:embed="rId11"/>
          <a:stretch>
            <a:fillRect/>
          </a:stretch>
        </p:blipFill>
        <p:spPr>
          <a:xfrm>
            <a:off x="9221724" y="2857500"/>
            <a:ext cx="265176" cy="265176"/>
          </a:xfrm>
          <a:prstGeom prst="rect">
            <a:avLst/>
          </a:prstGeom>
        </p:spPr>
      </p:pic>
      <p:sp>
        <p:nvSpPr>
          <p:cNvPr id="33" name="Text 21"/>
          <p:cNvSpPr txBox="1"/>
          <p:nvPr/>
        </p:nvSpPr>
        <p:spPr>
          <a:xfrm>
            <a:off x="9089136" y="3401568"/>
            <a:ext cx="2377440" cy="347472"/>
          </a:xfrm>
          <a:prstGeom prst="rect">
            <a:avLst/>
          </a:prstGeom>
          <a:noFill/>
          <a:ln/>
        </p:spPr>
        <p:txBody>
          <a:bodyPr wrap="square" lIns="0" tIns="0" rIns="0" bIns="0" rtlCol="0" anchor="t"/>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Supabase Postgres</a:t>
            </a:r>
            <a:endParaRPr lang="en-US" sz="1600" dirty="0"/>
          </a:p>
        </p:txBody>
      </p:sp>
      <p:sp>
        <p:nvSpPr>
          <p:cNvPr id="34" name="Text 22"/>
          <p:cNvSpPr txBox="1"/>
          <p:nvPr/>
        </p:nvSpPr>
        <p:spPr>
          <a:xfrm>
            <a:off x="9089136" y="3749040"/>
            <a:ext cx="2377440" cy="274320"/>
          </a:xfrm>
          <a:prstGeom prst="rect">
            <a:avLst/>
          </a:prstGeom>
          <a:noFill/>
          <a:ln/>
        </p:spPr>
        <p:txBody>
          <a:bodyPr wrap="square" lIns="0" tIns="0" rIns="0" bIns="0" rtlCol="0" anchor="t"/>
          <a:lstStyle/>
          <a:p>
            <a:pPr indent="0" marL="0">
              <a:buNone/>
            </a:pPr>
            <a:r>
              <a:rPr lang="en-US" sz="1050" dirty="0">
                <a:solidFill>
                  <a:srgbClr val="62CFF6"/>
                </a:solidFill>
                <a:latin typeface="Segoe UI" pitchFamily="34" charset="0"/>
                <a:ea typeface="Segoe UI" pitchFamily="34" charset="-122"/>
                <a:cs typeface="Segoe UI" pitchFamily="34" charset="-120"/>
              </a:rPr>
              <a:t>Session pooler :5432 · TLS</a:t>
            </a:r>
            <a:endParaRPr lang="en-US" sz="1050" dirty="0"/>
          </a:p>
        </p:txBody>
      </p:sp>
      <p:sp>
        <p:nvSpPr>
          <p:cNvPr id="35" name="Text 23"/>
          <p:cNvSpPr txBox="1"/>
          <p:nvPr/>
        </p:nvSpPr>
        <p:spPr>
          <a:xfrm>
            <a:off x="9089136" y="4133088"/>
            <a:ext cx="242316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Almacena los datos: 147 tablas</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Pooler, backups y SQL Editor</a:t>
            </a:r>
            <a:endParaRPr lang="en-US" sz="1150" dirty="0"/>
          </a:p>
          <a:p>
            <a:pPr marL="152400" indent="-152400">
              <a:spcAft>
                <a:spcPts val="500"/>
              </a:spcAft>
              <a:buSzPct val="100000"/>
              <a:buChar char="•"/>
            </a:pPr>
            <a:r>
              <a:rPr lang="en-US" sz="1150" dirty="0">
                <a:solidFill>
                  <a:srgbClr val="DCE3F7"/>
                </a:solidFill>
                <a:latin typeface="Segoe UI" pitchFamily="34" charset="0"/>
                <a:ea typeface="Segoe UI" pitchFamily="34" charset="-122"/>
                <a:cs typeface="Segoe UI" pitchFamily="34" charset="-120"/>
              </a:rPr>
              <a:t>No calcula precios ni crea órdenes</a:t>
            </a:r>
            <a:endParaRPr lang="en-US" sz="1150" dirty="0"/>
          </a:p>
        </p:txBody>
      </p:sp>
      <p:pic>
        <p:nvPicPr>
          <p:cNvPr id="36" name="Image 10" descr="C:\Users\AlexAmaze\AppData\Local\Temp\claude\C--My-Files-repos-supaday-ecommerce\b329a27c-f2be-420c-b170-4436a9ee7093\scratchpad\ppt\assets\gen\g-1213x52-26.png">    </p:cNvPr>
          <p:cNvPicPr>
            <a:picLocks noChangeAspect="1"/>
          </p:cNvPicPr>
          <p:nvPr/>
        </p:nvPicPr>
        <p:blipFill>
          <a:blip r:embed="rId12"/>
          <a:stretch>
            <a:fillRect/>
          </a:stretch>
        </p:blipFill>
        <p:spPr>
          <a:xfrm>
            <a:off x="548640" y="5806440"/>
            <a:ext cx="11091672" cy="475488"/>
          </a:xfrm>
          <a:prstGeom prst="rect">
            <a:avLst/>
          </a:prstGeom>
        </p:spPr>
      </p:pic>
      <p:sp>
        <p:nvSpPr>
          <p:cNvPr id="37" name="Text 24"/>
          <p:cNvSpPr txBox="1"/>
          <p:nvPr/>
        </p:nvSpPr>
        <p:spPr>
          <a:xfrm>
            <a:off x="822960" y="5806440"/>
            <a:ext cx="10543032" cy="475488"/>
          </a:xfrm>
          <a:prstGeom prst="rect">
            <a:avLst/>
          </a:prstGeom>
          <a:noFill/>
          <a:ln/>
        </p:spPr>
        <p:txBody>
          <a:bodyPr wrap="square" lIns="0" tIns="0" rIns="0" bIns="0" rtlCol="0" anchor="ctr"/>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 navegador nunca habla con Supabase: el storefront consume la Store API y Medusa es el único que abre conexiones a Postgres.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04 / 15   ·   FLUJO DE COMPRA</a:t>
            </a:r>
            <a:endParaRPr lang="en-US" sz="1000" dirty="0"/>
          </a:p>
        </p:txBody>
      </p:sp>
      <p:sp>
        <p:nvSpPr>
          <p:cNvPr id="5" name="Shape 2"/>
          <p:cNvSpPr/>
          <p:nvPr/>
        </p:nvSpPr>
        <p:spPr>
          <a:xfrm>
            <a:off x="548640" y="1005840"/>
            <a:ext cx="3377794"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3012034"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RECORRIDO DE UNA COMPRA</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UNA COMPRA, </a:t>
            </a:r>
            <a:pPr indent="0" marL="0">
              <a:buNone/>
            </a:pPr>
            <a:r>
              <a:rPr lang="en-US" sz="4600" spc="100" kern="0" dirty="0">
                <a:solidFill>
                  <a:srgbClr val="E3161F"/>
                </a:solidFill>
                <a:latin typeface="Bebas Neue" pitchFamily="34" charset="0"/>
                <a:ea typeface="Bebas Neue" pitchFamily="34" charset="-122"/>
                <a:cs typeface="Bebas Neue" pitchFamily="34" charset="-120"/>
              </a:rPr>
              <a:t>CAPA POR CAPA</a:t>
            </a:r>
            <a:endParaRPr lang="en-US" sz="4600" dirty="0"/>
          </a:p>
        </p:txBody>
      </p:sp>
      <p:sp>
        <p:nvSpPr>
          <p:cNvPr id="9" name="Shape 5"/>
          <p:cNvSpPr/>
          <p:nvPr/>
        </p:nvSpPr>
        <p:spPr>
          <a:xfrm>
            <a:off x="1472946" y="2798064"/>
            <a:ext cx="9243060" cy="0"/>
          </a:xfrm>
          <a:prstGeom prst="line">
            <a:avLst/>
          </a:prstGeom>
          <a:noFill/>
          <a:ln w="25400">
            <a:solidFill>
              <a:srgbClr val="9FB2D8"/>
            </a:solidFill>
            <a:prstDash val="dash"/>
          </a:ln>
        </p:spPr>
      </p:sp>
      <p:pic>
        <p:nvPicPr>
          <p:cNvPr id="10"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1189482" y="2514600"/>
            <a:ext cx="566928" cy="566928"/>
          </a:xfrm>
          <a:prstGeom prst="rect">
            <a:avLst/>
          </a:prstGeom>
        </p:spPr>
      </p:pic>
      <p:sp>
        <p:nvSpPr>
          <p:cNvPr id="11" name="Text 6"/>
          <p:cNvSpPr txBox="1"/>
          <p:nvPr/>
        </p:nvSpPr>
        <p:spPr>
          <a:xfrm>
            <a:off x="1189482"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1</a:t>
            </a:r>
            <a:endParaRPr lang="en-US" sz="2200" dirty="0"/>
          </a:p>
        </p:txBody>
      </p:sp>
      <p:sp>
        <p:nvSpPr>
          <p:cNvPr id="12" name="Text 7"/>
          <p:cNvSpPr txBox="1"/>
          <p:nvPr/>
        </p:nvSpPr>
        <p:spPr>
          <a:xfrm>
            <a:off x="594360"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Catálogo</a:t>
            </a:r>
            <a:endParaRPr lang="en-US" sz="1500" dirty="0"/>
          </a:p>
        </p:txBody>
      </p:sp>
      <p:sp>
        <p:nvSpPr>
          <p:cNvPr id="13" name="Text 8"/>
          <p:cNvSpPr txBox="1"/>
          <p:nvPr/>
        </p:nvSpPr>
        <p:spPr>
          <a:xfrm>
            <a:off x="621792"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GET /store/products</a:t>
            </a:r>
            <a:endParaRPr lang="en-US" sz="950" dirty="0"/>
          </a:p>
        </p:txBody>
      </p:sp>
      <p:sp>
        <p:nvSpPr>
          <p:cNvPr id="14" name="Shape 9"/>
          <p:cNvSpPr/>
          <p:nvPr/>
        </p:nvSpPr>
        <p:spPr>
          <a:xfrm>
            <a:off x="640080"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15" name="Text 10"/>
          <p:cNvSpPr txBox="1"/>
          <p:nvPr/>
        </p:nvSpPr>
        <p:spPr>
          <a:xfrm>
            <a:off x="768096"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16" name="Text 11"/>
          <p:cNvSpPr txBox="1"/>
          <p:nvPr/>
        </p:nvSpPr>
        <p:spPr>
          <a:xfrm>
            <a:off x="768096"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product</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price_set</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price</a:t>
            </a:r>
            <a:endParaRPr lang="en-US" sz="1000" dirty="0"/>
          </a:p>
        </p:txBody>
      </p:sp>
      <p:pic>
        <p:nvPicPr>
          <p:cNvPr id="17" name="Image 3" descr="C:\Users\AlexAmaze\AppData\Local\Temp\claude\C--My-Files-repos-supaday-ecommerce\b329a27c-f2be-420c-b170-4436a9ee7093\scratchpad\ppt\assets\circle-grad.png">    </p:cNvPr>
          <p:cNvPicPr>
            <a:picLocks noChangeAspect="1"/>
          </p:cNvPicPr>
          <p:nvPr/>
        </p:nvPicPr>
        <p:blipFill>
          <a:blip r:embed="rId5"/>
          <a:stretch>
            <a:fillRect/>
          </a:stretch>
        </p:blipFill>
        <p:spPr>
          <a:xfrm>
            <a:off x="3038094" y="2514600"/>
            <a:ext cx="566928" cy="566928"/>
          </a:xfrm>
          <a:prstGeom prst="rect">
            <a:avLst/>
          </a:prstGeom>
        </p:spPr>
      </p:pic>
      <p:sp>
        <p:nvSpPr>
          <p:cNvPr id="18" name="Text 12"/>
          <p:cNvSpPr txBox="1"/>
          <p:nvPr/>
        </p:nvSpPr>
        <p:spPr>
          <a:xfrm>
            <a:off x="3038094"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2</a:t>
            </a:r>
            <a:endParaRPr lang="en-US" sz="2200" dirty="0"/>
          </a:p>
        </p:txBody>
      </p:sp>
      <p:sp>
        <p:nvSpPr>
          <p:cNvPr id="19" name="Text 13"/>
          <p:cNvSpPr txBox="1"/>
          <p:nvPr/>
        </p:nvSpPr>
        <p:spPr>
          <a:xfrm>
            <a:off x="2442972"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Carrito</a:t>
            </a:r>
            <a:endParaRPr lang="en-US" sz="1500" dirty="0"/>
          </a:p>
        </p:txBody>
      </p:sp>
      <p:sp>
        <p:nvSpPr>
          <p:cNvPr id="20" name="Text 14"/>
          <p:cNvSpPr txBox="1"/>
          <p:nvPr/>
        </p:nvSpPr>
        <p:spPr>
          <a:xfrm>
            <a:off x="2470404"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POST /store/carts + line-items</a:t>
            </a:r>
            <a:endParaRPr lang="en-US" sz="950" dirty="0"/>
          </a:p>
        </p:txBody>
      </p:sp>
      <p:sp>
        <p:nvSpPr>
          <p:cNvPr id="21" name="Shape 15"/>
          <p:cNvSpPr/>
          <p:nvPr/>
        </p:nvSpPr>
        <p:spPr>
          <a:xfrm>
            <a:off x="2488692"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22" name="Text 16"/>
          <p:cNvSpPr txBox="1"/>
          <p:nvPr/>
        </p:nvSpPr>
        <p:spPr>
          <a:xfrm>
            <a:off x="2616708"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23" name="Text 17"/>
          <p:cNvSpPr txBox="1"/>
          <p:nvPr/>
        </p:nvSpPr>
        <p:spPr>
          <a:xfrm>
            <a:off x="2616708"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cart</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cart_line_item</a:t>
            </a:r>
            <a:endParaRPr lang="en-US" sz="1000" dirty="0"/>
          </a:p>
        </p:txBody>
      </p:sp>
      <p:pic>
        <p:nvPicPr>
          <p:cNvPr id="24"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4886706" y="2514600"/>
            <a:ext cx="566928" cy="566928"/>
          </a:xfrm>
          <a:prstGeom prst="rect">
            <a:avLst/>
          </a:prstGeom>
        </p:spPr>
      </p:pic>
      <p:sp>
        <p:nvSpPr>
          <p:cNvPr id="25" name="Text 18"/>
          <p:cNvSpPr txBox="1"/>
          <p:nvPr/>
        </p:nvSpPr>
        <p:spPr>
          <a:xfrm>
            <a:off x="4886706"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3</a:t>
            </a:r>
            <a:endParaRPr lang="en-US" sz="2200" dirty="0"/>
          </a:p>
        </p:txBody>
      </p:sp>
      <p:sp>
        <p:nvSpPr>
          <p:cNvPr id="26" name="Text 19"/>
          <p:cNvSpPr txBox="1"/>
          <p:nvPr/>
        </p:nvSpPr>
        <p:spPr>
          <a:xfrm>
            <a:off x="4291584"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Dirección</a:t>
            </a:r>
            <a:endParaRPr lang="en-US" sz="1500" dirty="0"/>
          </a:p>
        </p:txBody>
      </p:sp>
      <p:sp>
        <p:nvSpPr>
          <p:cNvPr id="27" name="Text 20"/>
          <p:cNvSpPr txBox="1"/>
          <p:nvPr/>
        </p:nvSpPr>
        <p:spPr>
          <a:xfrm>
            <a:off x="4319016"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POST /store/carts/:id</a:t>
            </a:r>
            <a:endParaRPr lang="en-US" sz="950" dirty="0"/>
          </a:p>
        </p:txBody>
      </p:sp>
      <p:sp>
        <p:nvSpPr>
          <p:cNvPr id="28" name="Shape 21"/>
          <p:cNvSpPr/>
          <p:nvPr/>
        </p:nvSpPr>
        <p:spPr>
          <a:xfrm>
            <a:off x="4337304"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29" name="Text 22"/>
          <p:cNvSpPr txBox="1"/>
          <p:nvPr/>
        </p:nvSpPr>
        <p:spPr>
          <a:xfrm>
            <a:off x="4465320"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30" name="Text 23"/>
          <p:cNvSpPr txBox="1"/>
          <p:nvPr/>
        </p:nvSpPr>
        <p:spPr>
          <a:xfrm>
            <a:off x="4465320"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cart_address</a:t>
            </a:r>
            <a:endParaRPr lang="en-US" sz="1000" dirty="0"/>
          </a:p>
        </p:txBody>
      </p:sp>
      <p:pic>
        <p:nvPicPr>
          <p:cNvPr id="31" name="Image 5" descr="C:\Users\AlexAmaze\AppData\Local\Temp\claude\C--My-Files-repos-supaday-ecommerce\b329a27c-f2be-420c-b170-4436a9ee7093\scratchpad\ppt\assets\circle-grad.png">    </p:cNvPr>
          <p:cNvPicPr>
            <a:picLocks noChangeAspect="1"/>
          </p:cNvPicPr>
          <p:nvPr/>
        </p:nvPicPr>
        <p:blipFill>
          <a:blip r:embed="rId7"/>
          <a:stretch>
            <a:fillRect/>
          </a:stretch>
        </p:blipFill>
        <p:spPr>
          <a:xfrm>
            <a:off x="6735318" y="2514600"/>
            <a:ext cx="566928" cy="566928"/>
          </a:xfrm>
          <a:prstGeom prst="rect">
            <a:avLst/>
          </a:prstGeom>
        </p:spPr>
      </p:pic>
      <p:sp>
        <p:nvSpPr>
          <p:cNvPr id="32" name="Text 24"/>
          <p:cNvSpPr txBox="1"/>
          <p:nvPr/>
        </p:nvSpPr>
        <p:spPr>
          <a:xfrm>
            <a:off x="6735318"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4</a:t>
            </a:r>
            <a:endParaRPr lang="en-US" sz="2200" dirty="0"/>
          </a:p>
        </p:txBody>
      </p:sp>
      <p:sp>
        <p:nvSpPr>
          <p:cNvPr id="33" name="Text 25"/>
          <p:cNvSpPr txBox="1"/>
          <p:nvPr/>
        </p:nvSpPr>
        <p:spPr>
          <a:xfrm>
            <a:off x="6140196"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Envío</a:t>
            </a:r>
            <a:endParaRPr lang="en-US" sz="1500" dirty="0"/>
          </a:p>
        </p:txBody>
      </p:sp>
      <p:sp>
        <p:nvSpPr>
          <p:cNvPr id="34" name="Text 26"/>
          <p:cNvSpPr txBox="1"/>
          <p:nvPr/>
        </p:nvSpPr>
        <p:spPr>
          <a:xfrm>
            <a:off x="6167628"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POST …/shipping-methods</a:t>
            </a:r>
            <a:endParaRPr lang="en-US" sz="950" dirty="0"/>
          </a:p>
        </p:txBody>
      </p:sp>
      <p:sp>
        <p:nvSpPr>
          <p:cNvPr id="35" name="Shape 27"/>
          <p:cNvSpPr/>
          <p:nvPr/>
        </p:nvSpPr>
        <p:spPr>
          <a:xfrm>
            <a:off x="6185916"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36" name="Text 28"/>
          <p:cNvSpPr txBox="1"/>
          <p:nvPr/>
        </p:nvSpPr>
        <p:spPr>
          <a:xfrm>
            <a:off x="6313932"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37" name="Text 29"/>
          <p:cNvSpPr txBox="1"/>
          <p:nvPr/>
        </p:nvSpPr>
        <p:spPr>
          <a:xfrm>
            <a:off x="6313932"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cart_shipping_method</a:t>
            </a:r>
            <a:endParaRPr lang="en-US" sz="1000" dirty="0"/>
          </a:p>
        </p:txBody>
      </p:sp>
      <p:pic>
        <p:nvPicPr>
          <p:cNvPr id="38"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8583930" y="2514600"/>
            <a:ext cx="566928" cy="566928"/>
          </a:xfrm>
          <a:prstGeom prst="rect">
            <a:avLst/>
          </a:prstGeom>
        </p:spPr>
      </p:pic>
      <p:sp>
        <p:nvSpPr>
          <p:cNvPr id="39" name="Text 30"/>
          <p:cNvSpPr txBox="1"/>
          <p:nvPr/>
        </p:nvSpPr>
        <p:spPr>
          <a:xfrm>
            <a:off x="8583930"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5</a:t>
            </a:r>
            <a:endParaRPr lang="en-US" sz="2200" dirty="0"/>
          </a:p>
        </p:txBody>
      </p:sp>
      <p:sp>
        <p:nvSpPr>
          <p:cNvPr id="40" name="Text 31"/>
          <p:cNvSpPr txBox="1"/>
          <p:nvPr/>
        </p:nvSpPr>
        <p:spPr>
          <a:xfrm>
            <a:off x="7988808"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Pago</a:t>
            </a:r>
            <a:endParaRPr lang="en-US" sz="1500" dirty="0"/>
          </a:p>
        </p:txBody>
      </p:sp>
      <p:sp>
        <p:nvSpPr>
          <p:cNvPr id="41" name="Text 32"/>
          <p:cNvSpPr txBox="1"/>
          <p:nvPr/>
        </p:nvSpPr>
        <p:spPr>
          <a:xfrm>
            <a:off x="8016240"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POST /store/payment-collections</a:t>
            </a:r>
            <a:endParaRPr lang="en-US" sz="950" dirty="0"/>
          </a:p>
        </p:txBody>
      </p:sp>
      <p:sp>
        <p:nvSpPr>
          <p:cNvPr id="42" name="Shape 33"/>
          <p:cNvSpPr/>
          <p:nvPr/>
        </p:nvSpPr>
        <p:spPr>
          <a:xfrm>
            <a:off x="8034528"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43" name="Text 34"/>
          <p:cNvSpPr txBox="1"/>
          <p:nvPr/>
        </p:nvSpPr>
        <p:spPr>
          <a:xfrm>
            <a:off x="8162544"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44" name="Text 35"/>
          <p:cNvSpPr txBox="1"/>
          <p:nvPr/>
        </p:nvSpPr>
        <p:spPr>
          <a:xfrm>
            <a:off x="8162544"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payment_collection</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payment_session</a:t>
            </a:r>
            <a:endParaRPr lang="en-US" sz="1000" dirty="0"/>
          </a:p>
        </p:txBody>
      </p:sp>
      <p:pic>
        <p:nvPicPr>
          <p:cNvPr id="45" name="Image 7" descr="C:\Users\AlexAmaze\AppData\Local\Temp\claude\C--My-Files-repos-supaday-ecommerce\b329a27c-f2be-420c-b170-4436a9ee7093\scratchpad\ppt\assets\circle-grad.png">    </p:cNvPr>
          <p:cNvPicPr>
            <a:picLocks noChangeAspect="1"/>
          </p:cNvPicPr>
          <p:nvPr/>
        </p:nvPicPr>
        <p:blipFill>
          <a:blip r:embed="rId9"/>
          <a:stretch>
            <a:fillRect/>
          </a:stretch>
        </p:blipFill>
        <p:spPr>
          <a:xfrm>
            <a:off x="10432542" y="2514600"/>
            <a:ext cx="566928" cy="566928"/>
          </a:xfrm>
          <a:prstGeom prst="rect">
            <a:avLst/>
          </a:prstGeom>
        </p:spPr>
      </p:pic>
      <p:sp>
        <p:nvSpPr>
          <p:cNvPr id="46" name="Text 36"/>
          <p:cNvSpPr txBox="1"/>
          <p:nvPr/>
        </p:nvSpPr>
        <p:spPr>
          <a:xfrm>
            <a:off x="10432542" y="251460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6</a:t>
            </a:r>
            <a:endParaRPr lang="en-US" sz="2200" dirty="0"/>
          </a:p>
        </p:txBody>
      </p:sp>
      <p:sp>
        <p:nvSpPr>
          <p:cNvPr id="47" name="Text 37"/>
          <p:cNvSpPr txBox="1"/>
          <p:nvPr/>
        </p:nvSpPr>
        <p:spPr>
          <a:xfrm>
            <a:off x="9837420" y="3227832"/>
            <a:ext cx="1757172" cy="329184"/>
          </a:xfrm>
          <a:prstGeom prst="rect">
            <a:avLst/>
          </a:prstGeom>
          <a:noFill/>
          <a:ln/>
        </p:spPr>
        <p:txBody>
          <a:bodyPr wrap="square" lIns="0" tIns="0" rIns="0" bIns="0" rtlCol="0" anchor="t"/>
          <a:lstStyle/>
          <a:p>
            <a:pPr algn="ctr" indent="0" marL="0">
              <a:buNone/>
            </a:pPr>
            <a:r>
              <a:rPr lang="en-US" sz="1500" dirty="0">
                <a:solidFill>
                  <a:srgbClr val="0A1033"/>
                </a:solidFill>
                <a:latin typeface="Segoe UI Semibold" pitchFamily="34" charset="0"/>
                <a:ea typeface="Segoe UI Semibold" pitchFamily="34" charset="-122"/>
                <a:cs typeface="Segoe UI Semibold" pitchFamily="34" charset="-120"/>
              </a:rPr>
              <a:t>Orden</a:t>
            </a:r>
            <a:endParaRPr lang="en-US" sz="1500" dirty="0"/>
          </a:p>
        </p:txBody>
      </p:sp>
      <p:sp>
        <p:nvSpPr>
          <p:cNvPr id="48" name="Text 38"/>
          <p:cNvSpPr txBox="1"/>
          <p:nvPr/>
        </p:nvSpPr>
        <p:spPr>
          <a:xfrm>
            <a:off x="9864852" y="3566160"/>
            <a:ext cx="1702308" cy="457200"/>
          </a:xfrm>
          <a:prstGeom prst="rect">
            <a:avLst/>
          </a:prstGeom>
          <a:noFill/>
          <a:ln/>
        </p:spPr>
        <p:txBody>
          <a:bodyPr wrap="square" lIns="0" tIns="0" rIns="0" bIns="0" rtlCol="0" anchor="t"/>
          <a:lstStyle/>
          <a:p>
            <a:pPr algn="ctr" indent="0" marL="0">
              <a:buNone/>
            </a:pPr>
            <a:r>
              <a:rPr lang="en-US" sz="950" dirty="0">
                <a:solidFill>
                  <a:srgbClr val="0A4FB3"/>
                </a:solidFill>
                <a:latin typeface="Consolas" pitchFamily="34" charset="0"/>
                <a:ea typeface="Consolas" pitchFamily="34" charset="-122"/>
                <a:cs typeface="Consolas" pitchFamily="34" charset="-120"/>
              </a:rPr>
              <a:t>POST /store/carts/:id/complete</a:t>
            </a:r>
            <a:endParaRPr lang="en-US" sz="950" dirty="0"/>
          </a:p>
        </p:txBody>
      </p:sp>
      <p:sp>
        <p:nvSpPr>
          <p:cNvPr id="49" name="Shape 39"/>
          <p:cNvSpPr/>
          <p:nvPr/>
        </p:nvSpPr>
        <p:spPr>
          <a:xfrm>
            <a:off x="9883140" y="4114800"/>
            <a:ext cx="1665732" cy="1188720"/>
          </a:xfrm>
          <a:prstGeom prst="roundRect">
            <a:avLst>
              <a:gd name="adj" fmla="val 13846"/>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sp>
        <p:nvSpPr>
          <p:cNvPr id="50" name="Text 40"/>
          <p:cNvSpPr txBox="1"/>
          <p:nvPr/>
        </p:nvSpPr>
        <p:spPr>
          <a:xfrm>
            <a:off x="10011156" y="4233672"/>
            <a:ext cx="1409700" cy="201168"/>
          </a:xfrm>
          <a:prstGeom prst="rect">
            <a:avLst/>
          </a:prstGeom>
          <a:noFill/>
          <a:ln/>
        </p:spPr>
        <p:txBody>
          <a:bodyPr wrap="square" lIns="0" tIns="0" rIns="0" bIns="0" rtlCol="0" anchor="t"/>
          <a:lstStyle/>
          <a:p>
            <a:pPr indent="0" marL="0">
              <a:buNone/>
            </a:pPr>
            <a:r>
              <a:rPr lang="en-US" sz="850" spc="200" kern="0" dirty="0">
                <a:solidFill>
                  <a:srgbClr val="8C96B4"/>
                </a:solidFill>
                <a:latin typeface="Segoe UI Semibold" pitchFamily="34" charset="0"/>
                <a:ea typeface="Segoe UI Semibold" pitchFamily="34" charset="-122"/>
                <a:cs typeface="Segoe UI Semibold" pitchFamily="34" charset="-120"/>
              </a:rPr>
              <a:t>TABLAS</a:t>
            </a:r>
            <a:endParaRPr lang="en-US" sz="850" dirty="0"/>
          </a:p>
        </p:txBody>
      </p:sp>
      <p:sp>
        <p:nvSpPr>
          <p:cNvPr id="51" name="Text 41"/>
          <p:cNvSpPr txBox="1"/>
          <p:nvPr/>
        </p:nvSpPr>
        <p:spPr>
          <a:xfrm>
            <a:off x="10011156" y="4453128"/>
            <a:ext cx="1409700" cy="777240"/>
          </a:xfrm>
          <a:prstGeom prst="rect">
            <a:avLst/>
          </a:prstGeom>
          <a:noFill/>
          <a:ln/>
        </p:spPr>
        <p:txBody>
          <a:bodyPr wrap="square" lIns="0" tIns="0" rIns="0" bIns="0" rtlCol="0" anchor="t"/>
          <a:lstStyle/>
          <a:p>
            <a:pPr indent="0" marL="0">
              <a:buNone/>
            </a:pPr>
            <a:r>
              <a:rPr lang="en-US" sz="1000" dirty="0">
                <a:solidFill>
                  <a:srgbClr val="0A1033"/>
                </a:solidFill>
                <a:latin typeface="Consolas" pitchFamily="34" charset="0"/>
                <a:ea typeface="Consolas" pitchFamily="34" charset="-122"/>
                <a:cs typeface="Consolas" pitchFamily="34" charset="-120"/>
              </a:rPr>
              <a:t>order</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order_item</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order_summary</a:t>
            </a:r>
            <a:endParaRPr lang="en-US" sz="1000" dirty="0"/>
          </a:p>
          <a:p>
            <a:pPr indent="0" marL="0">
              <a:buNone/>
            </a:pPr>
            <a:r>
              <a:rPr lang="en-US" sz="1000" dirty="0">
                <a:solidFill>
                  <a:srgbClr val="0A1033"/>
                </a:solidFill>
                <a:latin typeface="Consolas" pitchFamily="34" charset="0"/>
                <a:ea typeface="Consolas" pitchFamily="34" charset="-122"/>
                <a:cs typeface="Consolas" pitchFamily="34" charset="-120"/>
              </a:rPr>
              <a:t>payment</a:t>
            </a:r>
            <a:endParaRPr lang="en-US" sz="1000" dirty="0"/>
          </a:p>
        </p:txBody>
      </p:sp>
      <p:sp>
        <p:nvSpPr>
          <p:cNvPr id="52" name="Shape 42"/>
          <p:cNvSpPr/>
          <p:nvPr/>
        </p:nvSpPr>
        <p:spPr>
          <a:xfrm>
            <a:off x="548640" y="5577840"/>
            <a:ext cx="11091672" cy="731520"/>
          </a:xfrm>
          <a:prstGeom prst="roundRect">
            <a:avLst>
              <a:gd name="adj" fmla="val 25000"/>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53"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749808" y="5705856"/>
            <a:ext cx="475488" cy="475488"/>
          </a:xfrm>
          <a:prstGeom prst="rect">
            <a:avLst/>
          </a:prstGeom>
        </p:spPr>
      </p:pic>
      <p:pic>
        <p:nvPicPr>
          <p:cNvPr id="54" name="Image 9" descr="C:\Users\AlexAmaze\AppData\Local\Temp\claude\C--My-Files-repos-supaday-ecommerce\b329a27c-f2be-420c-b170-4436a9ee7093\scratchpad\ppt\assets\icons\workflow-w.png">    </p:cNvPr>
          <p:cNvPicPr>
            <a:picLocks noChangeAspect="1"/>
          </p:cNvPicPr>
          <p:nvPr/>
        </p:nvPicPr>
        <p:blipFill>
          <a:blip r:embed="rId11"/>
          <a:stretch>
            <a:fillRect/>
          </a:stretch>
        </p:blipFill>
        <p:spPr>
          <a:xfrm>
            <a:off x="868680" y="5824728"/>
            <a:ext cx="237744" cy="237744"/>
          </a:xfrm>
          <a:prstGeom prst="rect">
            <a:avLst/>
          </a:prstGeom>
        </p:spPr>
      </p:pic>
      <p:sp>
        <p:nvSpPr>
          <p:cNvPr id="55" name="Text 43"/>
          <p:cNvSpPr txBox="1"/>
          <p:nvPr/>
        </p:nvSpPr>
        <p:spPr>
          <a:xfrm>
            <a:off x="1389888" y="5577840"/>
            <a:ext cx="10058400" cy="731520"/>
          </a:xfrm>
          <a:prstGeom prst="rect">
            <a:avLst/>
          </a:prstGeom>
          <a:noFill/>
          <a:ln/>
        </p:spPr>
        <p:txBody>
          <a:bodyPr wrap="square" lIns="0" tIns="0" rIns="0" bIns="0" rtlCol="0" anchor="ctr"/>
          <a:lstStyle/>
          <a:p>
            <a:pPr indent="0" marL="0">
              <a:buNone/>
            </a:pPr>
            <a:r>
              <a:rPr lang="en-US" sz="1300" b="1" dirty="0">
                <a:solidFill>
                  <a:srgbClr val="0B1ED8"/>
                </a:solidFill>
                <a:latin typeface="Consolas" pitchFamily="34" charset="0"/>
                <a:ea typeface="Consolas" pitchFamily="34" charset="-122"/>
                <a:cs typeface="Consolas" pitchFamily="34" charset="-120"/>
              </a:rPr>
              <a:t>completeCartWorkflow </a:t>
            </a:r>
            <a:pPr indent="0" marL="0">
              <a:buNone/>
            </a:pPr>
            <a:r>
              <a:rPr lang="en-US" sz="1300" dirty="0">
                <a:solidFill>
                  <a:srgbClr val="0A1033"/>
                </a:solidFill>
                <a:latin typeface="Segoe UI" pitchFamily="34" charset="0"/>
                <a:ea typeface="Segoe UI" pitchFamily="34" charset="-122"/>
                <a:cs typeface="Segoe UI" pitchFamily="34" charset="-120"/>
              </a:rPr>
              <a:t>valida el carrito, autoriza el pago, reserva inventario y crea la orden. Si un paso falla, compensa y revierte los anteriores.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05 / 15   ·   SUPABASE</a:t>
            </a:r>
            <a:endParaRPr lang="en-US" sz="1000" dirty="0"/>
          </a:p>
        </p:txBody>
      </p:sp>
      <p:sp>
        <p:nvSpPr>
          <p:cNvPr id="5" name="Shape 2"/>
          <p:cNvSpPr/>
          <p:nvPr/>
        </p:nvSpPr>
        <p:spPr>
          <a:xfrm>
            <a:off x="548640" y="1005840"/>
            <a:ext cx="5484571"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5118811"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PROYECTO PROPIO · US-WEST-2 · POSTGRES 17</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TRES MODOS DE CONEXIÓN, </a:t>
            </a:r>
            <a:pPr indent="0" marL="0">
              <a:buNone/>
            </a:pPr>
            <a:r>
              <a:rPr lang="en-US" sz="4600" spc="100" kern="0" dirty="0">
                <a:solidFill>
                  <a:srgbClr val="62CFF6"/>
                </a:solidFill>
                <a:latin typeface="Bebas Neue" pitchFamily="34" charset="0"/>
                <a:ea typeface="Bebas Neue" pitchFamily="34" charset="-122"/>
                <a:cs typeface="Bebas Neue" pitchFamily="34" charset="-120"/>
              </a:rPr>
              <a:t>UNA DECISIÓN</a:t>
            </a:r>
            <a:endParaRPr lang="en-US" sz="4600" dirty="0"/>
          </a:p>
        </p:txBody>
      </p:sp>
      <p:sp>
        <p:nvSpPr>
          <p:cNvPr id="9" name="Shape 5"/>
          <p:cNvSpPr/>
          <p:nvPr/>
        </p:nvSpPr>
        <p:spPr>
          <a:xfrm>
            <a:off x="548640" y="2423160"/>
            <a:ext cx="3520440" cy="2697480"/>
          </a:xfrm>
          <a:prstGeom prst="roundRect">
            <a:avLst>
              <a:gd name="adj" fmla="val 8136"/>
            </a:avLst>
          </a:prstGeom>
          <a:solidFill>
            <a:srgbClr val="FFFFFF">
              <a:alpha val="9000"/>
            </a:srgbClr>
          </a:solidFill>
          <a:ln w="12700">
            <a:solidFill>
              <a:srgbClr val="FFFFFF">
                <a:alpha val="24000"/>
              </a:srgbClr>
            </a:solidFill>
            <a:prstDash val="solid"/>
          </a:ln>
        </p:spPr>
      </p:sp>
      <p:sp>
        <p:nvSpPr>
          <p:cNvPr id="10" name="Text 6"/>
          <p:cNvSpPr txBox="1"/>
          <p:nvPr/>
        </p:nvSpPr>
        <p:spPr>
          <a:xfrm>
            <a:off x="804672" y="2624328"/>
            <a:ext cx="2194560" cy="347472"/>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Direct connection</a:t>
            </a:r>
            <a:endParaRPr lang="en-US" sz="1700" dirty="0"/>
          </a:p>
        </p:txBody>
      </p:sp>
      <p:sp>
        <p:nvSpPr>
          <p:cNvPr id="11" name="Text 7"/>
          <p:cNvSpPr txBox="1"/>
          <p:nvPr/>
        </p:nvSpPr>
        <p:spPr>
          <a:xfrm>
            <a:off x="804672" y="3026664"/>
            <a:ext cx="3063240" cy="274320"/>
          </a:xfrm>
          <a:prstGeom prst="rect">
            <a:avLst/>
          </a:prstGeom>
          <a:noFill/>
          <a:ln/>
        </p:spPr>
        <p:txBody>
          <a:bodyPr wrap="square" lIns="0" tIns="0" rIns="0" bIns="0" rtlCol="0" anchor="t"/>
          <a:lstStyle/>
          <a:p>
            <a:pPr indent="0" marL="0">
              <a:buNone/>
            </a:pPr>
            <a:r>
              <a:rPr lang="en-US" sz="950" dirty="0">
                <a:solidFill>
                  <a:srgbClr val="62CFF6"/>
                </a:solidFill>
                <a:latin typeface="Consolas" pitchFamily="34" charset="0"/>
                <a:ea typeface="Consolas" pitchFamily="34" charset="-122"/>
                <a:cs typeface="Consolas" pitchFamily="34" charset="-120"/>
              </a:rPr>
              <a:t>db.&lt;ref&gt;.supabase.co:5432</a:t>
            </a:r>
            <a:endParaRPr lang="en-US" sz="950" dirty="0"/>
          </a:p>
        </p:txBody>
      </p:sp>
      <p:pic>
        <p:nvPicPr>
          <p:cNvPr id="12" name="Image 2" descr="C:\Users\AlexAmaze\AppData\Local\Temp\claude\C--My-Files-repos-supaday-ecommerce\b329a27c-f2be-420c-b170-4436a9ee7093\scratchpad\ppt\assets\icons\x-w.png">    </p:cNvPr>
          <p:cNvPicPr>
            <a:picLocks noChangeAspect="1"/>
          </p:cNvPicPr>
          <p:nvPr/>
        </p:nvPicPr>
        <p:blipFill>
          <a:blip r:embed="rId4"/>
          <a:stretch>
            <a:fillRect/>
          </a:stretch>
        </p:blipFill>
        <p:spPr>
          <a:xfrm>
            <a:off x="804672" y="3511296"/>
            <a:ext cx="201168" cy="201168"/>
          </a:xfrm>
          <a:prstGeom prst="rect">
            <a:avLst/>
          </a:prstGeom>
        </p:spPr>
      </p:pic>
      <p:sp>
        <p:nvSpPr>
          <p:cNvPr id="13" name="Text 8"/>
          <p:cNvSpPr txBox="1"/>
          <p:nvPr/>
        </p:nvSpPr>
        <p:spPr>
          <a:xfrm>
            <a:off x="1115568" y="3456432"/>
            <a:ext cx="2743200" cy="457200"/>
          </a:xfrm>
          <a:prstGeom prst="rect">
            <a:avLst/>
          </a:prstGeom>
          <a:noFill/>
          <a:ln/>
        </p:spPr>
        <p:txBody>
          <a:bodyPr wrap="square" lIns="0" tIns="0" rIns="0" bIns="0" rtlCol="0" anchor="t"/>
          <a:lstStyle/>
          <a:p>
            <a:pPr indent="0" marL="0">
              <a:buNone/>
            </a:pPr>
            <a:r>
              <a:rPr lang="en-US" sz="1150" dirty="0">
                <a:solidFill>
                  <a:srgbClr val="C9D2EE"/>
                </a:solidFill>
                <a:latin typeface="Segoe UI" pitchFamily="34" charset="0"/>
                <a:ea typeface="Segoe UI" pitchFamily="34" charset="-122"/>
                <a:cs typeface="Segoe UI" pitchFamily="34" charset="-120"/>
              </a:rPr>
              <a:t>Solo IPv6 en el plan gratuito</a:t>
            </a:r>
            <a:endParaRPr lang="en-US" sz="1150" dirty="0"/>
          </a:p>
        </p:txBody>
      </p:sp>
      <p:pic>
        <p:nvPicPr>
          <p:cNvPr id="14" name="Image 3" descr="C:\Users\AlexAmaze\AppData\Local\Temp\claude\C--My-Files-repos-supaday-ecommerce\b329a27c-f2be-420c-b170-4436a9ee7093\scratchpad\ppt\assets\icons\x-w.png">    </p:cNvPr>
          <p:cNvPicPr>
            <a:picLocks noChangeAspect="1"/>
          </p:cNvPicPr>
          <p:nvPr/>
        </p:nvPicPr>
        <p:blipFill>
          <a:blip r:embed="rId5"/>
          <a:stretch>
            <a:fillRect/>
          </a:stretch>
        </p:blipFill>
        <p:spPr>
          <a:xfrm>
            <a:off x="804672" y="4014216"/>
            <a:ext cx="201168" cy="201168"/>
          </a:xfrm>
          <a:prstGeom prst="rect">
            <a:avLst/>
          </a:prstGeom>
        </p:spPr>
      </p:pic>
      <p:sp>
        <p:nvSpPr>
          <p:cNvPr id="15" name="Text 9"/>
          <p:cNvSpPr txBox="1"/>
          <p:nvPr/>
        </p:nvSpPr>
        <p:spPr>
          <a:xfrm>
            <a:off x="1115568" y="3959352"/>
            <a:ext cx="2743200" cy="457200"/>
          </a:xfrm>
          <a:prstGeom prst="rect">
            <a:avLst/>
          </a:prstGeom>
          <a:noFill/>
          <a:ln/>
        </p:spPr>
        <p:txBody>
          <a:bodyPr wrap="square" lIns="0" tIns="0" rIns="0" bIns="0" rtlCol="0" anchor="t"/>
          <a:lstStyle/>
          <a:p>
            <a:pPr indent="0" marL="0">
              <a:buNone/>
            </a:pPr>
            <a:r>
              <a:rPr lang="en-US" sz="1150" dirty="0">
                <a:solidFill>
                  <a:srgbClr val="C9D2EE"/>
                </a:solidFill>
                <a:latin typeface="Segoe UI" pitchFamily="34" charset="0"/>
                <a:ea typeface="Segoe UI" pitchFamily="34" charset="-122"/>
                <a:cs typeface="Segoe UI" pitchFamily="34" charset="-120"/>
              </a:rPr>
              <a:t>Muchas redes de casa o universidad son IPv4</a:t>
            </a:r>
            <a:endParaRPr lang="en-US" sz="1150" dirty="0"/>
          </a:p>
        </p:txBody>
      </p:sp>
      <p:pic>
        <p:nvPicPr>
          <p:cNvPr id="16" name="Image 4" descr="C:\Users\AlexAmaze\AppData\Local\Temp\claude\C--My-Files-repos-supaday-ecommerce\b329a27c-f2be-420c-b170-4436a9ee7093\scratchpad\ppt\assets\icons\check-s.png">    </p:cNvPr>
          <p:cNvPicPr>
            <a:picLocks noChangeAspect="1"/>
          </p:cNvPicPr>
          <p:nvPr/>
        </p:nvPicPr>
        <p:blipFill>
          <a:blip r:embed="rId6"/>
          <a:stretch>
            <a:fillRect/>
          </a:stretch>
        </p:blipFill>
        <p:spPr>
          <a:xfrm>
            <a:off x="804672" y="4517136"/>
            <a:ext cx="201168" cy="201168"/>
          </a:xfrm>
          <a:prstGeom prst="rect">
            <a:avLst/>
          </a:prstGeom>
        </p:spPr>
      </p:pic>
      <p:sp>
        <p:nvSpPr>
          <p:cNvPr id="17" name="Text 10"/>
          <p:cNvSpPr txBox="1"/>
          <p:nvPr/>
        </p:nvSpPr>
        <p:spPr>
          <a:xfrm>
            <a:off x="1115568" y="4462272"/>
            <a:ext cx="2743200" cy="457200"/>
          </a:xfrm>
          <a:prstGeom prst="rect">
            <a:avLst/>
          </a:prstGeom>
          <a:noFill/>
          <a:ln/>
        </p:spPr>
        <p:txBody>
          <a:bodyPr wrap="square" lIns="0" tIns="0" rIns="0" bIns="0" rtlCol="0" anchor="t"/>
          <a:lstStyle/>
          <a:p>
            <a:pPr indent="0" marL="0">
              <a:buNone/>
            </a:pPr>
            <a:r>
              <a:rPr lang="en-US" sz="1150" dirty="0">
                <a:solidFill>
                  <a:srgbClr val="FFFFFF"/>
                </a:solidFill>
                <a:latin typeface="Segoe UI" pitchFamily="34" charset="0"/>
                <a:ea typeface="Segoe UI" pitchFamily="34" charset="-122"/>
                <a:cs typeface="Segoe UI" pitchFamily="34" charset="-120"/>
              </a:rPr>
              <a:t>Sesión completa con Postgres</a:t>
            </a:r>
            <a:endParaRPr lang="en-US" sz="1150" dirty="0"/>
          </a:p>
        </p:txBody>
      </p:sp>
      <p:sp>
        <p:nvSpPr>
          <p:cNvPr id="18" name="Shape 11"/>
          <p:cNvSpPr/>
          <p:nvPr/>
        </p:nvSpPr>
        <p:spPr>
          <a:xfrm>
            <a:off x="4334256" y="2423160"/>
            <a:ext cx="3520440" cy="2697480"/>
          </a:xfrm>
          <a:prstGeom prst="roundRect">
            <a:avLst>
              <a:gd name="adj" fmla="val 8136"/>
            </a:avLst>
          </a:prstGeom>
          <a:solidFill>
            <a:srgbClr val="FFFFFF">
              <a:alpha val="16000"/>
            </a:srgbClr>
          </a:solidFill>
          <a:ln w="25400">
            <a:solidFill>
              <a:srgbClr val="62CFF6"/>
            </a:solidFill>
            <a:prstDash val="solid"/>
          </a:ln>
        </p:spPr>
      </p:sp>
      <p:pic>
        <p:nvPicPr>
          <p:cNvPr id="19" name="Image 5" descr="C:\Users\AlexAmaze\AppData\Local\Temp\claude\C--My-Files-repos-supaday-ecommerce\b329a27c-f2be-420c-b170-4436a9ee7093\scratchpad\ppt\assets\gen\g-112x34-17.png">    </p:cNvPr>
          <p:cNvPicPr>
            <a:picLocks noChangeAspect="1"/>
          </p:cNvPicPr>
          <p:nvPr/>
        </p:nvPicPr>
        <p:blipFill>
          <a:blip r:embed="rId7"/>
          <a:stretch>
            <a:fillRect/>
          </a:stretch>
        </p:blipFill>
        <p:spPr>
          <a:xfrm>
            <a:off x="6620256" y="2624328"/>
            <a:ext cx="1024128" cy="310896"/>
          </a:xfrm>
          <a:prstGeom prst="rect">
            <a:avLst/>
          </a:prstGeom>
        </p:spPr>
      </p:pic>
      <p:sp>
        <p:nvSpPr>
          <p:cNvPr id="20" name="Text 12"/>
          <p:cNvSpPr txBox="1"/>
          <p:nvPr/>
        </p:nvSpPr>
        <p:spPr>
          <a:xfrm>
            <a:off x="6691945" y="2624328"/>
            <a:ext cx="88075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ELEGIDO</a:t>
            </a:r>
            <a:endParaRPr lang="en-US" sz="1000" dirty="0"/>
          </a:p>
        </p:txBody>
      </p:sp>
      <p:sp>
        <p:nvSpPr>
          <p:cNvPr id="21" name="Text 13"/>
          <p:cNvSpPr txBox="1"/>
          <p:nvPr/>
        </p:nvSpPr>
        <p:spPr>
          <a:xfrm>
            <a:off x="4590288" y="2624328"/>
            <a:ext cx="2194560" cy="347472"/>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Session pooler</a:t>
            </a:r>
            <a:endParaRPr lang="en-US" sz="1700" dirty="0"/>
          </a:p>
        </p:txBody>
      </p:sp>
      <p:sp>
        <p:nvSpPr>
          <p:cNvPr id="22" name="Text 14"/>
          <p:cNvSpPr txBox="1"/>
          <p:nvPr/>
        </p:nvSpPr>
        <p:spPr>
          <a:xfrm>
            <a:off x="4590288" y="3026664"/>
            <a:ext cx="3063240" cy="274320"/>
          </a:xfrm>
          <a:prstGeom prst="rect">
            <a:avLst/>
          </a:prstGeom>
          <a:noFill/>
          <a:ln/>
        </p:spPr>
        <p:txBody>
          <a:bodyPr wrap="square" lIns="0" tIns="0" rIns="0" bIns="0" rtlCol="0" anchor="t"/>
          <a:lstStyle/>
          <a:p>
            <a:pPr indent="0" marL="0">
              <a:buNone/>
            </a:pPr>
            <a:r>
              <a:rPr lang="en-US" sz="950" dirty="0">
                <a:solidFill>
                  <a:srgbClr val="62CFF6"/>
                </a:solidFill>
                <a:latin typeface="Consolas" pitchFamily="34" charset="0"/>
                <a:ea typeface="Consolas" pitchFamily="34" charset="-122"/>
                <a:cs typeface="Consolas" pitchFamily="34" charset="-120"/>
              </a:rPr>
              <a:t>aws-0-us-west-2.pooler.supabase.com:5432</a:t>
            </a:r>
            <a:endParaRPr lang="en-US" sz="950" dirty="0"/>
          </a:p>
        </p:txBody>
      </p:sp>
      <p:pic>
        <p:nvPicPr>
          <p:cNvPr id="23" name="Image 6" descr="C:\Users\AlexAmaze\AppData\Local\Temp\claude\C--My-Files-repos-supaday-ecommerce\b329a27c-f2be-420c-b170-4436a9ee7093\scratchpad\ppt\assets\icons\check-s.png">    </p:cNvPr>
          <p:cNvPicPr>
            <a:picLocks noChangeAspect="1"/>
          </p:cNvPicPr>
          <p:nvPr/>
        </p:nvPicPr>
        <p:blipFill>
          <a:blip r:embed="rId8"/>
          <a:stretch>
            <a:fillRect/>
          </a:stretch>
        </p:blipFill>
        <p:spPr>
          <a:xfrm>
            <a:off x="4590288" y="3511296"/>
            <a:ext cx="201168" cy="201168"/>
          </a:xfrm>
          <a:prstGeom prst="rect">
            <a:avLst/>
          </a:prstGeom>
        </p:spPr>
      </p:pic>
      <p:sp>
        <p:nvSpPr>
          <p:cNvPr id="24" name="Text 15"/>
          <p:cNvSpPr txBox="1"/>
          <p:nvPr/>
        </p:nvSpPr>
        <p:spPr>
          <a:xfrm>
            <a:off x="4901184" y="3456432"/>
            <a:ext cx="2743200" cy="457200"/>
          </a:xfrm>
          <a:prstGeom prst="rect">
            <a:avLst/>
          </a:prstGeom>
          <a:noFill/>
          <a:ln/>
        </p:spPr>
        <p:txBody>
          <a:bodyPr wrap="square" lIns="0" tIns="0" rIns="0" bIns="0" rtlCol="0" anchor="t"/>
          <a:lstStyle/>
          <a:p>
            <a:pPr indent="0" marL="0">
              <a:buNone/>
            </a:pPr>
            <a:r>
              <a:rPr lang="en-US" sz="1150" dirty="0">
                <a:solidFill>
                  <a:srgbClr val="FFFFFF"/>
                </a:solidFill>
                <a:latin typeface="Segoe UI" pitchFamily="34" charset="0"/>
                <a:ea typeface="Segoe UI" pitchFamily="34" charset="-122"/>
                <a:cs typeface="Segoe UI" pitchFamily="34" charset="-120"/>
              </a:rPr>
              <a:t>IPv4: conecta desde cualquier red</a:t>
            </a:r>
            <a:endParaRPr lang="en-US" sz="1150" dirty="0"/>
          </a:p>
        </p:txBody>
      </p:sp>
      <p:pic>
        <p:nvPicPr>
          <p:cNvPr id="25" name="Image 7" descr="C:\Users\AlexAmaze\AppData\Local\Temp\claude\C--My-Files-repos-supaday-ecommerce\b329a27c-f2be-420c-b170-4436a9ee7093\scratchpad\ppt\assets\icons\check-s.png">    </p:cNvPr>
          <p:cNvPicPr>
            <a:picLocks noChangeAspect="1"/>
          </p:cNvPicPr>
          <p:nvPr/>
        </p:nvPicPr>
        <p:blipFill>
          <a:blip r:embed="rId9"/>
          <a:stretch>
            <a:fillRect/>
          </a:stretch>
        </p:blipFill>
        <p:spPr>
          <a:xfrm>
            <a:off x="4590288" y="4014216"/>
            <a:ext cx="201168" cy="201168"/>
          </a:xfrm>
          <a:prstGeom prst="rect">
            <a:avLst/>
          </a:prstGeom>
        </p:spPr>
      </p:pic>
      <p:sp>
        <p:nvSpPr>
          <p:cNvPr id="26" name="Text 16"/>
          <p:cNvSpPr txBox="1"/>
          <p:nvPr/>
        </p:nvSpPr>
        <p:spPr>
          <a:xfrm>
            <a:off x="4901184" y="3959352"/>
            <a:ext cx="2743200" cy="457200"/>
          </a:xfrm>
          <a:prstGeom prst="rect">
            <a:avLst/>
          </a:prstGeom>
          <a:noFill/>
          <a:ln/>
        </p:spPr>
        <p:txBody>
          <a:bodyPr wrap="square" lIns="0" tIns="0" rIns="0" bIns="0" rtlCol="0" anchor="t"/>
          <a:lstStyle/>
          <a:p>
            <a:pPr indent="0" marL="0">
              <a:buNone/>
            </a:pPr>
            <a:r>
              <a:rPr lang="en-US" sz="1150" dirty="0">
                <a:solidFill>
                  <a:srgbClr val="FFFFFF"/>
                </a:solidFill>
                <a:latin typeface="Segoe UI" pitchFamily="34" charset="0"/>
                <a:ea typeface="Segoe UI" pitchFamily="34" charset="-122"/>
                <a:cs typeface="Segoe UI" pitchFamily="34" charset="-120"/>
              </a:rPr>
              <a:t>Sesión completa: migraciones, prepared statements y locks</a:t>
            </a:r>
            <a:endParaRPr lang="en-US" sz="1150" dirty="0"/>
          </a:p>
        </p:txBody>
      </p:sp>
      <p:pic>
        <p:nvPicPr>
          <p:cNvPr id="27" name="Image 8" descr="C:\Users\AlexAmaze\AppData\Local\Temp\claude\C--My-Files-repos-supaday-ecommerce\b329a27c-f2be-420c-b170-4436a9ee7093\scratchpad\ppt\assets\icons\check-s.png">    </p:cNvPr>
          <p:cNvPicPr>
            <a:picLocks noChangeAspect="1"/>
          </p:cNvPicPr>
          <p:nvPr/>
        </p:nvPicPr>
        <p:blipFill>
          <a:blip r:embed="rId10"/>
          <a:stretch>
            <a:fillRect/>
          </a:stretch>
        </p:blipFill>
        <p:spPr>
          <a:xfrm>
            <a:off x="4590288" y="4517136"/>
            <a:ext cx="201168" cy="201168"/>
          </a:xfrm>
          <a:prstGeom prst="rect">
            <a:avLst/>
          </a:prstGeom>
        </p:spPr>
      </p:pic>
      <p:sp>
        <p:nvSpPr>
          <p:cNvPr id="28" name="Text 17"/>
          <p:cNvSpPr txBox="1"/>
          <p:nvPr/>
        </p:nvSpPr>
        <p:spPr>
          <a:xfrm>
            <a:off x="4901184" y="4462272"/>
            <a:ext cx="2743200" cy="457200"/>
          </a:xfrm>
          <a:prstGeom prst="rect">
            <a:avLst/>
          </a:prstGeom>
          <a:noFill/>
          <a:ln/>
        </p:spPr>
        <p:txBody>
          <a:bodyPr wrap="square" lIns="0" tIns="0" rIns="0" bIns="0" rtlCol="0" anchor="t"/>
          <a:lstStyle/>
          <a:p>
            <a:pPr indent="0" marL="0">
              <a:buNone/>
            </a:pPr>
            <a:r>
              <a:rPr lang="en-US" sz="1150" dirty="0">
                <a:solidFill>
                  <a:srgbClr val="FFFFFF"/>
                </a:solidFill>
                <a:latin typeface="Segoe UI" pitchFamily="34" charset="0"/>
                <a:ea typeface="Segoe UI" pitchFamily="34" charset="-122"/>
                <a:cs typeface="Segoe UI" pitchFamily="34" charset="-120"/>
              </a:rPr>
              <a:t>Supavisor gestiona el pool delante de Postgres</a:t>
            </a:r>
            <a:endParaRPr lang="en-US" sz="1150" dirty="0"/>
          </a:p>
        </p:txBody>
      </p:sp>
      <p:sp>
        <p:nvSpPr>
          <p:cNvPr id="29" name="Shape 18"/>
          <p:cNvSpPr/>
          <p:nvPr/>
        </p:nvSpPr>
        <p:spPr>
          <a:xfrm>
            <a:off x="8119872" y="2423160"/>
            <a:ext cx="3520440" cy="2697480"/>
          </a:xfrm>
          <a:prstGeom prst="roundRect">
            <a:avLst>
              <a:gd name="adj" fmla="val 8136"/>
            </a:avLst>
          </a:prstGeom>
          <a:solidFill>
            <a:srgbClr val="FFFFFF">
              <a:alpha val="9000"/>
            </a:srgbClr>
          </a:solidFill>
          <a:ln w="12700">
            <a:solidFill>
              <a:srgbClr val="FFFFFF">
                <a:alpha val="24000"/>
              </a:srgbClr>
            </a:solidFill>
            <a:prstDash val="solid"/>
          </a:ln>
        </p:spPr>
      </p:sp>
      <p:sp>
        <p:nvSpPr>
          <p:cNvPr id="30" name="Text 19"/>
          <p:cNvSpPr txBox="1"/>
          <p:nvPr/>
        </p:nvSpPr>
        <p:spPr>
          <a:xfrm>
            <a:off x="8375904" y="2624328"/>
            <a:ext cx="2194560" cy="347472"/>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Transaction pooler</a:t>
            </a:r>
            <a:endParaRPr lang="en-US" sz="1700" dirty="0"/>
          </a:p>
        </p:txBody>
      </p:sp>
      <p:sp>
        <p:nvSpPr>
          <p:cNvPr id="31" name="Text 20"/>
          <p:cNvSpPr txBox="1"/>
          <p:nvPr/>
        </p:nvSpPr>
        <p:spPr>
          <a:xfrm>
            <a:off x="8375904" y="3026664"/>
            <a:ext cx="3063240" cy="274320"/>
          </a:xfrm>
          <a:prstGeom prst="rect">
            <a:avLst/>
          </a:prstGeom>
          <a:noFill/>
          <a:ln/>
        </p:spPr>
        <p:txBody>
          <a:bodyPr wrap="square" lIns="0" tIns="0" rIns="0" bIns="0" rtlCol="0" anchor="t"/>
          <a:lstStyle/>
          <a:p>
            <a:pPr indent="0" marL="0">
              <a:buNone/>
            </a:pPr>
            <a:r>
              <a:rPr lang="en-US" sz="950" dirty="0">
                <a:solidFill>
                  <a:srgbClr val="62CFF6"/>
                </a:solidFill>
                <a:latin typeface="Consolas" pitchFamily="34" charset="0"/>
                <a:ea typeface="Consolas" pitchFamily="34" charset="-122"/>
                <a:cs typeface="Consolas" pitchFamily="34" charset="-120"/>
              </a:rPr>
              <a:t>…pooler.supabase.com:6543</a:t>
            </a:r>
            <a:endParaRPr lang="en-US" sz="950" dirty="0"/>
          </a:p>
        </p:txBody>
      </p:sp>
      <p:pic>
        <p:nvPicPr>
          <p:cNvPr id="32" name="Image 9" descr="C:\Users\AlexAmaze\AppData\Local\Temp\claude\C--My-Files-repos-supaday-ecommerce\b329a27c-f2be-420c-b170-4436a9ee7093\scratchpad\ppt\assets\icons\check-s.png">    </p:cNvPr>
          <p:cNvPicPr>
            <a:picLocks noChangeAspect="1"/>
          </p:cNvPicPr>
          <p:nvPr/>
        </p:nvPicPr>
        <p:blipFill>
          <a:blip r:embed="rId11"/>
          <a:stretch>
            <a:fillRect/>
          </a:stretch>
        </p:blipFill>
        <p:spPr>
          <a:xfrm>
            <a:off x="8375904" y="3511296"/>
            <a:ext cx="201168" cy="201168"/>
          </a:xfrm>
          <a:prstGeom prst="rect">
            <a:avLst/>
          </a:prstGeom>
        </p:spPr>
      </p:pic>
      <p:sp>
        <p:nvSpPr>
          <p:cNvPr id="33" name="Text 21"/>
          <p:cNvSpPr txBox="1"/>
          <p:nvPr/>
        </p:nvSpPr>
        <p:spPr>
          <a:xfrm>
            <a:off x="8686800" y="3456432"/>
            <a:ext cx="2743200" cy="457200"/>
          </a:xfrm>
          <a:prstGeom prst="rect">
            <a:avLst/>
          </a:prstGeom>
          <a:noFill/>
          <a:ln/>
        </p:spPr>
        <p:txBody>
          <a:bodyPr wrap="square" lIns="0" tIns="0" rIns="0" bIns="0" rtlCol="0" anchor="t"/>
          <a:lstStyle/>
          <a:p>
            <a:pPr indent="0" marL="0">
              <a:buNone/>
            </a:pPr>
            <a:r>
              <a:rPr lang="en-US" sz="1150" dirty="0">
                <a:solidFill>
                  <a:srgbClr val="FFFFFF"/>
                </a:solidFill>
                <a:latin typeface="Segoe UI" pitchFamily="34" charset="0"/>
                <a:ea typeface="Segoe UI" pitchFamily="34" charset="-122"/>
                <a:cs typeface="Segoe UI" pitchFamily="34" charset="-120"/>
              </a:rPr>
              <a:t>IPv4</a:t>
            </a:r>
            <a:endParaRPr lang="en-US" sz="1150" dirty="0"/>
          </a:p>
        </p:txBody>
      </p:sp>
      <p:pic>
        <p:nvPicPr>
          <p:cNvPr id="34" name="Image 10" descr="C:\Users\AlexAmaze\AppData\Local\Temp\claude\C--My-Files-repos-supaday-ecommerce\b329a27c-f2be-420c-b170-4436a9ee7093\scratchpad\ppt\assets\icons\x-w.png">    </p:cNvPr>
          <p:cNvPicPr>
            <a:picLocks noChangeAspect="1"/>
          </p:cNvPicPr>
          <p:nvPr/>
        </p:nvPicPr>
        <p:blipFill>
          <a:blip r:embed="rId12"/>
          <a:stretch>
            <a:fillRect/>
          </a:stretch>
        </p:blipFill>
        <p:spPr>
          <a:xfrm>
            <a:off x="8375904" y="4014216"/>
            <a:ext cx="201168" cy="201168"/>
          </a:xfrm>
          <a:prstGeom prst="rect">
            <a:avLst/>
          </a:prstGeom>
        </p:spPr>
      </p:pic>
      <p:sp>
        <p:nvSpPr>
          <p:cNvPr id="35" name="Text 22"/>
          <p:cNvSpPr txBox="1"/>
          <p:nvPr/>
        </p:nvSpPr>
        <p:spPr>
          <a:xfrm>
            <a:off x="8686800" y="3959352"/>
            <a:ext cx="2743200" cy="457200"/>
          </a:xfrm>
          <a:prstGeom prst="rect">
            <a:avLst/>
          </a:prstGeom>
          <a:noFill/>
          <a:ln/>
        </p:spPr>
        <p:txBody>
          <a:bodyPr wrap="square" lIns="0" tIns="0" rIns="0" bIns="0" rtlCol="0" anchor="t"/>
          <a:lstStyle/>
          <a:p>
            <a:pPr indent="0" marL="0">
              <a:buNone/>
            </a:pPr>
            <a:r>
              <a:rPr lang="en-US" sz="1150" dirty="0">
                <a:solidFill>
                  <a:srgbClr val="C9D2EE"/>
                </a:solidFill>
                <a:latin typeface="Segoe UI" pitchFamily="34" charset="0"/>
                <a:ea typeface="Segoe UI" pitchFamily="34" charset="-122"/>
                <a:cs typeface="Segoe UI" pitchFamily="34" charset="-120"/>
              </a:rPr>
              <a:t>Reasigna la conexión en cada transacción</a:t>
            </a:r>
            <a:endParaRPr lang="en-US" sz="1150" dirty="0"/>
          </a:p>
        </p:txBody>
      </p:sp>
      <p:pic>
        <p:nvPicPr>
          <p:cNvPr id="36" name="Image 11" descr="C:\Users\AlexAmaze\AppData\Local\Temp\claude\C--My-Files-repos-supaday-ecommerce\b329a27c-f2be-420c-b170-4436a9ee7093\scratchpad\ppt\assets\icons\x-w.png">    </p:cNvPr>
          <p:cNvPicPr>
            <a:picLocks noChangeAspect="1"/>
          </p:cNvPicPr>
          <p:nvPr/>
        </p:nvPicPr>
        <p:blipFill>
          <a:blip r:embed="rId13"/>
          <a:stretch>
            <a:fillRect/>
          </a:stretch>
        </p:blipFill>
        <p:spPr>
          <a:xfrm>
            <a:off x="8375904" y="4517136"/>
            <a:ext cx="201168" cy="201168"/>
          </a:xfrm>
          <a:prstGeom prst="rect">
            <a:avLst/>
          </a:prstGeom>
        </p:spPr>
      </p:pic>
      <p:sp>
        <p:nvSpPr>
          <p:cNvPr id="37" name="Text 23"/>
          <p:cNvSpPr txBox="1"/>
          <p:nvPr/>
        </p:nvSpPr>
        <p:spPr>
          <a:xfrm>
            <a:off x="8686800" y="4462272"/>
            <a:ext cx="2743200" cy="457200"/>
          </a:xfrm>
          <a:prstGeom prst="rect">
            <a:avLst/>
          </a:prstGeom>
          <a:noFill/>
          <a:ln/>
        </p:spPr>
        <p:txBody>
          <a:bodyPr wrap="square" lIns="0" tIns="0" rIns="0" bIns="0" rtlCol="0" anchor="t"/>
          <a:lstStyle/>
          <a:p>
            <a:pPr indent="0" marL="0">
              <a:buNone/>
            </a:pPr>
            <a:r>
              <a:rPr lang="en-US" sz="1150" dirty="0">
                <a:solidFill>
                  <a:srgbClr val="C9D2EE"/>
                </a:solidFill>
                <a:latin typeface="Segoe UI" pitchFamily="34" charset="0"/>
                <a:ea typeface="Segoe UI" pitchFamily="34" charset="-122"/>
                <a:cs typeface="Segoe UI" pitchFamily="34" charset="-120"/>
              </a:rPr>
              <a:t>Sin prepared statements ni estado de sesión</a:t>
            </a:r>
            <a:endParaRPr lang="en-US" sz="1150" dirty="0"/>
          </a:p>
        </p:txBody>
      </p:sp>
      <p:sp>
        <p:nvSpPr>
          <p:cNvPr id="38" name="Shape 24"/>
          <p:cNvSpPr/>
          <p:nvPr/>
        </p:nvSpPr>
        <p:spPr>
          <a:xfrm>
            <a:off x="548640" y="5349240"/>
            <a:ext cx="11091672" cy="475488"/>
          </a:xfrm>
          <a:prstGeom prst="roundRect">
            <a:avLst>
              <a:gd name="adj" fmla="val 30769"/>
            </a:avLst>
          </a:prstGeom>
          <a:solidFill>
            <a:srgbClr val="000000">
              <a:alpha val="45000"/>
            </a:srgbClr>
          </a:solidFill>
          <a:ln w="12700">
            <a:solidFill>
              <a:srgbClr val="FFFFFF">
                <a:alpha val="24000"/>
              </a:srgbClr>
            </a:solidFill>
            <a:prstDash val="solid"/>
          </a:ln>
        </p:spPr>
      </p:sp>
      <p:sp>
        <p:nvSpPr>
          <p:cNvPr id="39" name="Text 25"/>
          <p:cNvSpPr txBox="1"/>
          <p:nvPr/>
        </p:nvSpPr>
        <p:spPr>
          <a:xfrm>
            <a:off x="777240" y="5349240"/>
            <a:ext cx="10698480" cy="475488"/>
          </a:xfrm>
          <a:prstGeom prst="rect">
            <a:avLst/>
          </a:prstGeom>
          <a:noFill/>
          <a:ln/>
        </p:spPr>
        <p:txBody>
          <a:bodyPr wrap="square" lIns="0" tIns="0" rIns="0" bIns="0" rtlCol="0" anchor="ctr"/>
          <a:lstStyle/>
          <a:p>
            <a:pPr indent="0" marL="0">
              <a:buNone/>
            </a:pPr>
            <a:r>
              <a:rPr lang="en-US" sz="1200" dirty="0">
                <a:solidFill>
                  <a:srgbClr val="62CFF6"/>
                </a:solidFill>
                <a:latin typeface="Consolas" pitchFamily="34" charset="0"/>
                <a:ea typeface="Consolas" pitchFamily="34" charset="-122"/>
                <a:cs typeface="Consolas" pitchFamily="34" charset="-120"/>
              </a:rPr>
              <a:t>DATABASE_URL=</a:t>
            </a:r>
            <a:pPr indent="0" marL="0">
              <a:buNone/>
            </a:pPr>
            <a:r>
              <a:rPr lang="en-US" sz="1200" dirty="0">
                <a:solidFill>
                  <a:srgbClr val="FFFFFF"/>
                </a:solidFill>
                <a:latin typeface="Consolas" pitchFamily="34" charset="0"/>
                <a:ea typeface="Consolas" pitchFamily="34" charset="-122"/>
                <a:cs typeface="Consolas" pitchFamily="34" charset="-120"/>
              </a:rPr>
              <a:t>postgresql://postgres.&lt;ref&gt;:••••••••@aws-0-us-west-2.pooler.supabase.com:5432/postgres</a:t>
            </a:r>
            <a:endParaRPr lang="en-US" sz="1200" dirty="0"/>
          </a:p>
        </p:txBody>
      </p:sp>
      <p:sp>
        <p:nvSpPr>
          <p:cNvPr id="40" name="Text 26"/>
          <p:cNvSpPr txBox="1"/>
          <p:nvPr/>
        </p:nvSpPr>
        <p:spPr>
          <a:xfrm>
            <a:off x="548640" y="5989320"/>
            <a:ext cx="11091672" cy="320040"/>
          </a:xfrm>
          <a:prstGeom prst="rect">
            <a:avLst/>
          </a:prstGeom>
          <a:noFill/>
          <a:ln/>
        </p:spPr>
        <p:txBody>
          <a:bodyPr wrap="square" lIns="0" tIns="0" rIns="0" bIns="0" rtlCol="0" anchor="t"/>
          <a:lstStyle/>
          <a:p>
            <a:pPr indent="0" marL="0">
              <a:buNone/>
            </a:pPr>
            <a:r>
              <a:rPr lang="en-US" sz="1100" dirty="0">
                <a:solidFill>
                  <a:srgbClr val="C9D2EE"/>
                </a:solidFill>
                <a:latin typeface="Segoe UI" pitchFamily="34" charset="0"/>
                <a:ea typeface="Segoe UI" pitchFamily="34" charset="-122"/>
                <a:cs typeface="Segoe UI" pitchFamily="34" charset="-120"/>
              </a:rPr>
              <a:t>SSL obligatorio (ssl.rejectUnauthorized = false en medusa-config.ts) · pool de knex que reutiliza conexiones · la contraseña vive solo en el .env del backend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06 / 15   ·   INSTALACIÓN</a:t>
            </a:r>
            <a:endParaRPr lang="en-US" sz="1000" dirty="0"/>
          </a:p>
        </p:txBody>
      </p:sp>
      <p:sp>
        <p:nvSpPr>
          <p:cNvPr id="5" name="Shape 2"/>
          <p:cNvSpPr/>
          <p:nvPr/>
        </p:nvSpPr>
        <p:spPr>
          <a:xfrm>
            <a:off x="548640" y="1005840"/>
            <a:ext cx="3260750"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2894990"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MEDUSA V2 + STOREFRONT</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UN SOLO ARRANQUE, </a:t>
            </a:r>
            <a:pPr indent="0" marL="0">
              <a:buNone/>
            </a:pPr>
            <a:r>
              <a:rPr lang="en-US" sz="4600" spc="100" kern="0" dirty="0">
                <a:solidFill>
                  <a:srgbClr val="0B1ED8"/>
                </a:solidFill>
                <a:latin typeface="Bebas Neue" pitchFamily="34" charset="0"/>
                <a:ea typeface="Bebas Neue" pitchFamily="34" charset="-122"/>
                <a:cs typeface="Bebas Neue" pitchFamily="34" charset="-120"/>
              </a:rPr>
              <a:t>TODO ARRIBA</a:t>
            </a:r>
            <a:endParaRPr lang="en-US" sz="4600" dirty="0"/>
          </a:p>
        </p:txBody>
      </p:sp>
      <p:sp>
        <p:nvSpPr>
          <p:cNvPr id="9" name="Shape 5"/>
          <p:cNvSpPr/>
          <p:nvPr/>
        </p:nvSpPr>
        <p:spPr>
          <a:xfrm>
            <a:off x="548640" y="2423160"/>
            <a:ext cx="6172200" cy="3886200"/>
          </a:xfrm>
          <a:prstGeom prst="roundRect">
            <a:avLst>
              <a:gd name="adj" fmla="val 5176"/>
            </a:avLst>
          </a:prstGeom>
          <a:solidFill>
            <a:srgbClr val="0A1033"/>
          </a:solidFill>
          <a:ln w="12700">
            <a:solidFill>
              <a:srgbClr val="0A1033"/>
            </a:solidFill>
            <a:prstDash val="solid"/>
          </a:ln>
          <a:effectLst>
            <a:outerShdw sx="100000" sy="100000" kx="0" ky="0" algn="bl" rotWithShape="0" blurRad="228600" dist="63500" dir="5400000">
              <a:srgbClr val="0A1E5A">
                <a:alpha val="13000"/>
              </a:srgbClr>
            </a:outerShdw>
          </a:effectLst>
        </p:spPr>
      </p:sp>
      <p:sp>
        <p:nvSpPr>
          <p:cNvPr id="10" name="Shape 6"/>
          <p:cNvSpPr/>
          <p:nvPr/>
        </p:nvSpPr>
        <p:spPr>
          <a:xfrm>
            <a:off x="804672" y="2633472"/>
            <a:ext cx="137160" cy="137160"/>
          </a:xfrm>
          <a:prstGeom prst="ellipse">
            <a:avLst/>
          </a:prstGeom>
          <a:solidFill>
            <a:srgbClr val="E3161F"/>
          </a:solidFill>
          <a:ln w="6350">
            <a:solidFill>
              <a:srgbClr val="E3161F"/>
            </a:solidFill>
            <a:prstDash val="solid"/>
          </a:ln>
        </p:spPr>
      </p:sp>
      <p:sp>
        <p:nvSpPr>
          <p:cNvPr id="11" name="Shape 7"/>
          <p:cNvSpPr/>
          <p:nvPr/>
        </p:nvSpPr>
        <p:spPr>
          <a:xfrm>
            <a:off x="1042416" y="2633472"/>
            <a:ext cx="137160" cy="137160"/>
          </a:xfrm>
          <a:prstGeom prst="ellipse">
            <a:avLst/>
          </a:prstGeom>
          <a:solidFill>
            <a:srgbClr val="0B1ED8"/>
          </a:solidFill>
          <a:ln w="6350">
            <a:solidFill>
              <a:srgbClr val="0B1ED8"/>
            </a:solidFill>
            <a:prstDash val="solid"/>
          </a:ln>
        </p:spPr>
      </p:sp>
      <p:sp>
        <p:nvSpPr>
          <p:cNvPr id="12" name="Shape 8"/>
          <p:cNvSpPr/>
          <p:nvPr/>
        </p:nvSpPr>
        <p:spPr>
          <a:xfrm>
            <a:off x="1280160" y="2633472"/>
            <a:ext cx="137160" cy="137160"/>
          </a:xfrm>
          <a:prstGeom prst="ellipse">
            <a:avLst/>
          </a:prstGeom>
          <a:solidFill>
            <a:srgbClr val="12B5EA"/>
          </a:solidFill>
          <a:ln w="6350">
            <a:solidFill>
              <a:srgbClr val="12B5EA"/>
            </a:solidFill>
            <a:prstDash val="solid"/>
          </a:ln>
        </p:spPr>
      </p:sp>
      <p:sp>
        <p:nvSpPr>
          <p:cNvPr id="13" name="Text 9"/>
          <p:cNvSpPr txBox="1"/>
          <p:nvPr/>
        </p:nvSpPr>
        <p:spPr>
          <a:xfrm>
            <a:off x="1600200" y="2560320"/>
            <a:ext cx="4846320" cy="274320"/>
          </a:xfrm>
          <a:prstGeom prst="rect">
            <a:avLst/>
          </a:prstGeom>
          <a:noFill/>
          <a:ln/>
        </p:spPr>
        <p:txBody>
          <a:bodyPr wrap="square" lIns="0" tIns="0" rIns="0" bIns="0" rtlCol="0" anchor="t"/>
          <a:lstStyle/>
          <a:p>
            <a:pPr indent="0" marL="0">
              <a:buNone/>
            </a:pPr>
            <a:r>
              <a:rPr lang="en-US" sz="1000" dirty="0">
                <a:solidFill>
                  <a:srgbClr val="8C96B4"/>
                </a:solidFill>
                <a:latin typeface="Consolas" pitchFamily="34" charset="0"/>
                <a:ea typeface="Consolas" pitchFamily="34" charset="-122"/>
                <a:cs typeface="Consolas" pitchFamily="34" charset="-120"/>
              </a:rPr>
              <a:t>store/ · PowerShell</a:t>
            </a:r>
            <a:endParaRPr lang="en-US" sz="1000" dirty="0"/>
          </a:p>
        </p:txBody>
      </p:sp>
      <p:sp>
        <p:nvSpPr>
          <p:cNvPr id="14" name="Text 10"/>
          <p:cNvSpPr txBox="1"/>
          <p:nvPr/>
        </p:nvSpPr>
        <p:spPr>
          <a:xfrm>
            <a:off x="822960" y="2971800"/>
            <a:ext cx="5806440" cy="3200400"/>
          </a:xfrm>
          <a:prstGeom prst="rect">
            <a:avLst/>
          </a:prstGeom>
          <a:noFill/>
          <a:ln/>
        </p:spPr>
        <p:txBody>
          <a:bodyPr wrap="square" lIns="0" tIns="0" rIns="0" bIns="0" rtlCol="0" anchor="t"/>
          <a:lstStyle/>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pnpm install</a:t>
            </a:r>
            <a:pPr indent="0" marL="0">
              <a:lnSpc>
                <a:spcPct val="132000"/>
              </a:lnSpc>
              <a:buNone/>
            </a:pP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cp apps/backend/.env.example apps/backend/.env</a:t>
            </a:r>
            <a:pPr indent="0" marL="0">
              <a:lnSpc>
                <a:spcPct val="132000"/>
              </a:lnSpc>
              <a:buNone/>
            </a:pP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cp apps/storefront/.env.example apps/storefront/.env.local</a:t>
            </a:r>
            <a:pPr indent="0" marL="0">
              <a:lnSpc>
                <a:spcPct val="132000"/>
              </a:lnSpc>
              <a:buNone/>
            </a:pP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pnpm medusa db:migrate</a:t>
            </a:r>
            <a:pPr indent="0" marL="0">
              <a:lnSpc>
                <a:spcPct val="132000"/>
              </a:lnSpc>
              <a:buNone/>
            </a:pPr>
            <a:r>
              <a:rPr lang="en-US" sz="1150" dirty="0">
                <a:solidFill>
                  <a:srgbClr val="62CFF6"/>
                </a:solidFill>
                <a:latin typeface="Consolas" pitchFamily="34" charset="0"/>
                <a:ea typeface="Consolas" pitchFamily="34" charset="-122"/>
                <a:cs typeface="Consolas" pitchFamily="34" charset="-120"/>
              </a:rPr>
              <a:t>  # 147 tablas</a:t>
            </a: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pnpm seed</a:t>
            </a:r>
            <a:pPr indent="0" marL="0">
              <a:lnSpc>
                <a:spcPct val="132000"/>
              </a:lnSpc>
              <a:buNone/>
            </a:pPr>
            <a:r>
              <a:rPr lang="en-US" sz="1150" dirty="0">
                <a:solidFill>
                  <a:srgbClr val="62CFF6"/>
                </a:solidFill>
                <a:latin typeface="Consolas" pitchFamily="34" charset="0"/>
                <a:ea typeface="Consolas" pitchFamily="34" charset="-122"/>
                <a:cs typeface="Consolas" pitchFamily="34" charset="-120"/>
              </a:rPr>
              <a:t>  # región EC + catálogo</a:t>
            </a: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pnpm medusa user -e admin@aklabs.test -p ****</a:t>
            </a:r>
            <a:pPr indent="0" marL="0">
              <a:lnSpc>
                <a:spcPct val="132000"/>
              </a:lnSpc>
              <a:buNone/>
            </a:pPr>
            <a:endParaRPr lang="en-US" sz="1150" dirty="0"/>
          </a:p>
          <a:p>
            <a:pPr indent="0" marL="0">
              <a:lnSpc>
                <a:spcPct val="132000"/>
              </a:lnSpc>
              <a:buNone/>
            </a:pPr>
            <a:r>
              <a:rPr lang="en-US" sz="1150" dirty="0">
                <a:solidFill>
                  <a:srgbClr val="FF5A61"/>
                </a:solidFill>
                <a:latin typeface="Consolas" pitchFamily="34" charset="0"/>
                <a:ea typeface="Consolas" pitchFamily="34" charset="-122"/>
                <a:cs typeface="Consolas" pitchFamily="34" charset="-120"/>
              </a:rPr>
              <a:t>$ </a:t>
            </a:r>
            <a:pPr indent="0" marL="0">
              <a:lnSpc>
                <a:spcPct val="132000"/>
              </a:lnSpc>
              <a:buNone/>
            </a:pPr>
            <a:r>
              <a:rPr lang="en-US" sz="1150" dirty="0">
                <a:solidFill>
                  <a:srgbClr val="FFFFFF"/>
                </a:solidFill>
                <a:latin typeface="Consolas" pitchFamily="34" charset="0"/>
                <a:ea typeface="Consolas" pitchFamily="34" charset="-122"/>
                <a:cs typeface="Consolas" pitchFamily="34" charset="-120"/>
              </a:rPr>
              <a:t>pnpm dev</a:t>
            </a:r>
            <a:pPr indent="0" marL="0">
              <a:lnSpc>
                <a:spcPct val="132000"/>
              </a:lnSpc>
              <a:buNone/>
            </a:pPr>
            <a:r>
              <a:rPr lang="en-US" sz="1150" dirty="0">
                <a:solidFill>
                  <a:srgbClr val="62CFF6"/>
                </a:solidFill>
                <a:latin typeface="Consolas" pitchFamily="34" charset="0"/>
                <a:ea typeface="Consolas" pitchFamily="34" charset="-122"/>
                <a:cs typeface="Consolas" pitchFamily="34" charset="-120"/>
              </a:rPr>
              <a:t>  # backend + storefront</a:t>
            </a:r>
            <a:endParaRPr lang="en-US" sz="1150" dirty="0"/>
          </a:p>
          <a:p>
            <a:pPr indent="0" marL="0">
              <a:lnSpc>
                <a:spcPct val="132000"/>
              </a:lnSpc>
              <a:buNone/>
            </a:pPr>
            <a:r>
              <a:rPr lang="en-US" sz="1150" dirty="0">
                <a:solidFill>
                  <a:srgbClr val="8C96B4"/>
                </a:solidFill>
                <a:latin typeface="Consolas" pitchFamily="34" charset="0"/>
                <a:ea typeface="Consolas" pitchFamily="34" charset="-122"/>
                <a:cs typeface="Consolas" pitchFamily="34" charset="-120"/>
              </a:rPr>
              <a:t>info: redisUrl not found. A fake redis instance will be used.</a:t>
            </a:r>
            <a:endParaRPr lang="en-US" sz="1150" dirty="0"/>
          </a:p>
          <a:p>
            <a:pPr indent="0" marL="0">
              <a:lnSpc>
                <a:spcPct val="132000"/>
              </a:lnSpc>
              <a:buNone/>
            </a:pPr>
            <a:r>
              <a:rPr lang="en-US" sz="1150" dirty="0">
                <a:solidFill>
                  <a:srgbClr val="34D399"/>
                </a:solidFill>
                <a:latin typeface="Consolas" pitchFamily="34" charset="0"/>
                <a:ea typeface="Consolas" pitchFamily="34" charset="-122"/>
                <a:cs typeface="Consolas" pitchFamily="34" charset="-120"/>
              </a:rPr>
              <a:t>✔ Server is ready on port: 9000</a:t>
            </a:r>
            <a:endParaRPr lang="en-US" sz="1150" dirty="0"/>
          </a:p>
          <a:p>
            <a:pPr indent="0" marL="0">
              <a:lnSpc>
                <a:spcPct val="132000"/>
              </a:lnSpc>
              <a:buNone/>
            </a:pPr>
            <a:r>
              <a:rPr lang="en-US" sz="1150" dirty="0">
                <a:solidFill>
                  <a:srgbClr val="34D399"/>
                </a:solidFill>
                <a:latin typeface="Consolas" pitchFamily="34" charset="0"/>
                <a:ea typeface="Consolas" pitchFamily="34" charset="-122"/>
                <a:cs typeface="Consolas" pitchFamily="34" charset="-120"/>
              </a:rPr>
              <a:t>✓ Ready · http://localhost:8000</a:t>
            </a:r>
            <a:endParaRPr lang="en-US" sz="1150" dirty="0"/>
          </a:p>
        </p:txBody>
      </p:sp>
      <p:sp>
        <p:nvSpPr>
          <p:cNvPr id="15" name="Shape 11"/>
          <p:cNvSpPr/>
          <p:nvPr/>
        </p:nvSpPr>
        <p:spPr>
          <a:xfrm>
            <a:off x="6995160" y="2423160"/>
            <a:ext cx="4645152" cy="841248"/>
          </a:xfrm>
          <a:prstGeom prst="roundRect">
            <a:avLst>
              <a:gd name="adj" fmla="val 21739"/>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6"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7178040" y="2606040"/>
            <a:ext cx="475488" cy="475488"/>
          </a:xfrm>
          <a:prstGeom prst="rect">
            <a:avLst/>
          </a:prstGeom>
        </p:spPr>
      </p:pic>
      <p:pic>
        <p:nvPicPr>
          <p:cNvPr id="17" name="Image 3" descr="C:\Users\AlexAmaze\AppData\Local\Temp\claude\C--My-Files-repos-supaday-ecommerce\b329a27c-f2be-420c-b170-4436a9ee7093\scratchpad\ppt\assets\icons\server-w.png">    </p:cNvPr>
          <p:cNvPicPr>
            <a:picLocks noChangeAspect="1"/>
          </p:cNvPicPr>
          <p:nvPr/>
        </p:nvPicPr>
        <p:blipFill>
          <a:blip r:embed="rId5"/>
          <a:stretch>
            <a:fillRect/>
          </a:stretch>
        </p:blipFill>
        <p:spPr>
          <a:xfrm>
            <a:off x="7296912" y="2724912"/>
            <a:ext cx="237744" cy="237744"/>
          </a:xfrm>
          <a:prstGeom prst="rect">
            <a:avLst/>
          </a:prstGeom>
        </p:spPr>
      </p:pic>
      <p:sp>
        <p:nvSpPr>
          <p:cNvPr id="18" name="Text 12"/>
          <p:cNvSpPr txBox="1"/>
          <p:nvPr/>
        </p:nvSpPr>
        <p:spPr>
          <a:xfrm>
            <a:off x="7818120" y="2542032"/>
            <a:ext cx="3657600" cy="320040"/>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Backend Medusa en :9000</a:t>
            </a:r>
            <a:endParaRPr lang="en-US" sz="1400" dirty="0"/>
          </a:p>
        </p:txBody>
      </p:sp>
      <p:sp>
        <p:nvSpPr>
          <p:cNvPr id="19" name="Text 13"/>
          <p:cNvSpPr txBox="1"/>
          <p:nvPr/>
        </p:nvSpPr>
        <p:spPr>
          <a:xfrm>
            <a:off x="7818120" y="2862072"/>
            <a:ext cx="3657600" cy="292608"/>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medusa develop arranca sin errores</a:t>
            </a:r>
            <a:endParaRPr lang="en-US" sz="1100" dirty="0"/>
          </a:p>
        </p:txBody>
      </p:sp>
      <p:sp>
        <p:nvSpPr>
          <p:cNvPr id="20" name="Shape 14"/>
          <p:cNvSpPr/>
          <p:nvPr/>
        </p:nvSpPr>
        <p:spPr>
          <a:xfrm>
            <a:off x="6995160" y="3410712"/>
            <a:ext cx="4645152" cy="841248"/>
          </a:xfrm>
          <a:prstGeom prst="roundRect">
            <a:avLst>
              <a:gd name="adj" fmla="val 21739"/>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1"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7178040" y="3593592"/>
            <a:ext cx="475488" cy="475488"/>
          </a:xfrm>
          <a:prstGeom prst="rect">
            <a:avLst/>
          </a:prstGeom>
        </p:spPr>
      </p:pic>
      <p:pic>
        <p:nvPicPr>
          <p:cNvPr id="22" name="Image 5" descr="C:\Users\AlexAmaze\AppData\Local\Temp\claude\C--My-Files-repos-supaday-ecommerce\b329a27c-f2be-420c-b170-4436a9ee7093\scratchpad\ppt\assets\icons\monitor-w.png">    </p:cNvPr>
          <p:cNvPicPr>
            <a:picLocks noChangeAspect="1"/>
          </p:cNvPicPr>
          <p:nvPr/>
        </p:nvPicPr>
        <p:blipFill>
          <a:blip r:embed="rId7"/>
          <a:stretch>
            <a:fillRect/>
          </a:stretch>
        </p:blipFill>
        <p:spPr>
          <a:xfrm>
            <a:off x="7296912" y="3712464"/>
            <a:ext cx="237744" cy="237744"/>
          </a:xfrm>
          <a:prstGeom prst="rect">
            <a:avLst/>
          </a:prstGeom>
        </p:spPr>
      </p:pic>
      <p:sp>
        <p:nvSpPr>
          <p:cNvPr id="23" name="Text 15"/>
          <p:cNvSpPr txBox="1"/>
          <p:nvPr/>
        </p:nvSpPr>
        <p:spPr>
          <a:xfrm>
            <a:off x="7818120" y="3529584"/>
            <a:ext cx="3657600" cy="320040"/>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Storefront en :8000</a:t>
            </a:r>
            <a:endParaRPr lang="en-US" sz="1400" dirty="0"/>
          </a:p>
        </p:txBody>
      </p:sp>
      <p:sp>
        <p:nvSpPr>
          <p:cNvPr id="24" name="Text 16"/>
          <p:cNvSpPr txBox="1"/>
          <p:nvPr/>
        </p:nvSpPr>
        <p:spPr>
          <a:xfrm>
            <a:off x="7818120" y="3849624"/>
            <a:ext cx="3657600" cy="292608"/>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next dev · / redirige a /ec</a:t>
            </a:r>
            <a:endParaRPr lang="en-US" sz="1100" dirty="0"/>
          </a:p>
        </p:txBody>
      </p:sp>
      <p:sp>
        <p:nvSpPr>
          <p:cNvPr id="25" name="Shape 17"/>
          <p:cNvSpPr/>
          <p:nvPr/>
        </p:nvSpPr>
        <p:spPr>
          <a:xfrm>
            <a:off x="6995160" y="4398264"/>
            <a:ext cx="4645152" cy="841248"/>
          </a:xfrm>
          <a:prstGeom prst="roundRect">
            <a:avLst>
              <a:gd name="adj" fmla="val 21739"/>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6"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7178040" y="4581144"/>
            <a:ext cx="475488" cy="475488"/>
          </a:xfrm>
          <a:prstGeom prst="rect">
            <a:avLst/>
          </a:prstGeom>
        </p:spPr>
      </p:pic>
      <p:pic>
        <p:nvPicPr>
          <p:cNvPr id="27" name="Image 7" descr="C:\Users\AlexAmaze\AppData\Local\Temp\claude\C--My-Files-repos-supaday-ecommerce\b329a27c-f2be-420c-b170-4436a9ee7093\scratchpad\ppt\assets\icons\lock-w.png">    </p:cNvPr>
          <p:cNvPicPr>
            <a:picLocks noChangeAspect="1"/>
          </p:cNvPicPr>
          <p:nvPr/>
        </p:nvPicPr>
        <p:blipFill>
          <a:blip r:embed="rId9"/>
          <a:stretch>
            <a:fillRect/>
          </a:stretch>
        </p:blipFill>
        <p:spPr>
          <a:xfrm>
            <a:off x="7296912" y="4700016"/>
            <a:ext cx="237744" cy="237744"/>
          </a:xfrm>
          <a:prstGeom prst="rect">
            <a:avLst/>
          </a:prstGeom>
        </p:spPr>
      </p:pic>
      <p:sp>
        <p:nvSpPr>
          <p:cNvPr id="28" name="Text 18"/>
          <p:cNvSpPr txBox="1"/>
          <p:nvPr/>
        </p:nvSpPr>
        <p:spPr>
          <a:xfrm>
            <a:off x="7818120" y="4517136"/>
            <a:ext cx="3657600" cy="320040"/>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Admin en /app</a:t>
            </a:r>
            <a:endParaRPr lang="en-US" sz="1400" dirty="0"/>
          </a:p>
        </p:txBody>
      </p:sp>
      <p:sp>
        <p:nvSpPr>
          <p:cNvPr id="29" name="Text 19"/>
          <p:cNvSpPr txBox="1"/>
          <p:nvPr/>
        </p:nvSpPr>
        <p:spPr>
          <a:xfrm>
            <a:off x="7818120" y="4837176"/>
            <a:ext cx="3657600" cy="292608"/>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usuario creado con medusa user</a:t>
            </a:r>
            <a:endParaRPr lang="en-US" sz="1100" dirty="0"/>
          </a:p>
        </p:txBody>
      </p:sp>
      <p:sp>
        <p:nvSpPr>
          <p:cNvPr id="30" name="Shape 20"/>
          <p:cNvSpPr/>
          <p:nvPr/>
        </p:nvSpPr>
        <p:spPr>
          <a:xfrm>
            <a:off x="6995160" y="5385816"/>
            <a:ext cx="4645152" cy="841248"/>
          </a:xfrm>
          <a:prstGeom prst="roundRect">
            <a:avLst>
              <a:gd name="adj" fmla="val 21739"/>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1"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7178040" y="5568696"/>
            <a:ext cx="475488" cy="475488"/>
          </a:xfrm>
          <a:prstGeom prst="rect">
            <a:avLst/>
          </a:prstGeom>
        </p:spPr>
      </p:pic>
      <p:pic>
        <p:nvPicPr>
          <p:cNvPr id="32" name="Image 9" descr="C:\Users\AlexAmaze\AppData\Local\Temp\claude\C--My-Files-repos-supaday-ecommerce\b329a27c-f2be-420c-b170-4436a9ee7093\scratchpad\ppt\assets\icons\x-w.png">    </p:cNvPr>
          <p:cNvPicPr>
            <a:picLocks noChangeAspect="1"/>
          </p:cNvPicPr>
          <p:nvPr/>
        </p:nvPicPr>
        <p:blipFill>
          <a:blip r:embed="rId11"/>
          <a:stretch>
            <a:fillRect/>
          </a:stretch>
        </p:blipFill>
        <p:spPr>
          <a:xfrm>
            <a:off x="7296912" y="5687568"/>
            <a:ext cx="237744" cy="237744"/>
          </a:xfrm>
          <a:prstGeom prst="rect">
            <a:avLst/>
          </a:prstGeom>
        </p:spPr>
      </p:pic>
      <p:sp>
        <p:nvSpPr>
          <p:cNvPr id="33" name="Text 21"/>
          <p:cNvSpPr txBox="1"/>
          <p:nvPr/>
        </p:nvSpPr>
        <p:spPr>
          <a:xfrm>
            <a:off x="7818120" y="5504688"/>
            <a:ext cx="3657600" cy="320040"/>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REDIS_URL eliminado, no vacío</a:t>
            </a:r>
            <a:endParaRPr lang="en-US" sz="1400" dirty="0"/>
          </a:p>
        </p:txBody>
      </p:sp>
      <p:sp>
        <p:nvSpPr>
          <p:cNvPr id="34" name="Text 22"/>
          <p:cNvSpPr txBox="1"/>
          <p:nvPr/>
        </p:nvSpPr>
        <p:spPr>
          <a:xfrm>
            <a:off x="7818120" y="5824728"/>
            <a:ext cx="3657600" cy="292608"/>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event bus, caché y locking en memoria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07 / 15   ·   MIGRACIONES</a:t>
            </a:r>
            <a:endParaRPr lang="en-US" sz="1000" dirty="0"/>
          </a:p>
        </p:txBody>
      </p:sp>
      <p:sp>
        <p:nvSpPr>
          <p:cNvPr id="5" name="Shape 2"/>
          <p:cNvSpPr/>
          <p:nvPr/>
        </p:nvSpPr>
        <p:spPr>
          <a:xfrm>
            <a:off x="548640" y="1005840"/>
            <a:ext cx="2792578"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2426818"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BACKEND ↔ SUPABASE</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MIGRACIONES COMPLETAS </a:t>
            </a:r>
            <a:pPr indent="0" marL="0">
              <a:buNone/>
            </a:pPr>
            <a:r>
              <a:rPr lang="en-US" sz="4600" spc="100" kern="0" dirty="0">
                <a:solidFill>
                  <a:srgbClr val="62CFF6"/>
                </a:solidFill>
                <a:latin typeface="Bebas Neue" pitchFamily="34" charset="0"/>
                <a:ea typeface="Bebas Neue" pitchFamily="34" charset="-122"/>
                <a:cs typeface="Bebas Neue" pitchFamily="34" charset="-120"/>
              </a:rPr>
              <a:t>EN SUPABASE</a:t>
            </a:r>
            <a:endParaRPr lang="en-US" sz="4600" dirty="0"/>
          </a:p>
        </p:txBody>
      </p:sp>
      <p:sp>
        <p:nvSpPr>
          <p:cNvPr id="9" name="Text 5"/>
          <p:cNvSpPr txBox="1"/>
          <p:nvPr/>
        </p:nvSpPr>
        <p:spPr>
          <a:xfrm>
            <a:off x="548640" y="2240280"/>
            <a:ext cx="3291840" cy="1417320"/>
          </a:xfrm>
          <a:prstGeom prst="rect">
            <a:avLst/>
          </a:prstGeom>
          <a:noFill/>
          <a:ln/>
        </p:spPr>
        <p:txBody>
          <a:bodyPr wrap="square" lIns="0" tIns="0" rIns="0" bIns="0" rtlCol="0" anchor="t"/>
          <a:lstStyle/>
          <a:p>
            <a:pPr indent="0" marL="0">
              <a:buNone/>
            </a:pPr>
            <a:r>
              <a:rPr lang="en-US" sz="12000" dirty="0">
                <a:solidFill>
                  <a:srgbClr val="FFFFFF"/>
                </a:solidFill>
                <a:latin typeface="Bebas Neue" pitchFamily="34" charset="0"/>
                <a:ea typeface="Bebas Neue" pitchFamily="34" charset="-122"/>
                <a:cs typeface="Bebas Neue" pitchFamily="34" charset="-120"/>
              </a:rPr>
              <a:t>147</a:t>
            </a:r>
            <a:endParaRPr lang="en-US" sz="12000" dirty="0"/>
          </a:p>
        </p:txBody>
      </p:sp>
      <p:sp>
        <p:nvSpPr>
          <p:cNvPr id="10" name="Text 6"/>
          <p:cNvSpPr txBox="1"/>
          <p:nvPr/>
        </p:nvSpPr>
        <p:spPr>
          <a:xfrm>
            <a:off x="594360" y="3611880"/>
            <a:ext cx="3200400" cy="320040"/>
          </a:xfrm>
          <a:prstGeom prst="rect">
            <a:avLst/>
          </a:prstGeom>
          <a:noFill/>
          <a:ln/>
        </p:spPr>
        <p:txBody>
          <a:bodyPr wrap="square" lIns="0" tIns="0" rIns="0" bIns="0" rtlCol="0" anchor="t"/>
          <a:lstStyle/>
          <a:p>
            <a:pPr indent="0" marL="0">
              <a:buNone/>
            </a:pPr>
            <a:r>
              <a:rPr lang="en-US" sz="1400" dirty="0">
                <a:solidFill>
                  <a:srgbClr val="C9D2EE"/>
                </a:solidFill>
                <a:latin typeface="Segoe UI Semibold" pitchFamily="34" charset="0"/>
                <a:ea typeface="Segoe UI Semibold" pitchFamily="34" charset="-122"/>
                <a:cs typeface="Segoe UI Semibold" pitchFamily="34" charset="-120"/>
              </a:rPr>
              <a:t>tablas en el esquema public</a:t>
            </a:r>
            <a:endParaRPr lang="en-US" sz="1400" dirty="0"/>
          </a:p>
        </p:txBody>
      </p:sp>
      <p:sp>
        <p:nvSpPr>
          <p:cNvPr id="11" name="Text 7"/>
          <p:cNvSpPr txBox="1"/>
          <p:nvPr/>
        </p:nvSpPr>
        <p:spPr>
          <a:xfrm>
            <a:off x="548640" y="4114800"/>
            <a:ext cx="3291840" cy="1097280"/>
          </a:xfrm>
          <a:prstGeom prst="rect">
            <a:avLst/>
          </a:prstGeom>
          <a:noFill/>
          <a:ln/>
        </p:spPr>
        <p:txBody>
          <a:bodyPr wrap="square" lIns="0" tIns="0" rIns="0" bIns="0" rtlCol="0" anchor="t"/>
          <a:lstStyle/>
          <a:p>
            <a:pPr indent="0" marL="0">
              <a:buNone/>
            </a:pPr>
            <a:r>
              <a:rPr lang="en-US" sz="9000" dirty="0">
                <a:solidFill>
                  <a:srgbClr val="62CFF6"/>
                </a:solidFill>
                <a:latin typeface="Bebas Neue" pitchFamily="34" charset="0"/>
                <a:ea typeface="Bebas Neue" pitchFamily="34" charset="-122"/>
                <a:cs typeface="Bebas Neue" pitchFamily="34" charset="-120"/>
              </a:rPr>
              <a:t>181</a:t>
            </a:r>
            <a:endParaRPr lang="en-US" sz="9000" dirty="0"/>
          </a:p>
        </p:txBody>
      </p:sp>
      <p:sp>
        <p:nvSpPr>
          <p:cNvPr id="12" name="Text 8"/>
          <p:cNvSpPr txBox="1"/>
          <p:nvPr/>
        </p:nvSpPr>
        <p:spPr>
          <a:xfrm>
            <a:off x="594360" y="5212080"/>
            <a:ext cx="3108960" cy="548640"/>
          </a:xfrm>
          <a:prstGeom prst="rect">
            <a:avLst/>
          </a:prstGeom>
          <a:noFill/>
          <a:ln/>
        </p:spPr>
        <p:txBody>
          <a:bodyPr wrap="square" lIns="0" tIns="0" rIns="0" bIns="0" rtlCol="0" anchor="t"/>
          <a:lstStyle/>
          <a:p>
            <a:pPr indent="0" marL="0">
              <a:buNone/>
            </a:pPr>
            <a:r>
              <a:rPr lang="en-US" sz="1300" dirty="0">
                <a:solidFill>
                  <a:srgbClr val="C9D2EE"/>
                </a:solidFill>
                <a:latin typeface="Segoe UI Semibold" pitchFamily="34" charset="0"/>
                <a:ea typeface="Segoe UI Semibold" pitchFamily="34" charset="-122"/>
                <a:cs typeface="Segoe UI Semibold" pitchFamily="34" charset="-120"/>
              </a:rPr>
              <a:t>migraciones registradas en mikro_orm_migrations</a:t>
            </a:r>
            <a:endParaRPr lang="en-US" sz="1300" dirty="0"/>
          </a:p>
        </p:txBody>
      </p:sp>
      <p:sp>
        <p:nvSpPr>
          <p:cNvPr id="13" name="Shape 9"/>
          <p:cNvSpPr/>
          <p:nvPr/>
        </p:nvSpPr>
        <p:spPr>
          <a:xfrm>
            <a:off x="4206240" y="2331720"/>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14" name="Text 10"/>
          <p:cNvSpPr txBox="1"/>
          <p:nvPr/>
        </p:nvSpPr>
        <p:spPr>
          <a:xfrm>
            <a:off x="4370832" y="2468880"/>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Catálogo</a:t>
            </a:r>
            <a:endParaRPr lang="en-US" sz="1350" dirty="0"/>
          </a:p>
        </p:txBody>
      </p:sp>
      <p:sp>
        <p:nvSpPr>
          <p:cNvPr id="15" name="Text 11"/>
          <p:cNvSpPr txBox="1"/>
          <p:nvPr/>
        </p:nvSpPr>
        <p:spPr>
          <a:xfrm>
            <a:off x="4370832" y="2807208"/>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product</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product_variant</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product_option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product_category</a:t>
            </a:r>
            <a:endParaRPr lang="en-US" sz="950" dirty="0"/>
          </a:p>
        </p:txBody>
      </p:sp>
      <p:sp>
        <p:nvSpPr>
          <p:cNvPr id="16" name="Shape 12"/>
          <p:cNvSpPr/>
          <p:nvPr/>
        </p:nvSpPr>
        <p:spPr>
          <a:xfrm>
            <a:off x="6089904" y="2331720"/>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17" name="Text 13"/>
          <p:cNvSpPr txBox="1"/>
          <p:nvPr/>
        </p:nvSpPr>
        <p:spPr>
          <a:xfrm>
            <a:off x="6254496" y="2468880"/>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Precios</a:t>
            </a:r>
            <a:endParaRPr lang="en-US" sz="1350" dirty="0"/>
          </a:p>
        </p:txBody>
      </p:sp>
      <p:sp>
        <p:nvSpPr>
          <p:cNvPr id="18" name="Text 14"/>
          <p:cNvSpPr txBox="1"/>
          <p:nvPr/>
        </p:nvSpPr>
        <p:spPr>
          <a:xfrm>
            <a:off x="6254496" y="2807208"/>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price_set</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price</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price_rule</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variant_price_set</a:t>
            </a:r>
            <a:endParaRPr lang="en-US" sz="950" dirty="0"/>
          </a:p>
        </p:txBody>
      </p:sp>
      <p:sp>
        <p:nvSpPr>
          <p:cNvPr id="19" name="Shape 15"/>
          <p:cNvSpPr/>
          <p:nvPr/>
        </p:nvSpPr>
        <p:spPr>
          <a:xfrm>
            <a:off x="7973568" y="2331720"/>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20" name="Text 16"/>
          <p:cNvSpPr txBox="1"/>
          <p:nvPr/>
        </p:nvSpPr>
        <p:spPr>
          <a:xfrm>
            <a:off x="8138160" y="2468880"/>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Regiones</a:t>
            </a:r>
            <a:endParaRPr lang="en-US" sz="1350" dirty="0"/>
          </a:p>
        </p:txBody>
      </p:sp>
      <p:sp>
        <p:nvSpPr>
          <p:cNvPr id="21" name="Text 17"/>
          <p:cNvSpPr txBox="1"/>
          <p:nvPr/>
        </p:nvSpPr>
        <p:spPr>
          <a:xfrm>
            <a:off x="8138160" y="2807208"/>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region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region_country</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tax_region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currency</a:t>
            </a:r>
            <a:endParaRPr lang="en-US" sz="950" dirty="0"/>
          </a:p>
        </p:txBody>
      </p:sp>
      <p:sp>
        <p:nvSpPr>
          <p:cNvPr id="22" name="Shape 18"/>
          <p:cNvSpPr/>
          <p:nvPr/>
        </p:nvSpPr>
        <p:spPr>
          <a:xfrm>
            <a:off x="9857232" y="2331720"/>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23" name="Text 19"/>
          <p:cNvSpPr txBox="1"/>
          <p:nvPr/>
        </p:nvSpPr>
        <p:spPr>
          <a:xfrm>
            <a:off x="10021824" y="2468880"/>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Carrito</a:t>
            </a:r>
            <a:endParaRPr lang="en-US" sz="1350" dirty="0"/>
          </a:p>
        </p:txBody>
      </p:sp>
      <p:sp>
        <p:nvSpPr>
          <p:cNvPr id="24" name="Text 20"/>
          <p:cNvSpPr txBox="1"/>
          <p:nvPr/>
        </p:nvSpPr>
        <p:spPr>
          <a:xfrm>
            <a:off x="10021824" y="2807208"/>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cart</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cart_line_item</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cart_address</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cart_shipping_method</a:t>
            </a:r>
            <a:endParaRPr lang="en-US" sz="950" dirty="0"/>
          </a:p>
        </p:txBody>
      </p:sp>
      <p:sp>
        <p:nvSpPr>
          <p:cNvPr id="25" name="Shape 21"/>
          <p:cNvSpPr/>
          <p:nvPr/>
        </p:nvSpPr>
        <p:spPr>
          <a:xfrm>
            <a:off x="4206240" y="4087368"/>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26" name="Text 22"/>
          <p:cNvSpPr txBox="1"/>
          <p:nvPr/>
        </p:nvSpPr>
        <p:spPr>
          <a:xfrm>
            <a:off x="4370832" y="4224528"/>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Órdenes</a:t>
            </a:r>
            <a:endParaRPr lang="en-US" sz="1350" dirty="0"/>
          </a:p>
        </p:txBody>
      </p:sp>
      <p:sp>
        <p:nvSpPr>
          <p:cNvPr id="27" name="Text 23"/>
          <p:cNvSpPr txBox="1"/>
          <p:nvPr/>
        </p:nvSpPr>
        <p:spPr>
          <a:xfrm>
            <a:off x="4370832" y="4562856"/>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order</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order_item</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order_line_item</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order_summary</a:t>
            </a:r>
            <a:endParaRPr lang="en-US" sz="950" dirty="0"/>
          </a:p>
        </p:txBody>
      </p:sp>
      <p:sp>
        <p:nvSpPr>
          <p:cNvPr id="28" name="Shape 24"/>
          <p:cNvSpPr/>
          <p:nvPr/>
        </p:nvSpPr>
        <p:spPr>
          <a:xfrm>
            <a:off x="6089904" y="4087368"/>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29" name="Text 25"/>
          <p:cNvSpPr txBox="1"/>
          <p:nvPr/>
        </p:nvSpPr>
        <p:spPr>
          <a:xfrm>
            <a:off x="6254496" y="4224528"/>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Pagos</a:t>
            </a:r>
            <a:endParaRPr lang="en-US" sz="1350" dirty="0"/>
          </a:p>
        </p:txBody>
      </p:sp>
      <p:sp>
        <p:nvSpPr>
          <p:cNvPr id="30" name="Text 26"/>
          <p:cNvSpPr txBox="1"/>
          <p:nvPr/>
        </p:nvSpPr>
        <p:spPr>
          <a:xfrm>
            <a:off x="6254496" y="4562856"/>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payment_collection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payment_session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payment</a:t>
            </a:r>
            <a:endParaRPr lang="en-US" sz="950" dirty="0"/>
          </a:p>
        </p:txBody>
      </p:sp>
      <p:sp>
        <p:nvSpPr>
          <p:cNvPr id="31" name="Shape 27"/>
          <p:cNvSpPr/>
          <p:nvPr/>
        </p:nvSpPr>
        <p:spPr>
          <a:xfrm>
            <a:off x="7973568" y="4087368"/>
            <a:ext cx="1755648" cy="1572768"/>
          </a:xfrm>
          <a:prstGeom prst="roundRect">
            <a:avLst>
              <a:gd name="adj" fmla="val 11628"/>
            </a:avLst>
          </a:prstGeom>
          <a:solidFill>
            <a:srgbClr val="FFFFFF">
              <a:alpha val="9000"/>
            </a:srgbClr>
          </a:solidFill>
          <a:ln w="12700">
            <a:solidFill>
              <a:srgbClr val="FFFFFF">
                <a:alpha val="24000"/>
              </a:srgbClr>
            </a:solidFill>
            <a:prstDash val="solid"/>
          </a:ln>
        </p:spPr>
      </p:sp>
      <p:sp>
        <p:nvSpPr>
          <p:cNvPr id="32" name="Text 28"/>
          <p:cNvSpPr txBox="1"/>
          <p:nvPr/>
        </p:nvSpPr>
        <p:spPr>
          <a:xfrm>
            <a:off x="8138160" y="4224528"/>
            <a:ext cx="1481328" cy="310896"/>
          </a:xfrm>
          <a:prstGeom prst="rect">
            <a:avLst/>
          </a:prstGeom>
          <a:noFill/>
          <a:ln/>
        </p:spPr>
        <p:txBody>
          <a:bodyPr wrap="square" lIns="0" tIns="0" rIns="0" bIns="0" rtlCol="0" anchor="t"/>
          <a:lstStyle/>
          <a:p>
            <a:pPr indent="0" marL="0">
              <a:buNone/>
            </a:pPr>
            <a:r>
              <a:rPr lang="en-US" sz="1350" dirty="0">
                <a:solidFill>
                  <a:srgbClr val="FFFFFF"/>
                </a:solidFill>
                <a:latin typeface="Segoe UI Semibold" pitchFamily="34" charset="0"/>
                <a:ea typeface="Segoe UI Semibold" pitchFamily="34" charset="-122"/>
                <a:cs typeface="Segoe UI Semibold" pitchFamily="34" charset="-120"/>
              </a:rPr>
              <a:t>Logística</a:t>
            </a:r>
            <a:endParaRPr lang="en-US" sz="1350" dirty="0"/>
          </a:p>
        </p:txBody>
      </p:sp>
      <p:sp>
        <p:nvSpPr>
          <p:cNvPr id="33" name="Text 29"/>
          <p:cNvSpPr txBox="1"/>
          <p:nvPr/>
        </p:nvSpPr>
        <p:spPr>
          <a:xfrm>
            <a:off x="8138160" y="4562856"/>
            <a:ext cx="1527048" cy="1005840"/>
          </a:xfrm>
          <a:prstGeom prst="rect">
            <a:avLst/>
          </a:prstGeom>
          <a:noFill/>
          <a:ln/>
        </p:spPr>
        <p:txBody>
          <a:bodyPr wrap="square" lIns="0" tIns="0" rIns="0" bIns="0" rtlCol="0" anchor="t"/>
          <a:lstStyle/>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stock_location</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inventory_level</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service_zone</a:t>
            </a:r>
            <a:endParaRPr lang="en-US" sz="950" dirty="0"/>
          </a:p>
          <a:p>
            <a:pPr indent="0" marL="0">
              <a:lnSpc>
                <a:spcPct val="105000"/>
              </a:lnSpc>
              <a:buNone/>
            </a:pPr>
            <a:r>
              <a:rPr lang="en-US" sz="950" dirty="0">
                <a:solidFill>
                  <a:srgbClr val="D6DDF5"/>
                </a:solidFill>
                <a:latin typeface="Consolas" pitchFamily="34" charset="0"/>
                <a:ea typeface="Consolas" pitchFamily="34" charset="-122"/>
                <a:cs typeface="Consolas" pitchFamily="34" charset="-120"/>
              </a:rPr>
              <a:t>shipping_option</a:t>
            </a:r>
            <a:endParaRPr lang="en-US" sz="950" dirty="0"/>
          </a:p>
        </p:txBody>
      </p:sp>
      <p:pic>
        <p:nvPicPr>
          <p:cNvPr id="34" name="Image 2" descr="C:\Users\AlexAmaze\AppData\Local\Temp\claude\C--My-Files-repos-supaday-ecommerce\b329a27c-f2be-420c-b170-4436a9ee7093\scratchpad\ppt\assets\gen\g-192x172-20.png">    </p:cNvPr>
          <p:cNvPicPr>
            <a:picLocks noChangeAspect="1"/>
          </p:cNvPicPr>
          <p:nvPr/>
        </p:nvPicPr>
        <p:blipFill>
          <a:blip r:embed="rId4"/>
          <a:stretch>
            <a:fillRect/>
          </a:stretch>
        </p:blipFill>
        <p:spPr>
          <a:xfrm>
            <a:off x="9857232" y="4087368"/>
            <a:ext cx="1755648" cy="1572768"/>
          </a:xfrm>
          <a:prstGeom prst="rect">
            <a:avLst/>
          </a:prstGeom>
        </p:spPr>
      </p:pic>
      <p:sp>
        <p:nvSpPr>
          <p:cNvPr id="35" name="Text 30"/>
          <p:cNvSpPr txBox="1"/>
          <p:nvPr/>
        </p:nvSpPr>
        <p:spPr>
          <a:xfrm>
            <a:off x="10040112" y="4224528"/>
            <a:ext cx="1435608" cy="1298448"/>
          </a:xfrm>
          <a:prstGeom prst="rect">
            <a:avLst/>
          </a:prstGeom>
          <a:noFill/>
          <a:ln/>
        </p:spPr>
        <p:txBody>
          <a:bodyPr wrap="square" lIns="0" tIns="0" rIns="0" bIns="0" rtlCol="0" anchor="ctr"/>
          <a:lstStyle/>
          <a:p>
            <a:pPr indent="0" marL="0">
              <a:lnSpc>
                <a:spcPct val="110000"/>
              </a:lnSpc>
              <a:buNone/>
            </a:pPr>
            <a:r>
              <a:rPr lang="en-US" sz="1300" b="1" dirty="0">
                <a:solidFill>
                  <a:srgbClr val="FFFFFF"/>
                </a:solidFill>
                <a:latin typeface="Consolas" pitchFamily="34" charset="0"/>
                <a:ea typeface="Consolas" pitchFamily="34" charset="-122"/>
                <a:cs typeface="Consolas" pitchFamily="34" charset="-120"/>
              </a:rPr>
              <a:t>product</a:t>
            </a:r>
            <a:endParaRPr lang="en-US" sz="1200" dirty="0"/>
          </a:p>
          <a:p>
            <a:pPr indent="0" marL="0">
              <a:lnSpc>
                <a:spcPct val="110000"/>
              </a:lnSpc>
              <a:buNone/>
            </a:pPr>
            <a:r>
              <a:rPr lang="en-US" sz="1300" b="1" dirty="0">
                <a:solidFill>
                  <a:srgbClr val="FFFFFF"/>
                </a:solidFill>
                <a:latin typeface="Consolas" pitchFamily="34" charset="0"/>
                <a:ea typeface="Consolas" pitchFamily="34" charset="-122"/>
                <a:cs typeface="Consolas" pitchFamily="34" charset="-120"/>
              </a:rPr>
              <a:t>region</a:t>
            </a:r>
            <a:endParaRPr lang="en-US" sz="1200" dirty="0"/>
          </a:p>
          <a:p>
            <a:pPr indent="0" marL="0">
              <a:lnSpc>
                <a:spcPct val="110000"/>
              </a:lnSpc>
              <a:buNone/>
            </a:pPr>
            <a:r>
              <a:rPr lang="en-US" sz="1300" b="1" dirty="0">
                <a:solidFill>
                  <a:srgbClr val="FFFFFF"/>
                </a:solidFill>
                <a:latin typeface="Consolas" pitchFamily="34" charset="0"/>
                <a:ea typeface="Consolas" pitchFamily="34" charset="-122"/>
                <a:cs typeface="Consolas" pitchFamily="34" charset="-120"/>
              </a:rPr>
              <a:t>order</a:t>
            </a:r>
            <a:endParaRPr lang="en-US" sz="1200" dirty="0"/>
          </a:p>
          <a:p>
            <a:pPr indent="0" marL="0">
              <a:lnSpc>
                <a:spcPct val="110000"/>
              </a:lnSpc>
              <a:buNone/>
            </a:pPr>
            <a:r>
              <a:rPr lang="en-US" sz="1100" dirty="0">
                <a:solidFill>
                  <a:srgbClr val="FFFFFF"/>
                </a:solidFill>
                <a:latin typeface="Segoe UI" pitchFamily="34" charset="0"/>
                <a:ea typeface="Segoe UI" pitchFamily="34" charset="-122"/>
                <a:cs typeface="Segoe UI" pitchFamily="34" charset="-120"/>
              </a:rPr>
              <a:t>presentes y pobladas</a:t>
            </a:r>
            <a:endParaRPr lang="en-US" sz="1200" dirty="0"/>
          </a:p>
        </p:txBody>
      </p:sp>
      <p:sp>
        <p:nvSpPr>
          <p:cNvPr id="36" name="Text 31"/>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150" dirty="0">
                <a:solidFill>
                  <a:srgbClr val="C9D2EE"/>
                </a:solidFill>
                <a:latin typeface="Segoe UI" pitchFamily="34" charset="0"/>
                <a:ea typeface="Segoe UI" pitchFamily="34" charset="-122"/>
                <a:cs typeface="Segoe UI" pitchFamily="34" charset="-120"/>
              </a:rPr>
              <a:t>Cada módulo de Medusa es dueño de sus tablas; las relaciones entre módulos viven en tablas link (product_variant_price_set, order_payment_collection).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08 / 15   ·   REGIONES</a:t>
            </a:r>
            <a:endParaRPr lang="en-US" sz="1000" dirty="0"/>
          </a:p>
        </p:txBody>
      </p:sp>
      <p:sp>
        <p:nvSpPr>
          <p:cNvPr id="5" name="Shape 2"/>
          <p:cNvSpPr/>
          <p:nvPr/>
        </p:nvSpPr>
        <p:spPr>
          <a:xfrm>
            <a:off x="548640" y="1005840"/>
            <a:ext cx="3494837"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3129077"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ECUADOR USD · EUROPA EUR</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REGIÓN ECUADOR EN </a:t>
            </a:r>
            <a:pPr indent="0" marL="0">
              <a:buNone/>
            </a:pPr>
            <a:r>
              <a:rPr lang="en-US" sz="4600" spc="100" kern="0" dirty="0">
                <a:solidFill>
                  <a:srgbClr val="0B1ED8"/>
                </a:solidFill>
                <a:latin typeface="Bebas Neue" pitchFamily="34" charset="0"/>
                <a:ea typeface="Bebas Neue" pitchFamily="34" charset="-122"/>
                <a:cs typeface="Bebas Neue" pitchFamily="34" charset="-120"/>
              </a:rPr>
              <a:t>DÓLARES</a:t>
            </a:r>
            <a:endParaRPr lang="en-US" sz="4600" dirty="0"/>
          </a:p>
        </p:txBody>
      </p:sp>
      <p:pic>
        <p:nvPicPr>
          <p:cNvPr id="9"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548640" y="2423160"/>
            <a:ext cx="457200" cy="457200"/>
          </a:xfrm>
          <a:prstGeom prst="rect">
            <a:avLst/>
          </a:prstGeom>
        </p:spPr>
      </p:pic>
      <p:pic>
        <p:nvPicPr>
          <p:cNvPr id="10" name="Image 3" descr="C:\Users\AlexAmaze\AppData\Local\Temp\claude\C--My-Files-repos-supaday-ecommerce\b329a27c-f2be-420c-b170-4436a9ee7093\scratchpad\ppt\assets\icons\dollar-w.png">    </p:cNvPr>
          <p:cNvPicPr>
            <a:picLocks noChangeAspect="1"/>
          </p:cNvPicPr>
          <p:nvPr/>
        </p:nvPicPr>
        <p:blipFill>
          <a:blip r:embed="rId5"/>
          <a:stretch>
            <a:fillRect/>
          </a:stretch>
        </p:blipFill>
        <p:spPr>
          <a:xfrm>
            <a:off x="662940" y="2537460"/>
            <a:ext cx="228600" cy="228600"/>
          </a:xfrm>
          <a:prstGeom prst="rect">
            <a:avLst/>
          </a:prstGeom>
        </p:spPr>
      </p:pic>
      <p:sp>
        <p:nvSpPr>
          <p:cNvPr id="11" name="Text 5"/>
          <p:cNvSpPr txBox="1"/>
          <p:nvPr/>
        </p:nvSpPr>
        <p:spPr>
          <a:xfrm>
            <a:off x="1188720" y="2377440"/>
            <a:ext cx="484632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USD, la moneda oficial</a:t>
            </a:r>
            <a:endParaRPr lang="en-US" sz="1400" dirty="0"/>
          </a:p>
        </p:txBody>
      </p:sp>
      <p:sp>
        <p:nvSpPr>
          <p:cNvPr id="12" name="Text 6"/>
          <p:cNvSpPr txBox="1"/>
          <p:nvPr/>
        </p:nvSpPr>
        <p:spPr>
          <a:xfrm>
            <a:off x="1188720" y="2688336"/>
            <a:ext cx="4937760" cy="365760"/>
          </a:xfrm>
          <a:prstGeom prst="rect">
            <a:avLst/>
          </a:prstGeom>
          <a:noFill/>
          <a:ln/>
        </p:spPr>
        <p:txBody>
          <a:bodyPr wrap="square" lIns="0" tIns="0" rIns="0" bIns="0" rtlCol="0" anchor="t"/>
          <a:lstStyle/>
          <a:p>
            <a:pPr indent="0" marL="0">
              <a:buNone/>
            </a:pPr>
            <a:r>
              <a:rPr lang="en-US" sz="1150" dirty="0">
                <a:solidFill>
                  <a:srgbClr val="56607E"/>
                </a:solidFill>
                <a:latin typeface="Segoe UI" pitchFamily="34" charset="0"/>
                <a:ea typeface="Segoe UI" pitchFamily="34" charset="-122"/>
                <a:cs typeface="Segoe UI" pitchFamily="34" charset="-120"/>
              </a:rPr>
              <a:t>Ecuador está dolarizado desde el año 2000: sin conversiones.</a:t>
            </a:r>
            <a:endParaRPr lang="en-US" sz="1150" dirty="0"/>
          </a:p>
        </p:txBody>
      </p:sp>
      <p:pic>
        <p:nvPicPr>
          <p:cNvPr id="13"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548640" y="3191256"/>
            <a:ext cx="457200" cy="457200"/>
          </a:xfrm>
          <a:prstGeom prst="rect">
            <a:avLst/>
          </a:prstGeom>
        </p:spPr>
      </p:pic>
      <p:pic>
        <p:nvPicPr>
          <p:cNvPr id="14" name="Image 5" descr="C:\Users\AlexAmaze\AppData\Local\Temp\claude\C--My-Files-repos-supaday-ecommerce\b329a27c-f2be-420c-b170-4436a9ee7093\scratchpad\ppt\assets\icons\layers-w.png">    </p:cNvPr>
          <p:cNvPicPr>
            <a:picLocks noChangeAspect="1"/>
          </p:cNvPicPr>
          <p:nvPr/>
        </p:nvPicPr>
        <p:blipFill>
          <a:blip r:embed="rId7"/>
          <a:stretch>
            <a:fillRect/>
          </a:stretch>
        </p:blipFill>
        <p:spPr>
          <a:xfrm>
            <a:off x="662940" y="3305556"/>
            <a:ext cx="228600" cy="228600"/>
          </a:xfrm>
          <a:prstGeom prst="rect">
            <a:avLst/>
          </a:prstGeom>
        </p:spPr>
      </p:pic>
      <p:sp>
        <p:nvSpPr>
          <p:cNvPr id="15" name="Text 7"/>
          <p:cNvSpPr txBox="1"/>
          <p:nvPr/>
        </p:nvSpPr>
        <p:spPr>
          <a:xfrm>
            <a:off x="1188720" y="3145536"/>
            <a:ext cx="484632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Una región propia</a:t>
            </a:r>
            <a:endParaRPr lang="en-US" sz="1400" dirty="0"/>
          </a:p>
        </p:txBody>
      </p:sp>
      <p:sp>
        <p:nvSpPr>
          <p:cNvPr id="16" name="Text 8"/>
          <p:cNvSpPr txBox="1"/>
          <p:nvPr/>
        </p:nvSpPr>
        <p:spPr>
          <a:xfrm>
            <a:off x="1188720" y="3456432"/>
            <a:ext cx="4937760" cy="365760"/>
          </a:xfrm>
          <a:prstGeom prst="rect">
            <a:avLst/>
          </a:prstGeom>
          <a:noFill/>
          <a:ln/>
        </p:spPr>
        <p:txBody>
          <a:bodyPr wrap="square" lIns="0" tIns="0" rIns="0" bIns="0" rtlCol="0" anchor="t"/>
          <a:lstStyle/>
          <a:p>
            <a:pPr indent="0" marL="0">
              <a:buNone/>
            </a:pPr>
            <a:r>
              <a:rPr lang="en-US" sz="1150" dirty="0">
                <a:solidFill>
                  <a:srgbClr val="56607E"/>
                </a:solidFill>
                <a:latin typeface="Segoe UI" pitchFamily="34" charset="0"/>
                <a:ea typeface="Segoe UI" pitchFamily="34" charset="-122"/>
                <a:cs typeface="Segoe UI" pitchFamily="34" charset="-120"/>
              </a:rPr>
              <a:t>En Medusa la región define moneda, impuestos, pagos y envíos.</a:t>
            </a:r>
            <a:endParaRPr lang="en-US" sz="1150" dirty="0"/>
          </a:p>
        </p:txBody>
      </p:sp>
      <p:pic>
        <p:nvPicPr>
          <p:cNvPr id="17"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548640" y="3959352"/>
            <a:ext cx="457200" cy="457200"/>
          </a:xfrm>
          <a:prstGeom prst="rect">
            <a:avLst/>
          </a:prstGeom>
        </p:spPr>
      </p:pic>
      <p:pic>
        <p:nvPicPr>
          <p:cNvPr id="18" name="Image 7" descr="C:\Users\AlexAmaze\AppData\Local\Temp\claude\C--My-Files-repos-supaday-ecommerce\b329a27c-f2be-420c-b170-4436a9ee7093\scratchpad\ppt\assets\icons\tag-w.png">    </p:cNvPr>
          <p:cNvPicPr>
            <a:picLocks noChangeAspect="1"/>
          </p:cNvPicPr>
          <p:nvPr/>
        </p:nvPicPr>
        <p:blipFill>
          <a:blip r:embed="rId9"/>
          <a:stretch>
            <a:fillRect/>
          </a:stretch>
        </p:blipFill>
        <p:spPr>
          <a:xfrm>
            <a:off x="662940" y="4073652"/>
            <a:ext cx="228600" cy="228600"/>
          </a:xfrm>
          <a:prstGeom prst="rect">
            <a:avLst/>
          </a:prstGeom>
        </p:spPr>
      </p:pic>
      <p:sp>
        <p:nvSpPr>
          <p:cNvPr id="19" name="Text 9"/>
          <p:cNvSpPr txBox="1"/>
          <p:nvPr/>
        </p:nvSpPr>
        <p:spPr>
          <a:xfrm>
            <a:off x="1188720" y="3913632"/>
            <a:ext cx="484632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Precios explícitos por moneda</a:t>
            </a:r>
            <a:endParaRPr lang="en-US" sz="1400" dirty="0"/>
          </a:p>
        </p:txBody>
      </p:sp>
      <p:sp>
        <p:nvSpPr>
          <p:cNvPr id="20" name="Text 10"/>
          <p:cNvSpPr txBox="1"/>
          <p:nvPr/>
        </p:nvSpPr>
        <p:spPr>
          <a:xfrm>
            <a:off x="1188720" y="4224528"/>
            <a:ext cx="4937760" cy="365760"/>
          </a:xfrm>
          <a:prstGeom prst="rect">
            <a:avLst/>
          </a:prstGeom>
          <a:noFill/>
          <a:ln/>
        </p:spPr>
        <p:txBody>
          <a:bodyPr wrap="square" lIns="0" tIns="0" rIns="0" bIns="0" rtlCol="0" anchor="t"/>
          <a:lstStyle/>
          <a:p>
            <a:pPr indent="0" marL="0">
              <a:buNone/>
            </a:pPr>
            <a:r>
              <a:rPr lang="en-US" sz="1150" dirty="0">
                <a:solidFill>
                  <a:srgbClr val="56607E"/>
                </a:solidFill>
                <a:latin typeface="Segoe UI" pitchFamily="34" charset="0"/>
                <a:ea typeface="Segoe UI" pitchFamily="34" charset="-122"/>
                <a:cs typeface="Segoe UI" pitchFamily="34" charset="-120"/>
              </a:rPr>
              <a:t>Hoodie $58 en /ec y 54 € en /dk, sin tipo de cambio automático.</a:t>
            </a:r>
            <a:endParaRPr lang="en-US" sz="1150" dirty="0"/>
          </a:p>
        </p:txBody>
      </p:sp>
      <p:pic>
        <p:nvPicPr>
          <p:cNvPr id="21"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548640" y="4727448"/>
            <a:ext cx="457200" cy="457200"/>
          </a:xfrm>
          <a:prstGeom prst="rect">
            <a:avLst/>
          </a:prstGeom>
        </p:spPr>
      </p:pic>
      <p:pic>
        <p:nvPicPr>
          <p:cNvPr id="22" name="Image 9" descr="C:\Users\AlexAmaze\AppData\Local\Temp\claude\C--My-Files-repos-supaday-ecommerce\b329a27c-f2be-420c-b170-4436a9ee7093\scratchpad\ppt\assets\icons\truck-w.png">    </p:cNvPr>
          <p:cNvPicPr>
            <a:picLocks noChangeAspect="1"/>
          </p:cNvPicPr>
          <p:nvPr/>
        </p:nvPicPr>
        <p:blipFill>
          <a:blip r:embed="rId11"/>
          <a:stretch>
            <a:fillRect/>
          </a:stretch>
        </p:blipFill>
        <p:spPr>
          <a:xfrm>
            <a:off x="662940" y="4841748"/>
            <a:ext cx="228600" cy="228600"/>
          </a:xfrm>
          <a:prstGeom prst="rect">
            <a:avLst/>
          </a:prstGeom>
        </p:spPr>
      </p:pic>
      <p:sp>
        <p:nvSpPr>
          <p:cNvPr id="23" name="Text 11"/>
          <p:cNvSpPr txBox="1"/>
          <p:nvPr/>
        </p:nvSpPr>
        <p:spPr>
          <a:xfrm>
            <a:off x="1188720" y="4681728"/>
            <a:ext cx="484632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Envío configurado</a:t>
            </a:r>
            <a:endParaRPr lang="en-US" sz="1400" dirty="0"/>
          </a:p>
        </p:txBody>
      </p:sp>
      <p:sp>
        <p:nvSpPr>
          <p:cNvPr id="24" name="Text 12"/>
          <p:cNvSpPr txBox="1"/>
          <p:nvPr/>
        </p:nvSpPr>
        <p:spPr>
          <a:xfrm>
            <a:off x="1188720" y="4992624"/>
            <a:ext cx="4937760" cy="365760"/>
          </a:xfrm>
          <a:prstGeom prst="rect">
            <a:avLst/>
          </a:prstGeom>
          <a:noFill/>
          <a:ln/>
        </p:spPr>
        <p:txBody>
          <a:bodyPr wrap="square" lIns="0" tIns="0" rIns="0" bIns="0" rtlCol="0" anchor="t"/>
          <a:lstStyle/>
          <a:p>
            <a:pPr indent="0" marL="0">
              <a:buNone/>
            </a:pPr>
            <a:r>
              <a:rPr lang="en-US" sz="1150" dirty="0">
                <a:solidFill>
                  <a:srgbClr val="56607E"/>
                </a:solidFill>
                <a:latin typeface="Segoe UI" pitchFamily="34" charset="0"/>
                <a:ea typeface="Segoe UI" pitchFamily="34" charset="-122"/>
                <a:cs typeface="Segoe UI" pitchFamily="34" charset="-120"/>
              </a:rPr>
              <a:t>Service zone EC: estándar $10 (2–4 días) y express $15 (24–48 h).</a:t>
            </a:r>
            <a:endParaRPr lang="en-US" sz="1150" dirty="0"/>
          </a:p>
        </p:txBody>
      </p:sp>
      <p:pic>
        <p:nvPicPr>
          <p:cNvPr id="25" name="Image 10" descr="C:\Users\AlexAmaze\AppData\Local\Temp\claude\C--My-Files-repos-supaday-ecommerce\b329a27c-f2be-420c-b170-4436a9ee7093\scratchpad\ppt\assets\circle-grad.png">    </p:cNvPr>
          <p:cNvPicPr>
            <a:picLocks noChangeAspect="1"/>
          </p:cNvPicPr>
          <p:nvPr/>
        </p:nvPicPr>
        <p:blipFill>
          <a:blip r:embed="rId12"/>
          <a:stretch>
            <a:fillRect/>
          </a:stretch>
        </p:blipFill>
        <p:spPr>
          <a:xfrm>
            <a:off x="548640" y="5495544"/>
            <a:ext cx="457200" cy="457200"/>
          </a:xfrm>
          <a:prstGeom prst="rect">
            <a:avLst/>
          </a:prstGeom>
        </p:spPr>
      </p:pic>
      <p:pic>
        <p:nvPicPr>
          <p:cNvPr id="26" name="Image 11" descr="C:\Users\AlexAmaze\AppData\Local\Temp\claude\C--My-Files-repos-supaday-ecommerce\b329a27c-f2be-420c-b170-4436a9ee7093\scratchpad\ppt\assets\icons\pin-w.png">    </p:cNvPr>
          <p:cNvPicPr>
            <a:picLocks noChangeAspect="1"/>
          </p:cNvPicPr>
          <p:nvPr/>
        </p:nvPicPr>
        <p:blipFill>
          <a:blip r:embed="rId13"/>
          <a:stretch>
            <a:fillRect/>
          </a:stretch>
        </p:blipFill>
        <p:spPr>
          <a:xfrm>
            <a:off x="662940" y="5609844"/>
            <a:ext cx="228600" cy="228600"/>
          </a:xfrm>
          <a:prstGeom prst="rect">
            <a:avLst/>
          </a:prstGeom>
        </p:spPr>
      </p:pic>
      <p:sp>
        <p:nvSpPr>
          <p:cNvPr id="27" name="Text 13"/>
          <p:cNvSpPr txBox="1"/>
          <p:nvPr/>
        </p:nvSpPr>
        <p:spPr>
          <a:xfrm>
            <a:off x="1188720" y="5449824"/>
            <a:ext cx="484632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Ecuador por defecto</a:t>
            </a:r>
            <a:endParaRPr lang="en-US" sz="1400" dirty="0"/>
          </a:p>
        </p:txBody>
      </p:sp>
      <p:sp>
        <p:nvSpPr>
          <p:cNvPr id="28" name="Text 14"/>
          <p:cNvSpPr txBox="1"/>
          <p:nvPr/>
        </p:nvSpPr>
        <p:spPr>
          <a:xfrm>
            <a:off x="1188720" y="5760720"/>
            <a:ext cx="4937760" cy="365760"/>
          </a:xfrm>
          <a:prstGeom prst="rect">
            <a:avLst/>
          </a:prstGeom>
          <a:noFill/>
          <a:ln/>
        </p:spPr>
        <p:txBody>
          <a:bodyPr wrap="square" lIns="0" tIns="0" rIns="0" bIns="0" rtlCol="0" anchor="t"/>
          <a:lstStyle/>
          <a:p>
            <a:pPr indent="0" marL="0">
              <a:buNone/>
            </a:pPr>
            <a:r>
              <a:rPr lang="en-US" sz="1150" dirty="0">
                <a:solidFill>
                  <a:srgbClr val="56607E"/>
                </a:solidFill>
                <a:latin typeface="Segoe UI" pitchFamily="34" charset="0"/>
                <a:ea typeface="Segoe UI" pitchFamily="34" charset="-122"/>
                <a:cs typeface="Segoe UI" pitchFamily="34" charset="-120"/>
              </a:rPr>
              <a:t>USD es la moneda default de la tienda y el middleware lleva / a /ec.</a:t>
            </a:r>
            <a:endParaRPr lang="en-US" sz="1150" dirty="0"/>
          </a:p>
        </p:txBody>
      </p:sp>
      <p:sp>
        <p:nvSpPr>
          <p:cNvPr id="29" name="Shape 15"/>
          <p:cNvSpPr/>
          <p:nvPr/>
        </p:nvSpPr>
        <p:spPr>
          <a:xfrm>
            <a:off x="6583680" y="2377440"/>
            <a:ext cx="2423160" cy="3566160"/>
          </a:xfrm>
          <a:prstGeom prst="roundRect">
            <a:avLst>
              <a:gd name="adj" fmla="val 9811"/>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0" name="Image 12" descr="C:\Users\AlexAmaze\AppData\Local\Temp\claude\C--My-Files-repos-supaday-ecommerce\b329a27c-f2be-420c-b170-4436a9ee7093\scratchpad\ppt\assets\p-hoodie-black-front.png">    </p:cNvPr>
          <p:cNvPicPr>
            <a:picLocks noChangeAspect="1"/>
          </p:cNvPicPr>
          <p:nvPr/>
        </p:nvPicPr>
        <p:blipFill>
          <a:blip r:embed="rId14"/>
          <a:stretch>
            <a:fillRect/>
          </a:stretch>
        </p:blipFill>
        <p:spPr>
          <a:xfrm>
            <a:off x="6739128" y="2532888"/>
            <a:ext cx="2112264" cy="2112264"/>
          </a:xfrm>
          <a:prstGeom prst="rect">
            <a:avLst/>
          </a:prstGeom>
        </p:spPr>
      </p:pic>
      <p:sp>
        <p:nvSpPr>
          <p:cNvPr id="31" name="Text 16"/>
          <p:cNvSpPr txBox="1"/>
          <p:nvPr/>
        </p:nvSpPr>
        <p:spPr>
          <a:xfrm>
            <a:off x="6784848" y="4754880"/>
            <a:ext cx="2103120" cy="274320"/>
          </a:xfrm>
          <a:prstGeom prst="rect">
            <a:avLst/>
          </a:prstGeom>
          <a:noFill/>
          <a:ln/>
        </p:spPr>
        <p:txBody>
          <a:bodyPr wrap="square" lIns="0" tIns="0" rIns="0" bIns="0" rtlCol="0" anchor="t"/>
          <a:lstStyle/>
          <a:p>
            <a:pPr indent="0" marL="0">
              <a:buNone/>
            </a:pPr>
            <a:r>
              <a:rPr lang="en-US" sz="1050" dirty="0">
                <a:solidFill>
                  <a:srgbClr val="56607E"/>
                </a:solidFill>
                <a:latin typeface="Segoe UI" pitchFamily="34" charset="0"/>
                <a:ea typeface="Segoe UI" pitchFamily="34" charset="-122"/>
                <a:cs typeface="Segoe UI" pitchFamily="34" charset="-120"/>
              </a:rPr>
              <a:t>/ec · Región Ecuador</a:t>
            </a:r>
            <a:endParaRPr lang="en-US" sz="1050" dirty="0"/>
          </a:p>
        </p:txBody>
      </p:sp>
      <p:sp>
        <p:nvSpPr>
          <p:cNvPr id="32" name="Text 17"/>
          <p:cNvSpPr txBox="1"/>
          <p:nvPr/>
        </p:nvSpPr>
        <p:spPr>
          <a:xfrm>
            <a:off x="6784848" y="5010912"/>
            <a:ext cx="1463040" cy="658368"/>
          </a:xfrm>
          <a:prstGeom prst="rect">
            <a:avLst/>
          </a:prstGeom>
          <a:noFill/>
          <a:ln/>
        </p:spPr>
        <p:txBody>
          <a:bodyPr wrap="square" lIns="0" tIns="0" rIns="0" bIns="0" rtlCol="0" anchor="t"/>
          <a:lstStyle/>
          <a:p>
            <a:pPr indent="0" marL="0">
              <a:buNone/>
            </a:pPr>
            <a:r>
              <a:rPr lang="en-US" sz="3800" dirty="0">
                <a:solidFill>
                  <a:srgbClr val="0A1033"/>
                </a:solidFill>
                <a:latin typeface="Bebas Neue" pitchFamily="34" charset="0"/>
                <a:ea typeface="Bebas Neue" pitchFamily="34" charset="-122"/>
                <a:cs typeface="Bebas Neue" pitchFamily="34" charset="-120"/>
              </a:rPr>
              <a:t>$58,00</a:t>
            </a:r>
            <a:endParaRPr lang="en-US" sz="3800" dirty="0"/>
          </a:p>
        </p:txBody>
      </p:sp>
      <p:pic>
        <p:nvPicPr>
          <p:cNvPr id="33" name="Image 13" descr="C:\Users\AlexAmaze\AppData\Local\Temp\claude\C--My-Files-repos-supaday-ecommerce\b329a27c-f2be-420c-b170-4436a9ee7093\scratchpad\ppt\assets\gen\g-66x34-17.png">    </p:cNvPr>
          <p:cNvPicPr>
            <a:picLocks noChangeAspect="1"/>
          </p:cNvPicPr>
          <p:nvPr/>
        </p:nvPicPr>
        <p:blipFill>
          <a:blip r:embed="rId15"/>
          <a:stretch>
            <a:fillRect/>
          </a:stretch>
        </p:blipFill>
        <p:spPr>
          <a:xfrm>
            <a:off x="8211312" y="5175504"/>
            <a:ext cx="603504" cy="310896"/>
          </a:xfrm>
          <a:prstGeom prst="rect">
            <a:avLst/>
          </a:prstGeom>
        </p:spPr>
      </p:pic>
      <p:sp>
        <p:nvSpPr>
          <p:cNvPr id="34" name="Text 18"/>
          <p:cNvSpPr txBox="1"/>
          <p:nvPr/>
        </p:nvSpPr>
        <p:spPr>
          <a:xfrm>
            <a:off x="8253557" y="5175504"/>
            <a:ext cx="519013"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USD</a:t>
            </a:r>
            <a:endParaRPr lang="en-US" sz="1000" dirty="0"/>
          </a:p>
        </p:txBody>
      </p:sp>
      <p:sp>
        <p:nvSpPr>
          <p:cNvPr id="35" name="Shape 19"/>
          <p:cNvSpPr/>
          <p:nvPr/>
        </p:nvSpPr>
        <p:spPr>
          <a:xfrm>
            <a:off x="9189720" y="2377440"/>
            <a:ext cx="2423160" cy="3566160"/>
          </a:xfrm>
          <a:prstGeom prst="roundRect">
            <a:avLst>
              <a:gd name="adj" fmla="val 9811"/>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6" name="Image 14" descr="C:\Users\AlexAmaze\AppData\Local\Temp\claude\C--My-Files-repos-supaday-ecommerce\b329a27c-f2be-420c-b170-4436a9ee7093\scratchpad\ppt\assets\p-hoodie-black-front.png">    </p:cNvPr>
          <p:cNvPicPr>
            <a:picLocks noChangeAspect="1"/>
          </p:cNvPicPr>
          <p:nvPr/>
        </p:nvPicPr>
        <p:blipFill>
          <a:blip r:embed="rId16"/>
          <a:stretch>
            <a:fillRect/>
          </a:stretch>
        </p:blipFill>
        <p:spPr>
          <a:xfrm>
            <a:off x="9345168" y="2532888"/>
            <a:ext cx="2112264" cy="2112264"/>
          </a:xfrm>
          <a:prstGeom prst="rect">
            <a:avLst/>
          </a:prstGeom>
        </p:spPr>
      </p:pic>
      <p:sp>
        <p:nvSpPr>
          <p:cNvPr id="37" name="Text 20"/>
          <p:cNvSpPr txBox="1"/>
          <p:nvPr/>
        </p:nvSpPr>
        <p:spPr>
          <a:xfrm>
            <a:off x="9390888" y="4754880"/>
            <a:ext cx="2103120" cy="274320"/>
          </a:xfrm>
          <a:prstGeom prst="rect">
            <a:avLst/>
          </a:prstGeom>
          <a:noFill/>
          <a:ln/>
        </p:spPr>
        <p:txBody>
          <a:bodyPr wrap="square" lIns="0" tIns="0" rIns="0" bIns="0" rtlCol="0" anchor="t"/>
          <a:lstStyle/>
          <a:p>
            <a:pPr indent="0" marL="0">
              <a:buNone/>
            </a:pPr>
            <a:r>
              <a:rPr lang="en-US" sz="1050" dirty="0">
                <a:solidFill>
                  <a:srgbClr val="56607E"/>
                </a:solidFill>
                <a:latin typeface="Segoe UI" pitchFamily="34" charset="0"/>
                <a:ea typeface="Segoe UI" pitchFamily="34" charset="-122"/>
                <a:cs typeface="Segoe UI" pitchFamily="34" charset="-120"/>
              </a:rPr>
              <a:t>/dk · Región Europe</a:t>
            </a:r>
            <a:endParaRPr lang="en-US" sz="1050" dirty="0"/>
          </a:p>
        </p:txBody>
      </p:sp>
      <p:sp>
        <p:nvSpPr>
          <p:cNvPr id="38" name="Text 21"/>
          <p:cNvSpPr txBox="1"/>
          <p:nvPr/>
        </p:nvSpPr>
        <p:spPr>
          <a:xfrm>
            <a:off x="9390888" y="5010912"/>
            <a:ext cx="1463040" cy="658368"/>
          </a:xfrm>
          <a:prstGeom prst="rect">
            <a:avLst/>
          </a:prstGeom>
          <a:noFill/>
          <a:ln/>
        </p:spPr>
        <p:txBody>
          <a:bodyPr wrap="square" lIns="0" tIns="0" rIns="0" bIns="0" rtlCol="0" anchor="t"/>
          <a:lstStyle/>
          <a:p>
            <a:pPr indent="0" marL="0">
              <a:buNone/>
            </a:pPr>
            <a:r>
              <a:rPr lang="en-US" sz="3800" dirty="0">
                <a:solidFill>
                  <a:srgbClr val="0A4FB3"/>
                </a:solidFill>
                <a:latin typeface="Bebas Neue" pitchFamily="34" charset="0"/>
                <a:ea typeface="Bebas Neue" pitchFamily="34" charset="-122"/>
                <a:cs typeface="Bebas Neue" pitchFamily="34" charset="-120"/>
              </a:rPr>
              <a:t>54,00 €</a:t>
            </a:r>
            <a:endParaRPr lang="en-US" sz="3800" dirty="0"/>
          </a:p>
        </p:txBody>
      </p:sp>
      <p:pic>
        <p:nvPicPr>
          <p:cNvPr id="39" name="Image 15" descr="C:\Users\AlexAmaze\AppData\Local\Temp\claude\C--My-Files-repos-supaday-ecommerce\b329a27c-f2be-420c-b170-4436a9ee7093\scratchpad\ppt\assets\gen\g-66x34-17.png">    </p:cNvPr>
          <p:cNvPicPr>
            <a:picLocks noChangeAspect="1"/>
          </p:cNvPicPr>
          <p:nvPr/>
        </p:nvPicPr>
        <p:blipFill>
          <a:blip r:embed="rId17"/>
          <a:stretch>
            <a:fillRect/>
          </a:stretch>
        </p:blipFill>
        <p:spPr>
          <a:xfrm>
            <a:off x="10817352" y="5175504"/>
            <a:ext cx="603504" cy="310896"/>
          </a:xfrm>
          <a:prstGeom prst="rect">
            <a:avLst/>
          </a:prstGeom>
        </p:spPr>
      </p:pic>
      <p:sp>
        <p:nvSpPr>
          <p:cNvPr id="40" name="Text 22"/>
          <p:cNvSpPr txBox="1"/>
          <p:nvPr/>
        </p:nvSpPr>
        <p:spPr>
          <a:xfrm>
            <a:off x="10859597" y="5175504"/>
            <a:ext cx="519013"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EUR</a:t>
            </a:r>
            <a:endParaRPr lang="en-US" sz="1000" dirty="0"/>
          </a:p>
        </p:txBody>
      </p:sp>
      <p:sp>
        <p:nvSpPr>
          <p:cNvPr id="41" name="Text 23"/>
          <p:cNvSpPr txBox="1"/>
          <p:nvPr/>
        </p:nvSpPr>
        <p:spPr>
          <a:xfrm>
            <a:off x="6583680" y="6053328"/>
            <a:ext cx="5056632" cy="292608"/>
          </a:xfrm>
          <a:prstGeom prst="rect">
            <a:avLst/>
          </a:prstGeom>
          <a:noFill/>
          <a:ln/>
        </p:spPr>
        <p:txBody>
          <a:bodyPr wrap="square" lIns="0" tIns="0" rIns="0" bIns="0" rtlCol="0" anchor="t"/>
          <a:lstStyle/>
          <a:p>
            <a:pPr algn="ctr" indent="0" marL="0">
              <a:buNone/>
            </a:pPr>
            <a:r>
              <a:rPr lang="en-US" sz="1100" dirty="0">
                <a:solidFill>
                  <a:srgbClr val="56607E"/>
                </a:solidFill>
                <a:latin typeface="Segoe UI" pitchFamily="34" charset="0"/>
                <a:ea typeface="Segoe UI" pitchFamily="34" charset="-122"/>
                <a:cs typeface="Segoe UI" pitchFamily="34" charset="-120"/>
              </a:rPr>
              <a:t>Mismo producto, misma base de datos: la región del carrito decide la moneda.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09 / 15   ·   CATÁLOGO</a:t>
            </a:r>
            <a:endParaRPr lang="en-US" sz="1000" dirty="0"/>
          </a:p>
        </p:txBody>
      </p:sp>
      <p:sp>
        <p:nvSpPr>
          <p:cNvPr id="5" name="Shape 2"/>
          <p:cNvSpPr/>
          <p:nvPr/>
        </p:nvSpPr>
        <p:spPr>
          <a:xfrm>
            <a:off x="548640" y="1005840"/>
            <a:ext cx="4548226"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4182466"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PRODUCTO PROPIO, BIEN CONFIGURADO</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EL MERCH AKLABS </a:t>
            </a:r>
            <a:pPr indent="0" marL="0">
              <a:buNone/>
            </a:pPr>
            <a:r>
              <a:rPr lang="en-US" sz="4600" spc="100" kern="0" dirty="0">
                <a:solidFill>
                  <a:srgbClr val="62CFF6"/>
                </a:solidFill>
                <a:latin typeface="Bebas Neue" pitchFamily="34" charset="0"/>
                <a:ea typeface="Bebas Neue" pitchFamily="34" charset="-122"/>
                <a:cs typeface="Bebas Neue" pitchFamily="34" charset="-120"/>
              </a:rPr>
              <a:t>EN LA BASE</a:t>
            </a:r>
            <a:endParaRPr lang="en-US" sz="4600" dirty="0"/>
          </a:p>
        </p:txBody>
      </p:sp>
      <p:sp>
        <p:nvSpPr>
          <p:cNvPr id="9" name="Shape 5"/>
          <p:cNvSpPr/>
          <p:nvPr/>
        </p:nvSpPr>
        <p:spPr>
          <a:xfrm>
            <a:off x="548640" y="2331720"/>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10" name="Image 2" descr="C:\Users\AlexAmaze\AppData\Local\Temp\claude\C--My-Files-repos-supaday-ecommerce\b329a27c-f2be-420c-b170-4436a9ee7093\scratchpad\ppt\assets\p-hoodie-black-front.png">    </p:cNvPr>
          <p:cNvPicPr>
            <a:picLocks noChangeAspect="1"/>
          </p:cNvPicPr>
          <p:nvPr/>
        </p:nvPicPr>
        <p:blipFill>
          <a:blip r:embed="rId4"/>
          <a:stretch>
            <a:fillRect/>
          </a:stretch>
        </p:blipFill>
        <p:spPr>
          <a:xfrm>
            <a:off x="676656" y="2459736"/>
            <a:ext cx="1024128" cy="1024128"/>
          </a:xfrm>
          <a:prstGeom prst="rect">
            <a:avLst/>
          </a:prstGeom>
        </p:spPr>
      </p:pic>
      <p:sp>
        <p:nvSpPr>
          <p:cNvPr id="11" name="Text 6"/>
          <p:cNvSpPr txBox="1"/>
          <p:nvPr/>
        </p:nvSpPr>
        <p:spPr>
          <a:xfrm>
            <a:off x="1810512" y="2514600"/>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HOODIES</a:t>
            </a:r>
            <a:endParaRPr lang="en-US" sz="850" dirty="0"/>
          </a:p>
        </p:txBody>
      </p:sp>
      <p:sp>
        <p:nvSpPr>
          <p:cNvPr id="12" name="Text 7"/>
          <p:cNvSpPr txBox="1"/>
          <p:nvPr/>
        </p:nvSpPr>
        <p:spPr>
          <a:xfrm>
            <a:off x="1810512" y="2788920"/>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$58 · 54 €</a:t>
            </a:r>
            <a:endParaRPr lang="en-US" sz="1200" dirty="0"/>
          </a:p>
        </p:txBody>
      </p:sp>
      <p:sp>
        <p:nvSpPr>
          <p:cNvPr id="13" name="Text 8"/>
          <p:cNvSpPr txBox="1"/>
          <p:nvPr/>
        </p:nvSpPr>
        <p:spPr>
          <a:xfrm>
            <a:off x="1810512" y="3118104"/>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8 variantes</a:t>
            </a:r>
            <a:endParaRPr lang="en-US" sz="1000" dirty="0"/>
          </a:p>
        </p:txBody>
      </p:sp>
      <p:sp>
        <p:nvSpPr>
          <p:cNvPr id="14" name="Text 9"/>
          <p:cNvSpPr txBox="1"/>
          <p:nvPr/>
        </p:nvSpPr>
        <p:spPr>
          <a:xfrm>
            <a:off x="694944" y="3593592"/>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Essential Hoodie</a:t>
            </a:r>
            <a:endParaRPr lang="en-US" sz="1250" dirty="0"/>
          </a:p>
        </p:txBody>
      </p:sp>
      <p:sp>
        <p:nvSpPr>
          <p:cNvPr id="15" name="Shape 10"/>
          <p:cNvSpPr/>
          <p:nvPr/>
        </p:nvSpPr>
        <p:spPr>
          <a:xfrm>
            <a:off x="3072384" y="2331720"/>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16" name="Image 3" descr="C:\Users\AlexAmaze\AppData\Local\Temp\claude\C--My-Files-repos-supaday-ecommerce\b329a27c-f2be-420c-b170-4436a9ee7093\scratchpad\ppt\assets\p-cap-navy-front.png">    </p:cNvPr>
          <p:cNvPicPr>
            <a:picLocks noChangeAspect="1"/>
          </p:cNvPicPr>
          <p:nvPr/>
        </p:nvPicPr>
        <p:blipFill>
          <a:blip r:embed="rId5"/>
          <a:stretch>
            <a:fillRect/>
          </a:stretch>
        </p:blipFill>
        <p:spPr>
          <a:xfrm>
            <a:off x="3200400" y="2459736"/>
            <a:ext cx="1024128" cy="1024128"/>
          </a:xfrm>
          <a:prstGeom prst="rect">
            <a:avLst/>
          </a:prstGeom>
        </p:spPr>
      </p:pic>
      <p:sp>
        <p:nvSpPr>
          <p:cNvPr id="17" name="Text 11"/>
          <p:cNvSpPr txBox="1"/>
          <p:nvPr/>
        </p:nvSpPr>
        <p:spPr>
          <a:xfrm>
            <a:off x="4334256" y="2514600"/>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GORRAS</a:t>
            </a:r>
            <a:endParaRPr lang="en-US" sz="850" dirty="0"/>
          </a:p>
        </p:txBody>
      </p:sp>
      <p:sp>
        <p:nvSpPr>
          <p:cNvPr id="18" name="Text 12"/>
          <p:cNvSpPr txBox="1"/>
          <p:nvPr/>
        </p:nvSpPr>
        <p:spPr>
          <a:xfrm>
            <a:off x="4334256" y="2788920"/>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$28 · 26 €</a:t>
            </a:r>
            <a:endParaRPr lang="en-US" sz="1200" dirty="0"/>
          </a:p>
        </p:txBody>
      </p:sp>
      <p:sp>
        <p:nvSpPr>
          <p:cNvPr id="19" name="Text 13"/>
          <p:cNvSpPr txBox="1"/>
          <p:nvPr/>
        </p:nvSpPr>
        <p:spPr>
          <a:xfrm>
            <a:off x="4334256" y="3118104"/>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2 variantes</a:t>
            </a:r>
            <a:endParaRPr lang="en-US" sz="1000" dirty="0"/>
          </a:p>
        </p:txBody>
      </p:sp>
      <p:sp>
        <p:nvSpPr>
          <p:cNvPr id="20" name="Text 14"/>
          <p:cNvSpPr txBox="1"/>
          <p:nvPr/>
        </p:nvSpPr>
        <p:spPr>
          <a:xfrm>
            <a:off x="3218688" y="3593592"/>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Pro Cap</a:t>
            </a:r>
            <a:endParaRPr lang="en-US" sz="1250" dirty="0"/>
          </a:p>
        </p:txBody>
      </p:sp>
      <p:sp>
        <p:nvSpPr>
          <p:cNvPr id="21" name="Shape 15"/>
          <p:cNvSpPr/>
          <p:nvPr/>
        </p:nvSpPr>
        <p:spPr>
          <a:xfrm>
            <a:off x="5596128" y="2331720"/>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22" name="Image 4" descr="C:\Users\AlexAmaze\AppData\Local\Temp\claude\C--My-Files-repos-supaday-ecommerce\b329a27c-f2be-420c-b170-4436a9ee7093\scratchpad\ppt\assets\p-tee-gray-front.png">    </p:cNvPr>
          <p:cNvPicPr>
            <a:picLocks noChangeAspect="1"/>
          </p:cNvPicPr>
          <p:nvPr/>
        </p:nvPicPr>
        <p:blipFill>
          <a:blip r:embed="rId6"/>
          <a:stretch>
            <a:fillRect/>
          </a:stretch>
        </p:blipFill>
        <p:spPr>
          <a:xfrm>
            <a:off x="5724144" y="2459736"/>
            <a:ext cx="1024128" cy="1024128"/>
          </a:xfrm>
          <a:prstGeom prst="rect">
            <a:avLst/>
          </a:prstGeom>
        </p:spPr>
      </p:pic>
      <p:sp>
        <p:nvSpPr>
          <p:cNvPr id="23" name="Text 16"/>
          <p:cNvSpPr txBox="1"/>
          <p:nvPr/>
        </p:nvSpPr>
        <p:spPr>
          <a:xfrm>
            <a:off x="6858000" y="2514600"/>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CAMISETAS</a:t>
            </a:r>
            <a:endParaRPr lang="en-US" sz="850" dirty="0"/>
          </a:p>
        </p:txBody>
      </p:sp>
      <p:sp>
        <p:nvSpPr>
          <p:cNvPr id="24" name="Text 17"/>
          <p:cNvSpPr txBox="1"/>
          <p:nvPr/>
        </p:nvSpPr>
        <p:spPr>
          <a:xfrm>
            <a:off x="6858000" y="2788920"/>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$26 · 24 €</a:t>
            </a:r>
            <a:endParaRPr lang="en-US" sz="1200" dirty="0"/>
          </a:p>
        </p:txBody>
      </p:sp>
      <p:sp>
        <p:nvSpPr>
          <p:cNvPr id="25" name="Text 18"/>
          <p:cNvSpPr txBox="1"/>
          <p:nvPr/>
        </p:nvSpPr>
        <p:spPr>
          <a:xfrm>
            <a:off x="6858000" y="3118104"/>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8 variantes</a:t>
            </a:r>
            <a:endParaRPr lang="en-US" sz="1000" dirty="0"/>
          </a:p>
        </p:txBody>
      </p:sp>
      <p:sp>
        <p:nvSpPr>
          <p:cNvPr id="26" name="Text 19"/>
          <p:cNvSpPr txBox="1"/>
          <p:nvPr/>
        </p:nvSpPr>
        <p:spPr>
          <a:xfrm>
            <a:off x="5742432" y="3593592"/>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Tech Tee</a:t>
            </a:r>
            <a:endParaRPr lang="en-US" sz="1250" dirty="0"/>
          </a:p>
        </p:txBody>
      </p:sp>
      <p:sp>
        <p:nvSpPr>
          <p:cNvPr id="27" name="Shape 20"/>
          <p:cNvSpPr/>
          <p:nvPr/>
        </p:nvSpPr>
        <p:spPr>
          <a:xfrm>
            <a:off x="548640" y="4379976"/>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28" name="Image 5" descr="C:\Users\AlexAmaze\AppData\Local\Temp\claude\C--My-Files-repos-supaday-ecommerce\b329a27c-f2be-420c-b170-4436a9ee7093\scratchpad\ppt\assets\p-joggers-charcoal.png">    </p:cNvPr>
          <p:cNvPicPr>
            <a:picLocks noChangeAspect="1"/>
          </p:cNvPicPr>
          <p:nvPr/>
        </p:nvPicPr>
        <p:blipFill>
          <a:blip r:embed="rId7"/>
          <a:stretch>
            <a:fillRect/>
          </a:stretch>
        </p:blipFill>
        <p:spPr>
          <a:xfrm>
            <a:off x="676656" y="4507992"/>
            <a:ext cx="1024128" cy="1024128"/>
          </a:xfrm>
          <a:prstGeom prst="rect">
            <a:avLst/>
          </a:prstGeom>
        </p:spPr>
      </p:pic>
      <p:sp>
        <p:nvSpPr>
          <p:cNvPr id="29" name="Text 21"/>
          <p:cNvSpPr txBox="1"/>
          <p:nvPr/>
        </p:nvSpPr>
        <p:spPr>
          <a:xfrm>
            <a:off x="1810512" y="4562856"/>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JOGGERS</a:t>
            </a:r>
            <a:endParaRPr lang="en-US" sz="850" dirty="0"/>
          </a:p>
        </p:txBody>
      </p:sp>
      <p:sp>
        <p:nvSpPr>
          <p:cNvPr id="30" name="Text 22"/>
          <p:cNvSpPr txBox="1"/>
          <p:nvPr/>
        </p:nvSpPr>
        <p:spPr>
          <a:xfrm>
            <a:off x="1810512" y="4837176"/>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$48 · 45 €</a:t>
            </a:r>
            <a:endParaRPr lang="en-US" sz="1200" dirty="0"/>
          </a:p>
        </p:txBody>
      </p:sp>
      <p:sp>
        <p:nvSpPr>
          <p:cNvPr id="31" name="Text 23"/>
          <p:cNvSpPr txBox="1"/>
          <p:nvPr/>
        </p:nvSpPr>
        <p:spPr>
          <a:xfrm>
            <a:off x="1810512" y="5166360"/>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8 variantes</a:t>
            </a:r>
            <a:endParaRPr lang="en-US" sz="1000" dirty="0"/>
          </a:p>
        </p:txBody>
      </p:sp>
      <p:sp>
        <p:nvSpPr>
          <p:cNvPr id="32" name="Text 24"/>
          <p:cNvSpPr txBox="1"/>
          <p:nvPr/>
        </p:nvSpPr>
        <p:spPr>
          <a:xfrm>
            <a:off x="694944" y="5641848"/>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Performance Joggers</a:t>
            </a:r>
            <a:endParaRPr lang="en-US" sz="1250" dirty="0"/>
          </a:p>
        </p:txBody>
      </p:sp>
      <p:sp>
        <p:nvSpPr>
          <p:cNvPr id="33" name="Shape 25"/>
          <p:cNvSpPr/>
          <p:nvPr/>
        </p:nvSpPr>
        <p:spPr>
          <a:xfrm>
            <a:off x="3072384" y="4379976"/>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34" name="Image 6" descr="C:\Users\AlexAmaze\AppData\Local\Temp\claude\C--My-Files-repos-supaday-ecommerce\b329a27c-f2be-420c-b170-4436a9ee7093\scratchpad\ppt\assets\p-thermo-black.png">    </p:cNvPr>
          <p:cNvPicPr>
            <a:picLocks noChangeAspect="1"/>
          </p:cNvPicPr>
          <p:nvPr/>
        </p:nvPicPr>
        <p:blipFill>
          <a:blip r:embed="rId8"/>
          <a:stretch>
            <a:fillRect/>
          </a:stretch>
        </p:blipFill>
        <p:spPr>
          <a:xfrm>
            <a:off x="3200400" y="4507992"/>
            <a:ext cx="1024128" cy="1024128"/>
          </a:xfrm>
          <a:prstGeom prst="rect">
            <a:avLst/>
          </a:prstGeom>
        </p:spPr>
      </p:pic>
      <p:sp>
        <p:nvSpPr>
          <p:cNvPr id="35" name="Text 26"/>
          <p:cNvSpPr txBox="1"/>
          <p:nvPr/>
        </p:nvSpPr>
        <p:spPr>
          <a:xfrm>
            <a:off x="4334256" y="4562856"/>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TERMOS</a:t>
            </a:r>
            <a:endParaRPr lang="en-US" sz="850" dirty="0"/>
          </a:p>
        </p:txBody>
      </p:sp>
      <p:sp>
        <p:nvSpPr>
          <p:cNvPr id="36" name="Text 27"/>
          <p:cNvSpPr txBox="1"/>
          <p:nvPr/>
        </p:nvSpPr>
        <p:spPr>
          <a:xfrm>
            <a:off x="4334256" y="4837176"/>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$34 · 32 €</a:t>
            </a:r>
            <a:endParaRPr lang="en-US" sz="1200" dirty="0"/>
          </a:p>
        </p:txBody>
      </p:sp>
      <p:sp>
        <p:nvSpPr>
          <p:cNvPr id="37" name="Text 28"/>
          <p:cNvSpPr txBox="1"/>
          <p:nvPr/>
        </p:nvSpPr>
        <p:spPr>
          <a:xfrm>
            <a:off x="4334256" y="5166360"/>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1 variante</a:t>
            </a:r>
            <a:endParaRPr lang="en-US" sz="1000" dirty="0"/>
          </a:p>
        </p:txBody>
      </p:sp>
      <p:sp>
        <p:nvSpPr>
          <p:cNvPr id="38" name="Text 29"/>
          <p:cNvSpPr txBox="1"/>
          <p:nvPr/>
        </p:nvSpPr>
        <p:spPr>
          <a:xfrm>
            <a:off x="3218688" y="5641848"/>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Steel Thermo 750 ml</a:t>
            </a:r>
            <a:endParaRPr lang="en-US" sz="1250" dirty="0"/>
          </a:p>
        </p:txBody>
      </p:sp>
      <p:sp>
        <p:nvSpPr>
          <p:cNvPr id="39" name="Shape 30"/>
          <p:cNvSpPr/>
          <p:nvPr/>
        </p:nvSpPr>
        <p:spPr>
          <a:xfrm>
            <a:off x="5596128" y="4379976"/>
            <a:ext cx="2340864" cy="1847088"/>
          </a:xfrm>
          <a:prstGeom prst="roundRect">
            <a:avLst>
              <a:gd name="adj" fmla="val 10891"/>
            </a:avLst>
          </a:prstGeom>
          <a:solidFill>
            <a:srgbClr val="FFFFFF">
              <a:alpha val="9000"/>
            </a:srgbClr>
          </a:solidFill>
          <a:ln w="12700">
            <a:solidFill>
              <a:srgbClr val="FFFFFF">
                <a:alpha val="24000"/>
              </a:srgbClr>
            </a:solidFill>
            <a:prstDash val="solid"/>
          </a:ln>
        </p:spPr>
      </p:sp>
      <p:pic>
        <p:nvPicPr>
          <p:cNvPr id="40" name="Image 7" descr="C:\Users\AlexAmaze\AppData\Local\Temp\claude\C--My-Files-repos-supaday-ecommerce\b329a27c-f2be-420c-b170-4436a9ee7093\scratchpad\ppt\assets\p-bottle-steel.png">    </p:cNvPr>
          <p:cNvPicPr>
            <a:picLocks noChangeAspect="1"/>
          </p:cNvPicPr>
          <p:nvPr/>
        </p:nvPicPr>
        <p:blipFill>
          <a:blip r:embed="rId9"/>
          <a:stretch>
            <a:fillRect/>
          </a:stretch>
        </p:blipFill>
        <p:spPr>
          <a:xfrm>
            <a:off x="5724144" y="4507992"/>
            <a:ext cx="1024128" cy="1024128"/>
          </a:xfrm>
          <a:prstGeom prst="rect">
            <a:avLst/>
          </a:prstGeom>
        </p:spPr>
      </p:pic>
      <p:sp>
        <p:nvSpPr>
          <p:cNvPr id="41" name="Text 31"/>
          <p:cNvSpPr txBox="1"/>
          <p:nvPr/>
        </p:nvSpPr>
        <p:spPr>
          <a:xfrm>
            <a:off x="6858000" y="4562856"/>
            <a:ext cx="1005840" cy="228600"/>
          </a:xfrm>
          <a:prstGeom prst="rect">
            <a:avLst/>
          </a:prstGeom>
          <a:noFill/>
          <a:ln/>
        </p:spPr>
        <p:txBody>
          <a:bodyPr wrap="square" lIns="0" tIns="0" rIns="0" bIns="0" rtlCol="0" anchor="t"/>
          <a:lstStyle/>
          <a:p>
            <a:pPr indent="0" marL="0">
              <a:buNone/>
            </a:pPr>
            <a:r>
              <a:rPr lang="en-US" sz="850" spc="100" kern="0" dirty="0">
                <a:solidFill>
                  <a:srgbClr val="62CFF6"/>
                </a:solidFill>
                <a:latin typeface="Segoe UI Semibold" pitchFamily="34" charset="0"/>
                <a:ea typeface="Segoe UI Semibold" pitchFamily="34" charset="-122"/>
                <a:cs typeface="Segoe UI Semibold" pitchFamily="34" charset="-120"/>
              </a:rPr>
              <a:t>TERMOS</a:t>
            </a:r>
            <a:endParaRPr lang="en-US" sz="850" dirty="0"/>
          </a:p>
        </p:txBody>
      </p:sp>
      <p:sp>
        <p:nvSpPr>
          <p:cNvPr id="42" name="Text 32"/>
          <p:cNvSpPr txBox="1"/>
          <p:nvPr/>
        </p:nvSpPr>
        <p:spPr>
          <a:xfrm>
            <a:off x="6858000" y="4837176"/>
            <a:ext cx="1024128" cy="320040"/>
          </a:xfrm>
          <a:prstGeom prst="rect">
            <a:avLst/>
          </a:prstGeom>
          <a:noFill/>
          <a:ln/>
        </p:spPr>
        <p:txBody>
          <a:bodyPr wrap="square" lIns="0" tIns="0" rIns="0" bIns="0" rtlCol="0" anchor="t"/>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$36 · 34 €</a:t>
            </a:r>
            <a:endParaRPr lang="en-US" sz="1200" dirty="0"/>
          </a:p>
        </p:txBody>
      </p:sp>
      <p:sp>
        <p:nvSpPr>
          <p:cNvPr id="43" name="Text 33"/>
          <p:cNvSpPr txBox="1"/>
          <p:nvPr/>
        </p:nvSpPr>
        <p:spPr>
          <a:xfrm>
            <a:off x="6858000" y="5166360"/>
            <a:ext cx="1024128" cy="274320"/>
          </a:xfrm>
          <a:prstGeom prst="rect">
            <a:avLst/>
          </a:prstGeom>
          <a:noFill/>
          <a:ln/>
        </p:spPr>
        <p:txBody>
          <a:bodyPr wrap="square" lIns="0" tIns="0" rIns="0" bIns="0" rtlCol="0" anchor="t"/>
          <a:lstStyle/>
          <a:p>
            <a:pPr indent="0" marL="0">
              <a:buNone/>
            </a:pPr>
            <a:r>
              <a:rPr lang="en-US" sz="1000" dirty="0">
                <a:solidFill>
                  <a:srgbClr val="C9D2EE"/>
                </a:solidFill>
                <a:latin typeface="Segoe UI" pitchFamily="34" charset="0"/>
                <a:ea typeface="Segoe UI" pitchFamily="34" charset="-122"/>
                <a:cs typeface="Segoe UI" pitchFamily="34" charset="-120"/>
              </a:rPr>
              <a:t>1 variante</a:t>
            </a:r>
            <a:endParaRPr lang="en-US" sz="1000" dirty="0"/>
          </a:p>
        </p:txBody>
      </p:sp>
      <p:sp>
        <p:nvSpPr>
          <p:cNvPr id="44" name="Text 34"/>
          <p:cNvSpPr txBox="1"/>
          <p:nvPr/>
        </p:nvSpPr>
        <p:spPr>
          <a:xfrm>
            <a:off x="5742432" y="5641848"/>
            <a:ext cx="2066544"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Insulated Bottle 1 L</a:t>
            </a:r>
            <a:endParaRPr lang="en-US" sz="1250" dirty="0"/>
          </a:p>
        </p:txBody>
      </p:sp>
      <p:sp>
        <p:nvSpPr>
          <p:cNvPr id="45" name="Shape 35"/>
          <p:cNvSpPr/>
          <p:nvPr/>
        </p:nvSpPr>
        <p:spPr>
          <a:xfrm>
            <a:off x="8183880" y="2331720"/>
            <a:ext cx="3456432" cy="3895344"/>
          </a:xfrm>
          <a:prstGeom prst="roundRect">
            <a:avLst>
              <a:gd name="adj" fmla="val 6349"/>
            </a:avLst>
          </a:prstGeom>
          <a:solidFill>
            <a:srgbClr val="FFFFFF">
              <a:alpha val="9000"/>
            </a:srgbClr>
          </a:solidFill>
          <a:ln w="12700">
            <a:solidFill>
              <a:srgbClr val="FFFFFF">
                <a:alpha val="24000"/>
              </a:srgbClr>
            </a:solidFill>
            <a:prstDash val="solid"/>
          </a:ln>
        </p:spPr>
      </p:sp>
      <p:sp>
        <p:nvSpPr>
          <p:cNvPr id="46" name="Text 36"/>
          <p:cNvSpPr txBox="1"/>
          <p:nvPr/>
        </p:nvSpPr>
        <p:spPr>
          <a:xfrm>
            <a:off x="8412480" y="2514600"/>
            <a:ext cx="3017520" cy="347472"/>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Cada producto tiene</a:t>
            </a:r>
            <a:endParaRPr lang="en-US" sz="1500" dirty="0"/>
          </a:p>
        </p:txBody>
      </p:sp>
      <p:pic>
        <p:nvPicPr>
          <p:cNvPr id="47" name="Image 8" descr="C:\Users\AlexAmaze\AppData\Local\Temp\claude\C--My-Files-repos-supaday-ecommerce\b329a27c-f2be-420c-b170-4436a9ee7093\scratchpad\ppt\assets\icons\check-s.png">    </p:cNvPr>
          <p:cNvPicPr>
            <a:picLocks noChangeAspect="1"/>
          </p:cNvPicPr>
          <p:nvPr/>
        </p:nvPicPr>
        <p:blipFill>
          <a:blip r:embed="rId10"/>
          <a:stretch>
            <a:fillRect/>
          </a:stretch>
        </p:blipFill>
        <p:spPr>
          <a:xfrm>
            <a:off x="8412480" y="3026664"/>
            <a:ext cx="219456" cy="219456"/>
          </a:xfrm>
          <a:prstGeom prst="rect">
            <a:avLst/>
          </a:prstGeom>
        </p:spPr>
      </p:pic>
      <p:sp>
        <p:nvSpPr>
          <p:cNvPr id="48" name="Text 37"/>
          <p:cNvSpPr txBox="1"/>
          <p:nvPr/>
        </p:nvSpPr>
        <p:spPr>
          <a:xfrm>
            <a:off x="8741664" y="2999232"/>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Variantes con SKU</a:t>
            </a:r>
            <a:endParaRPr lang="en-US" sz="1200" dirty="0"/>
          </a:p>
        </p:txBody>
      </p:sp>
      <p:pic>
        <p:nvPicPr>
          <p:cNvPr id="49" name="Image 9" descr="C:\Users\AlexAmaze\AppData\Local\Temp\claude\C--My-Files-repos-supaday-ecommerce\b329a27c-f2be-420c-b170-4436a9ee7093\scratchpad\ppt\assets\icons\check-s.png">    </p:cNvPr>
          <p:cNvPicPr>
            <a:picLocks noChangeAspect="1"/>
          </p:cNvPicPr>
          <p:nvPr/>
        </p:nvPicPr>
        <p:blipFill>
          <a:blip r:embed="rId11"/>
          <a:stretch>
            <a:fillRect/>
          </a:stretch>
        </p:blipFill>
        <p:spPr>
          <a:xfrm>
            <a:off x="8412480" y="3429000"/>
            <a:ext cx="219456" cy="219456"/>
          </a:xfrm>
          <a:prstGeom prst="rect">
            <a:avLst/>
          </a:prstGeom>
        </p:spPr>
      </p:pic>
      <p:sp>
        <p:nvSpPr>
          <p:cNvPr id="50" name="Text 38"/>
          <p:cNvSpPr txBox="1"/>
          <p:nvPr/>
        </p:nvSpPr>
        <p:spPr>
          <a:xfrm>
            <a:off x="8741664" y="3401568"/>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Inventario: 500 u. por variante</a:t>
            </a:r>
            <a:endParaRPr lang="en-US" sz="1200" dirty="0"/>
          </a:p>
        </p:txBody>
      </p:sp>
      <p:pic>
        <p:nvPicPr>
          <p:cNvPr id="51" name="Image 10" descr="C:\Users\AlexAmaze\AppData\Local\Temp\claude\C--My-Files-repos-supaday-ecommerce\b329a27c-f2be-420c-b170-4436a9ee7093\scratchpad\ppt\assets\icons\check-s.png">    </p:cNvPr>
          <p:cNvPicPr>
            <a:picLocks noChangeAspect="1"/>
          </p:cNvPicPr>
          <p:nvPr/>
        </p:nvPicPr>
        <p:blipFill>
          <a:blip r:embed="rId12"/>
          <a:stretch>
            <a:fillRect/>
          </a:stretch>
        </p:blipFill>
        <p:spPr>
          <a:xfrm>
            <a:off x="8412480" y="3831336"/>
            <a:ext cx="219456" cy="219456"/>
          </a:xfrm>
          <a:prstGeom prst="rect">
            <a:avLst/>
          </a:prstGeom>
        </p:spPr>
      </p:pic>
      <p:sp>
        <p:nvSpPr>
          <p:cNvPr id="52" name="Text 39"/>
          <p:cNvSpPr txBox="1"/>
          <p:nvPr/>
        </p:nvSpPr>
        <p:spPr>
          <a:xfrm>
            <a:off x="8741664" y="3803904"/>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Precio en USD y en EUR</a:t>
            </a:r>
            <a:endParaRPr lang="en-US" sz="1200" dirty="0"/>
          </a:p>
        </p:txBody>
      </p:sp>
      <p:pic>
        <p:nvPicPr>
          <p:cNvPr id="53" name="Image 11" descr="C:\Users\AlexAmaze\AppData\Local\Temp\claude\C--My-Files-repos-supaday-ecommerce\b329a27c-f2be-420c-b170-4436a9ee7093\scratchpad\ppt\assets\icons\check-s.png">    </p:cNvPr>
          <p:cNvPicPr>
            <a:picLocks noChangeAspect="1"/>
          </p:cNvPicPr>
          <p:nvPr/>
        </p:nvPicPr>
        <p:blipFill>
          <a:blip r:embed="rId13"/>
          <a:stretch>
            <a:fillRect/>
          </a:stretch>
        </p:blipFill>
        <p:spPr>
          <a:xfrm>
            <a:off x="8412480" y="4233672"/>
            <a:ext cx="219456" cy="219456"/>
          </a:xfrm>
          <a:prstGeom prst="rect">
            <a:avLst/>
          </a:prstGeom>
        </p:spPr>
      </p:pic>
      <p:sp>
        <p:nvSpPr>
          <p:cNvPr id="54" name="Text 40"/>
          <p:cNvSpPr txBox="1"/>
          <p:nvPr/>
        </p:nvSpPr>
        <p:spPr>
          <a:xfrm>
            <a:off x="8741664" y="420624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Imágenes propias</a:t>
            </a:r>
            <a:endParaRPr lang="en-US" sz="1200" dirty="0"/>
          </a:p>
        </p:txBody>
      </p:sp>
      <p:pic>
        <p:nvPicPr>
          <p:cNvPr id="55" name="Image 12" descr="C:\Users\AlexAmaze\AppData\Local\Temp\claude\C--My-Files-repos-supaday-ecommerce\b329a27c-f2be-420c-b170-4436a9ee7093\scratchpad\ppt\assets\icons\check-s.png">    </p:cNvPr>
          <p:cNvPicPr>
            <a:picLocks noChangeAspect="1"/>
          </p:cNvPicPr>
          <p:nvPr/>
        </p:nvPicPr>
        <p:blipFill>
          <a:blip r:embed="rId14"/>
          <a:stretch>
            <a:fillRect/>
          </a:stretch>
        </p:blipFill>
        <p:spPr>
          <a:xfrm>
            <a:off x="8412480" y="4636008"/>
            <a:ext cx="219456" cy="219456"/>
          </a:xfrm>
          <a:prstGeom prst="rect">
            <a:avLst/>
          </a:prstGeom>
        </p:spPr>
      </p:pic>
      <p:sp>
        <p:nvSpPr>
          <p:cNvPr id="56" name="Text 41"/>
          <p:cNvSpPr txBox="1"/>
          <p:nvPr/>
        </p:nvSpPr>
        <p:spPr>
          <a:xfrm>
            <a:off x="8741664" y="4608576"/>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Categoría, material y peso</a:t>
            </a:r>
            <a:endParaRPr lang="en-US" sz="1200" dirty="0"/>
          </a:p>
        </p:txBody>
      </p:sp>
      <p:pic>
        <p:nvPicPr>
          <p:cNvPr id="57" name="Image 13" descr="C:\Users\AlexAmaze\AppData\Local\Temp\claude\C--My-Files-repos-supaday-ecommerce\b329a27c-f2be-420c-b170-4436a9ee7093\scratchpad\ppt\assets\icons\check-s.png">    </p:cNvPr>
          <p:cNvPicPr>
            <a:picLocks noChangeAspect="1"/>
          </p:cNvPicPr>
          <p:nvPr/>
        </p:nvPicPr>
        <p:blipFill>
          <a:blip r:embed="rId15"/>
          <a:stretch>
            <a:fillRect/>
          </a:stretch>
        </p:blipFill>
        <p:spPr>
          <a:xfrm>
            <a:off x="8412480" y="5038344"/>
            <a:ext cx="219456" cy="219456"/>
          </a:xfrm>
          <a:prstGeom prst="rect">
            <a:avLst/>
          </a:prstGeom>
        </p:spPr>
      </p:pic>
      <p:sp>
        <p:nvSpPr>
          <p:cNvPr id="58" name="Text 42"/>
          <p:cNvSpPr txBox="1"/>
          <p:nvPr/>
        </p:nvSpPr>
        <p:spPr>
          <a:xfrm>
            <a:off x="8741664" y="5010912"/>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Canal de venta publicado</a:t>
            </a:r>
            <a:endParaRPr lang="en-US" sz="1200" dirty="0"/>
          </a:p>
        </p:txBody>
      </p:sp>
      <p:pic>
        <p:nvPicPr>
          <p:cNvPr id="59" name="Image 14" descr="C:\Users\AlexAmaze\AppData\Local\Temp\claude\C--My-Files-repos-supaday-ecommerce\b329a27c-f2be-420c-b170-4436a9ee7093\scratchpad\ppt\assets\gen\g-328x50-25.png">    </p:cNvPr>
          <p:cNvPicPr>
            <a:picLocks noChangeAspect="1"/>
          </p:cNvPicPr>
          <p:nvPr/>
        </p:nvPicPr>
        <p:blipFill>
          <a:blip r:embed="rId16"/>
          <a:stretch>
            <a:fillRect/>
          </a:stretch>
        </p:blipFill>
        <p:spPr>
          <a:xfrm>
            <a:off x="8412480" y="5532120"/>
            <a:ext cx="2999232" cy="457200"/>
          </a:xfrm>
          <a:prstGeom prst="rect">
            <a:avLst/>
          </a:prstGeom>
        </p:spPr>
      </p:pic>
      <p:sp>
        <p:nvSpPr>
          <p:cNvPr id="60" name="Text 43"/>
          <p:cNvSpPr txBox="1"/>
          <p:nvPr/>
        </p:nvSpPr>
        <p:spPr>
          <a:xfrm>
            <a:off x="8622426" y="5532120"/>
            <a:ext cx="257934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pnpm seed  ·  idempotente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10 / 15   ·   STOREFRONT</a:t>
            </a:r>
            <a:endParaRPr lang="en-US" sz="1000" dirty="0"/>
          </a:p>
        </p:txBody>
      </p:sp>
      <p:sp>
        <p:nvSpPr>
          <p:cNvPr id="5" name="Shape 2"/>
          <p:cNvSpPr/>
          <p:nvPr/>
        </p:nvSpPr>
        <p:spPr>
          <a:xfrm>
            <a:off x="548640" y="1005840"/>
            <a:ext cx="2207362"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1841602"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DISEÑO PROPIO</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LIQUID GLASS CON </a:t>
            </a:r>
            <a:pPr indent="0" marL="0">
              <a:buNone/>
            </a:pPr>
            <a:r>
              <a:rPr lang="en-US" sz="4600" spc="100" kern="0" dirty="0">
                <a:solidFill>
                  <a:srgbClr val="E3161F"/>
                </a:solidFill>
                <a:latin typeface="Bebas Neue" pitchFamily="34" charset="0"/>
                <a:ea typeface="Bebas Neue" pitchFamily="34" charset="-122"/>
                <a:cs typeface="Bebas Neue" pitchFamily="34" charset="-120"/>
              </a:rPr>
              <a:t>LA IDENTIDAD AK</a:t>
            </a:r>
            <a:endParaRPr lang="en-US" sz="4600" dirty="0"/>
          </a:p>
        </p:txBody>
      </p:sp>
      <p:sp>
        <p:nvSpPr>
          <p:cNvPr id="9" name="Shape 5"/>
          <p:cNvSpPr/>
          <p:nvPr/>
        </p:nvSpPr>
        <p:spPr>
          <a:xfrm>
            <a:off x="548640" y="2331720"/>
            <a:ext cx="5102352" cy="3456432"/>
          </a:xfrm>
          <a:prstGeom prst="roundRect">
            <a:avLst>
              <a:gd name="adj" fmla="val 5820"/>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0" name="Image 2" descr="C:\Users\AlexAmaze\AppData\Local\Temp\claude\C--My-Files-repos-supaday-ecommerce\b329a27c-f2be-420c-b170-4436a9ee7093\scratchpad\ppt\assets\shot-home.png">    </p:cNvPr>
          <p:cNvPicPr>
            <a:picLocks noChangeAspect="1"/>
          </p:cNvPicPr>
          <p:nvPr/>
        </p:nvPicPr>
        <p:blipFill>
          <a:blip r:embed="rId4"/>
          <a:stretch>
            <a:fillRect/>
          </a:stretch>
        </p:blipFill>
        <p:spPr>
          <a:xfrm>
            <a:off x="630936" y="2414016"/>
            <a:ext cx="4937760" cy="3291840"/>
          </a:xfrm>
          <a:prstGeom prst="rect">
            <a:avLst/>
          </a:prstGeom>
        </p:spPr>
      </p:pic>
      <p:sp>
        <p:nvSpPr>
          <p:cNvPr id="11" name="Shape 6"/>
          <p:cNvSpPr/>
          <p:nvPr/>
        </p:nvSpPr>
        <p:spPr>
          <a:xfrm>
            <a:off x="5815584" y="2331720"/>
            <a:ext cx="3017520" cy="1947672"/>
          </a:xfrm>
          <a:prstGeom prst="roundRect">
            <a:avLst>
              <a:gd name="adj" fmla="val 10329"/>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2" name="Image 3" descr="C:\Users\AlexAmaze\AppData\Local\Temp\claude\C--My-Files-repos-supaday-ecommerce\b329a27c-f2be-420c-b170-4436a9ee7093\scratchpad\ppt\assets\shot-product.png">    </p:cNvPr>
          <p:cNvPicPr>
            <a:picLocks noChangeAspect="1"/>
          </p:cNvPicPr>
          <p:nvPr/>
        </p:nvPicPr>
        <p:blipFill>
          <a:blip r:embed="rId5"/>
          <a:stretch>
            <a:fillRect/>
          </a:stretch>
        </p:blipFill>
        <p:spPr>
          <a:xfrm>
            <a:off x="5897880" y="2414016"/>
            <a:ext cx="2852928" cy="1783080"/>
          </a:xfrm>
          <a:prstGeom prst="rect">
            <a:avLst/>
          </a:prstGeom>
        </p:spPr>
      </p:pic>
      <p:sp>
        <p:nvSpPr>
          <p:cNvPr id="13" name="Shape 7"/>
          <p:cNvSpPr/>
          <p:nvPr/>
        </p:nvSpPr>
        <p:spPr>
          <a:xfrm>
            <a:off x="5815584" y="4443984"/>
            <a:ext cx="2450592" cy="1926717"/>
          </a:xfrm>
          <a:prstGeom prst="roundRect">
            <a:avLst>
              <a:gd name="adj" fmla="val 10441"/>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4" name="Image 4" descr="C:\Users\AlexAmaze\AppData\Local\Temp\claude\C--My-Files-repos-supaday-ecommerce\b329a27c-f2be-420c-b170-4436a9ee7093\scratchpad\ppt\assets\shot-checkout.png">    </p:cNvPr>
          <p:cNvPicPr>
            <a:picLocks noChangeAspect="1"/>
          </p:cNvPicPr>
          <p:nvPr/>
        </p:nvPicPr>
        <p:blipFill>
          <a:blip r:embed="rId6"/>
          <a:stretch>
            <a:fillRect/>
          </a:stretch>
        </p:blipFill>
        <p:spPr>
          <a:xfrm>
            <a:off x="5897880" y="4526280"/>
            <a:ext cx="2286000" cy="1762125"/>
          </a:xfrm>
          <a:prstGeom prst="rect">
            <a:avLst/>
          </a:prstGeom>
        </p:spPr>
      </p:pic>
      <p:sp>
        <p:nvSpPr>
          <p:cNvPr id="15" name="Shape 8"/>
          <p:cNvSpPr/>
          <p:nvPr/>
        </p:nvSpPr>
        <p:spPr>
          <a:xfrm>
            <a:off x="777240" y="5248656"/>
            <a:ext cx="1051560" cy="310896"/>
          </a:xfrm>
          <a:prstGeom prst="roundRect">
            <a:avLst>
              <a:gd name="adj" fmla="val 50000"/>
            </a:avLst>
          </a:prstGeom>
          <a:solidFill>
            <a:srgbClr val="0A1033">
              <a:alpha val="90000"/>
            </a:srgbClr>
          </a:solidFill>
          <a:ln w="6350">
            <a:solidFill>
              <a:srgbClr val="0A1033"/>
            </a:solidFill>
            <a:prstDash val="solid"/>
          </a:ln>
        </p:spPr>
      </p:sp>
      <p:sp>
        <p:nvSpPr>
          <p:cNvPr id="16" name="Text 9"/>
          <p:cNvSpPr txBox="1"/>
          <p:nvPr/>
        </p:nvSpPr>
        <p:spPr>
          <a:xfrm>
            <a:off x="777240" y="5248656"/>
            <a:ext cx="105156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Segoe UI Semibold" pitchFamily="34" charset="0"/>
                <a:ea typeface="Segoe UI Semibold" pitchFamily="34" charset="-122"/>
                <a:cs typeface="Segoe UI Semibold" pitchFamily="34" charset="-120"/>
              </a:rPr>
              <a:t>Home</a:t>
            </a:r>
            <a:endParaRPr lang="en-US" sz="1050" dirty="0"/>
          </a:p>
        </p:txBody>
      </p:sp>
      <p:sp>
        <p:nvSpPr>
          <p:cNvPr id="17" name="Shape 10"/>
          <p:cNvSpPr/>
          <p:nvPr/>
        </p:nvSpPr>
        <p:spPr>
          <a:xfrm>
            <a:off x="6035040" y="3739896"/>
            <a:ext cx="1051560" cy="310896"/>
          </a:xfrm>
          <a:prstGeom prst="roundRect">
            <a:avLst>
              <a:gd name="adj" fmla="val 50000"/>
            </a:avLst>
          </a:prstGeom>
          <a:solidFill>
            <a:srgbClr val="0A1033">
              <a:alpha val="90000"/>
            </a:srgbClr>
          </a:solidFill>
          <a:ln w="6350">
            <a:solidFill>
              <a:srgbClr val="0A1033"/>
            </a:solidFill>
            <a:prstDash val="solid"/>
          </a:ln>
        </p:spPr>
      </p:sp>
      <p:sp>
        <p:nvSpPr>
          <p:cNvPr id="18" name="Text 11"/>
          <p:cNvSpPr txBox="1"/>
          <p:nvPr/>
        </p:nvSpPr>
        <p:spPr>
          <a:xfrm>
            <a:off x="6035040" y="3739896"/>
            <a:ext cx="105156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Segoe UI Semibold" pitchFamily="34" charset="0"/>
                <a:ea typeface="Segoe UI Semibold" pitchFamily="34" charset="-122"/>
                <a:cs typeface="Segoe UI Semibold" pitchFamily="34" charset="-120"/>
              </a:rPr>
              <a:t>Producto</a:t>
            </a:r>
            <a:endParaRPr lang="en-US" sz="1050" dirty="0"/>
          </a:p>
        </p:txBody>
      </p:sp>
      <p:sp>
        <p:nvSpPr>
          <p:cNvPr id="19" name="Shape 12"/>
          <p:cNvSpPr/>
          <p:nvPr/>
        </p:nvSpPr>
        <p:spPr>
          <a:xfrm>
            <a:off x="6035040" y="5831205"/>
            <a:ext cx="1051560" cy="310896"/>
          </a:xfrm>
          <a:prstGeom prst="roundRect">
            <a:avLst>
              <a:gd name="adj" fmla="val 50000"/>
            </a:avLst>
          </a:prstGeom>
          <a:solidFill>
            <a:srgbClr val="0A1033">
              <a:alpha val="90000"/>
            </a:srgbClr>
          </a:solidFill>
          <a:ln w="6350">
            <a:solidFill>
              <a:srgbClr val="0A1033"/>
            </a:solidFill>
            <a:prstDash val="solid"/>
          </a:ln>
        </p:spPr>
      </p:sp>
      <p:sp>
        <p:nvSpPr>
          <p:cNvPr id="20" name="Text 13"/>
          <p:cNvSpPr txBox="1"/>
          <p:nvPr/>
        </p:nvSpPr>
        <p:spPr>
          <a:xfrm>
            <a:off x="6035040" y="5831205"/>
            <a:ext cx="105156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Segoe UI Semibold" pitchFamily="34" charset="0"/>
                <a:ea typeface="Segoe UI Semibold" pitchFamily="34" charset="-122"/>
                <a:cs typeface="Segoe UI Semibold" pitchFamily="34" charset="-120"/>
              </a:rPr>
              <a:t>Checkout</a:t>
            </a:r>
            <a:endParaRPr lang="en-US" sz="1050" dirty="0"/>
          </a:p>
        </p:txBody>
      </p:sp>
      <p:sp>
        <p:nvSpPr>
          <p:cNvPr id="21" name="Text 14"/>
          <p:cNvSpPr txBox="1"/>
          <p:nvPr/>
        </p:nvSpPr>
        <p:spPr>
          <a:xfrm>
            <a:off x="9326880" y="2414016"/>
            <a:ext cx="2313432" cy="274320"/>
          </a:xfrm>
          <a:prstGeom prst="rect">
            <a:avLst/>
          </a:prstGeom>
          <a:noFill/>
          <a:ln/>
        </p:spPr>
        <p:txBody>
          <a:bodyPr wrap="square" lIns="0" tIns="0" rIns="0" bIns="0" rtlCol="0" anchor="t"/>
          <a:lstStyle/>
          <a:p>
            <a:pPr indent="0" marL="0">
              <a:buNone/>
            </a:pPr>
            <a:r>
              <a:rPr lang="en-US" sz="1250" dirty="0">
                <a:solidFill>
                  <a:srgbClr val="0A1033"/>
                </a:solidFill>
                <a:latin typeface="Segoe UI Semibold" pitchFamily="34" charset="0"/>
                <a:ea typeface="Segoe UI Semibold" pitchFamily="34" charset="-122"/>
                <a:cs typeface="Segoe UI Semibold" pitchFamily="34" charset="-120"/>
              </a:rPr>
              <a:t>Paleta del monograma</a:t>
            </a:r>
            <a:endParaRPr lang="en-US" sz="1250" dirty="0"/>
          </a:p>
        </p:txBody>
      </p:sp>
      <p:sp>
        <p:nvSpPr>
          <p:cNvPr id="22" name="Shape 15"/>
          <p:cNvSpPr/>
          <p:nvPr/>
        </p:nvSpPr>
        <p:spPr>
          <a:xfrm>
            <a:off x="9326880" y="2788920"/>
            <a:ext cx="329184" cy="329184"/>
          </a:xfrm>
          <a:prstGeom prst="ellipse">
            <a:avLst/>
          </a:prstGeom>
          <a:solidFill>
            <a:srgbClr val="E3161F"/>
          </a:solidFill>
          <a:ln w="19050">
            <a:solidFill>
              <a:srgbClr val="FFFFFF"/>
            </a:solidFill>
            <a:prstDash val="solid"/>
          </a:ln>
        </p:spPr>
      </p:sp>
      <p:sp>
        <p:nvSpPr>
          <p:cNvPr id="23" name="Text 16"/>
          <p:cNvSpPr txBox="1"/>
          <p:nvPr/>
        </p:nvSpPr>
        <p:spPr>
          <a:xfrm>
            <a:off x="9784080" y="2788920"/>
            <a:ext cx="1920240" cy="329184"/>
          </a:xfrm>
          <a:prstGeom prst="rect">
            <a:avLst/>
          </a:prstGeom>
          <a:noFill/>
          <a:ln/>
        </p:spPr>
        <p:txBody>
          <a:bodyPr wrap="square" lIns="0" tIns="0" rIns="0" bIns="0" rtlCol="0" anchor="ctr"/>
          <a:lstStyle/>
          <a:p>
            <a:pPr indent="0" marL="0">
              <a:buNone/>
            </a:pPr>
            <a:r>
              <a:rPr lang="en-US" sz="1100" dirty="0">
                <a:solidFill>
                  <a:srgbClr val="0A1033"/>
                </a:solidFill>
                <a:latin typeface="Segoe UI Semibold" pitchFamily="34" charset="0"/>
                <a:ea typeface="Segoe UI Semibold" pitchFamily="34" charset="-122"/>
                <a:cs typeface="Segoe UI Semibold" pitchFamily="34" charset="-120"/>
              </a:rPr>
              <a:t>Rojo  </a:t>
            </a:r>
            <a:pPr indent="0" marL="0">
              <a:buNone/>
            </a:pPr>
            <a:r>
              <a:rPr lang="en-US" sz="1100" dirty="0">
                <a:solidFill>
                  <a:srgbClr val="56607E"/>
                </a:solidFill>
                <a:latin typeface="Consolas" pitchFamily="34" charset="0"/>
                <a:ea typeface="Consolas" pitchFamily="34" charset="-122"/>
                <a:cs typeface="Consolas" pitchFamily="34" charset="-120"/>
              </a:rPr>
              <a:t>#E3161F</a:t>
            </a:r>
            <a:endParaRPr lang="en-US" sz="1100" dirty="0"/>
          </a:p>
        </p:txBody>
      </p:sp>
      <p:sp>
        <p:nvSpPr>
          <p:cNvPr id="24" name="Shape 17"/>
          <p:cNvSpPr/>
          <p:nvPr/>
        </p:nvSpPr>
        <p:spPr>
          <a:xfrm>
            <a:off x="9326880" y="3246120"/>
            <a:ext cx="329184" cy="329184"/>
          </a:xfrm>
          <a:prstGeom prst="ellipse">
            <a:avLst/>
          </a:prstGeom>
          <a:solidFill>
            <a:srgbClr val="0B1ED8"/>
          </a:solidFill>
          <a:ln w="19050">
            <a:solidFill>
              <a:srgbClr val="FFFFFF"/>
            </a:solidFill>
            <a:prstDash val="solid"/>
          </a:ln>
        </p:spPr>
      </p:sp>
      <p:sp>
        <p:nvSpPr>
          <p:cNvPr id="25" name="Text 18"/>
          <p:cNvSpPr txBox="1"/>
          <p:nvPr/>
        </p:nvSpPr>
        <p:spPr>
          <a:xfrm>
            <a:off x="9784080" y="3246120"/>
            <a:ext cx="1920240" cy="329184"/>
          </a:xfrm>
          <a:prstGeom prst="rect">
            <a:avLst/>
          </a:prstGeom>
          <a:noFill/>
          <a:ln/>
        </p:spPr>
        <p:txBody>
          <a:bodyPr wrap="square" lIns="0" tIns="0" rIns="0" bIns="0" rtlCol="0" anchor="ctr"/>
          <a:lstStyle/>
          <a:p>
            <a:pPr indent="0" marL="0">
              <a:buNone/>
            </a:pPr>
            <a:r>
              <a:rPr lang="en-US" sz="1100" dirty="0">
                <a:solidFill>
                  <a:srgbClr val="0A1033"/>
                </a:solidFill>
                <a:latin typeface="Segoe UI Semibold" pitchFamily="34" charset="0"/>
                <a:ea typeface="Segoe UI Semibold" pitchFamily="34" charset="-122"/>
                <a:cs typeface="Segoe UI Semibold" pitchFamily="34" charset="-120"/>
              </a:rPr>
              <a:t>Azul  </a:t>
            </a:r>
            <a:pPr indent="0" marL="0">
              <a:buNone/>
            </a:pPr>
            <a:r>
              <a:rPr lang="en-US" sz="1100" dirty="0">
                <a:solidFill>
                  <a:srgbClr val="56607E"/>
                </a:solidFill>
                <a:latin typeface="Consolas" pitchFamily="34" charset="0"/>
                <a:ea typeface="Consolas" pitchFamily="34" charset="-122"/>
                <a:cs typeface="Consolas" pitchFamily="34" charset="-120"/>
              </a:rPr>
              <a:t>#0B1ED8</a:t>
            </a:r>
            <a:endParaRPr lang="en-US" sz="1100" dirty="0"/>
          </a:p>
        </p:txBody>
      </p:sp>
      <p:sp>
        <p:nvSpPr>
          <p:cNvPr id="26" name="Shape 19"/>
          <p:cNvSpPr/>
          <p:nvPr/>
        </p:nvSpPr>
        <p:spPr>
          <a:xfrm>
            <a:off x="9326880" y="3703320"/>
            <a:ext cx="329184" cy="329184"/>
          </a:xfrm>
          <a:prstGeom prst="ellipse">
            <a:avLst/>
          </a:prstGeom>
          <a:solidFill>
            <a:srgbClr val="12B5EA"/>
          </a:solidFill>
          <a:ln w="19050">
            <a:solidFill>
              <a:srgbClr val="FFFFFF"/>
            </a:solidFill>
            <a:prstDash val="solid"/>
          </a:ln>
        </p:spPr>
      </p:sp>
      <p:sp>
        <p:nvSpPr>
          <p:cNvPr id="27" name="Text 20"/>
          <p:cNvSpPr txBox="1"/>
          <p:nvPr/>
        </p:nvSpPr>
        <p:spPr>
          <a:xfrm>
            <a:off x="9784080" y="3703320"/>
            <a:ext cx="1920240" cy="329184"/>
          </a:xfrm>
          <a:prstGeom prst="rect">
            <a:avLst/>
          </a:prstGeom>
          <a:noFill/>
          <a:ln/>
        </p:spPr>
        <p:txBody>
          <a:bodyPr wrap="square" lIns="0" tIns="0" rIns="0" bIns="0" rtlCol="0" anchor="ctr"/>
          <a:lstStyle/>
          <a:p>
            <a:pPr indent="0" marL="0">
              <a:buNone/>
            </a:pPr>
            <a:r>
              <a:rPr lang="en-US" sz="1100" dirty="0">
                <a:solidFill>
                  <a:srgbClr val="0A1033"/>
                </a:solidFill>
                <a:latin typeface="Segoe UI Semibold" pitchFamily="34" charset="0"/>
                <a:ea typeface="Segoe UI Semibold" pitchFamily="34" charset="-122"/>
                <a:cs typeface="Segoe UI Semibold" pitchFamily="34" charset="-120"/>
              </a:rPr>
              <a:t>Celeste  </a:t>
            </a:r>
            <a:pPr indent="0" marL="0">
              <a:buNone/>
            </a:pPr>
            <a:r>
              <a:rPr lang="en-US" sz="1100" dirty="0">
                <a:solidFill>
                  <a:srgbClr val="56607E"/>
                </a:solidFill>
                <a:latin typeface="Consolas" pitchFamily="34" charset="0"/>
                <a:ea typeface="Consolas" pitchFamily="34" charset="-122"/>
                <a:cs typeface="Consolas" pitchFamily="34" charset="-120"/>
              </a:rPr>
              <a:t>#12B5EA</a:t>
            </a:r>
            <a:endParaRPr lang="en-US" sz="1100" dirty="0"/>
          </a:p>
        </p:txBody>
      </p:sp>
      <p:sp>
        <p:nvSpPr>
          <p:cNvPr id="28" name="Shape 21"/>
          <p:cNvSpPr/>
          <p:nvPr/>
        </p:nvSpPr>
        <p:spPr>
          <a:xfrm>
            <a:off x="9326880" y="4160520"/>
            <a:ext cx="329184" cy="329184"/>
          </a:xfrm>
          <a:prstGeom prst="ellipse">
            <a:avLst/>
          </a:prstGeom>
          <a:solidFill>
            <a:srgbClr val="060B2B"/>
          </a:solidFill>
          <a:ln w="19050">
            <a:solidFill>
              <a:srgbClr val="FFFFFF"/>
            </a:solidFill>
            <a:prstDash val="solid"/>
          </a:ln>
        </p:spPr>
      </p:sp>
      <p:sp>
        <p:nvSpPr>
          <p:cNvPr id="29" name="Text 22"/>
          <p:cNvSpPr txBox="1"/>
          <p:nvPr/>
        </p:nvSpPr>
        <p:spPr>
          <a:xfrm>
            <a:off x="9784080" y="4160520"/>
            <a:ext cx="1920240" cy="329184"/>
          </a:xfrm>
          <a:prstGeom prst="rect">
            <a:avLst/>
          </a:prstGeom>
          <a:noFill/>
          <a:ln/>
        </p:spPr>
        <p:txBody>
          <a:bodyPr wrap="square" lIns="0" tIns="0" rIns="0" bIns="0" rtlCol="0" anchor="ctr"/>
          <a:lstStyle/>
          <a:p>
            <a:pPr indent="0" marL="0">
              <a:buNone/>
            </a:pPr>
            <a:r>
              <a:rPr lang="en-US" sz="1100" dirty="0">
                <a:solidFill>
                  <a:srgbClr val="0A1033"/>
                </a:solidFill>
                <a:latin typeface="Segoe UI Semibold" pitchFamily="34" charset="0"/>
                <a:ea typeface="Segoe UI Semibold" pitchFamily="34" charset="-122"/>
                <a:cs typeface="Segoe UI Semibold" pitchFamily="34" charset="-120"/>
              </a:rPr>
              <a:t>Navy  </a:t>
            </a:r>
            <a:pPr indent="0" marL="0">
              <a:buNone/>
            </a:pPr>
            <a:r>
              <a:rPr lang="en-US" sz="1100" dirty="0">
                <a:solidFill>
                  <a:srgbClr val="56607E"/>
                </a:solidFill>
                <a:latin typeface="Consolas" pitchFamily="34" charset="0"/>
                <a:ea typeface="Consolas" pitchFamily="34" charset="-122"/>
                <a:cs typeface="Consolas" pitchFamily="34" charset="-120"/>
              </a:rPr>
              <a:t>#060B2B</a:t>
            </a:r>
            <a:endParaRPr lang="en-US" sz="1100" dirty="0"/>
          </a:p>
        </p:txBody>
      </p:sp>
      <p:sp>
        <p:nvSpPr>
          <p:cNvPr id="30" name="Text 23"/>
          <p:cNvSpPr txBox="1"/>
          <p:nvPr/>
        </p:nvSpPr>
        <p:spPr>
          <a:xfrm>
            <a:off x="9326880" y="4754880"/>
            <a:ext cx="2313432" cy="274320"/>
          </a:xfrm>
          <a:prstGeom prst="rect">
            <a:avLst/>
          </a:prstGeom>
          <a:noFill/>
          <a:ln/>
        </p:spPr>
        <p:txBody>
          <a:bodyPr wrap="square" lIns="0" tIns="0" rIns="0" bIns="0" rtlCol="0" anchor="t"/>
          <a:lstStyle/>
          <a:p>
            <a:pPr indent="0" marL="0">
              <a:buNone/>
            </a:pPr>
            <a:r>
              <a:rPr lang="en-US" sz="1250" dirty="0">
                <a:solidFill>
                  <a:srgbClr val="0A1033"/>
                </a:solidFill>
                <a:latin typeface="Segoe UI Semibold" pitchFamily="34" charset="0"/>
                <a:ea typeface="Segoe UI Semibold" pitchFamily="34" charset="-122"/>
                <a:cs typeface="Segoe UI Semibold" pitchFamily="34" charset="-120"/>
              </a:rPr>
              <a:t>Tipografía</a:t>
            </a:r>
            <a:endParaRPr lang="en-US" sz="1250" dirty="0"/>
          </a:p>
        </p:txBody>
      </p:sp>
      <p:sp>
        <p:nvSpPr>
          <p:cNvPr id="31" name="Text 24"/>
          <p:cNvSpPr txBox="1"/>
          <p:nvPr/>
        </p:nvSpPr>
        <p:spPr>
          <a:xfrm>
            <a:off x="9326880" y="5029200"/>
            <a:ext cx="2313432" cy="457200"/>
          </a:xfrm>
          <a:prstGeom prst="rect">
            <a:avLst/>
          </a:prstGeom>
          <a:noFill/>
          <a:ln/>
        </p:spPr>
        <p:txBody>
          <a:bodyPr wrap="square" lIns="0" tIns="0" rIns="0" bIns="0" rtlCol="0" anchor="t"/>
          <a:lstStyle/>
          <a:p>
            <a:pPr indent="0" marL="0">
              <a:buNone/>
            </a:pPr>
            <a:r>
              <a:rPr lang="en-US" sz="2800" dirty="0">
                <a:solidFill>
                  <a:srgbClr val="0B1ED8"/>
                </a:solidFill>
                <a:latin typeface="Bebas Neue" pitchFamily="34" charset="0"/>
                <a:ea typeface="Bebas Neue" pitchFamily="34" charset="-122"/>
                <a:cs typeface="Bebas Neue" pitchFamily="34" charset="-120"/>
              </a:rPr>
              <a:t>BEBAS NEUE</a:t>
            </a:r>
            <a:endParaRPr lang="en-US" sz="2800" dirty="0"/>
          </a:p>
        </p:txBody>
      </p:sp>
      <p:sp>
        <p:nvSpPr>
          <p:cNvPr id="32" name="Text 25"/>
          <p:cNvSpPr txBox="1"/>
          <p:nvPr/>
        </p:nvSpPr>
        <p:spPr>
          <a:xfrm>
            <a:off x="9326880" y="5504688"/>
            <a:ext cx="2313432" cy="640080"/>
          </a:xfrm>
          <a:prstGeom prst="rect">
            <a:avLst/>
          </a:prstGeom>
          <a:noFill/>
          <a:ln/>
        </p:spPr>
        <p:txBody>
          <a:bodyPr wrap="square" lIns="0" tIns="0" rIns="0" bIns="0" rtlCol="0" anchor="t"/>
          <a:lstStyle/>
          <a:p>
            <a:pPr indent="0" marL="0">
              <a:buNone/>
            </a:pPr>
            <a:r>
              <a:rPr lang="en-US" sz="1050" dirty="0">
                <a:solidFill>
                  <a:srgbClr val="56607E"/>
                </a:solidFill>
                <a:latin typeface="Segoe UI" pitchFamily="34" charset="0"/>
                <a:ea typeface="Segoe UI" pitchFamily="34" charset="-122"/>
                <a:cs typeface="Segoe UI" pitchFamily="34" charset="-120"/>
              </a:rPr>
              <a:t>Inter para el texto · glass, gradientes y fondos aurora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11 / 15   ·   DECISIONES</a:t>
            </a:r>
            <a:endParaRPr lang="en-US" sz="1000" dirty="0"/>
          </a:p>
        </p:txBody>
      </p:sp>
      <p:sp>
        <p:nvSpPr>
          <p:cNvPr id="5" name="Shape 2"/>
          <p:cNvSpPr/>
          <p:nvPr/>
        </p:nvSpPr>
        <p:spPr>
          <a:xfrm>
            <a:off x="548640" y="1005840"/>
            <a:ext cx="2090318"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1724558"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ARQUITECTURA</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¿POR QUÉ NO </a:t>
            </a:r>
            <a:pPr indent="0" marL="0">
              <a:buNone/>
            </a:pPr>
            <a:r>
              <a:rPr lang="en-US" sz="4600" spc="100" kern="0" dirty="0">
                <a:solidFill>
                  <a:srgbClr val="62CFF6"/>
                </a:solidFill>
                <a:latin typeface="Bebas Neue" pitchFamily="34" charset="0"/>
                <a:ea typeface="Bebas Neue" pitchFamily="34" charset="-122"/>
                <a:cs typeface="Bebas Neue" pitchFamily="34" charset="-120"/>
              </a:rPr>
              <a:t>SUPABASE-JS</a:t>
            </a:r>
            <a:pPr indent="0" marL="0">
              <a:buNone/>
            </a:pPr>
            <a:r>
              <a:rPr lang="en-US" sz="4600" spc="100" kern="0" dirty="0">
                <a:solidFill>
                  <a:srgbClr val="FFFFFF"/>
                </a:solidFill>
                <a:latin typeface="Bebas Neue" pitchFamily="34" charset="0"/>
                <a:ea typeface="Bebas Neue" pitchFamily="34" charset="-122"/>
                <a:cs typeface="Bebas Neue" pitchFamily="34" charset="-120"/>
              </a:rPr>
              <a:t> EN EL FRONT?</a:t>
            </a:r>
            <a:endParaRPr lang="en-US" sz="4600" dirty="0"/>
          </a:p>
        </p:txBody>
      </p:sp>
      <p:sp>
        <p:nvSpPr>
          <p:cNvPr id="9" name="Shape 5"/>
          <p:cNvSpPr/>
          <p:nvPr/>
        </p:nvSpPr>
        <p:spPr>
          <a:xfrm>
            <a:off x="548640" y="2377440"/>
            <a:ext cx="5408676" cy="1517904"/>
          </a:xfrm>
          <a:prstGeom prst="roundRect">
            <a:avLst>
              <a:gd name="adj" fmla="val 13253"/>
            </a:avLst>
          </a:prstGeom>
          <a:solidFill>
            <a:srgbClr val="FFFFFF">
              <a:alpha val="9000"/>
            </a:srgbClr>
          </a:solidFill>
          <a:ln w="12700">
            <a:solidFill>
              <a:srgbClr val="FFFFFF">
                <a:alpha val="24000"/>
              </a:srgbClr>
            </a:solidFill>
            <a:prstDash val="solid"/>
          </a:ln>
        </p:spPr>
      </p:sp>
      <p:pic>
        <p:nvPicPr>
          <p:cNvPr id="10"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786384" y="2651760"/>
            <a:ext cx="548640" cy="548640"/>
          </a:xfrm>
          <a:prstGeom prst="rect">
            <a:avLst/>
          </a:prstGeom>
        </p:spPr>
      </p:pic>
      <p:pic>
        <p:nvPicPr>
          <p:cNvPr id="11" name="Image 3" descr="C:\Users\AlexAmaze\AppData\Local\Temp\claude\C--My-Files-repos-supaday-ecommerce\b329a27c-f2be-420c-b170-4436a9ee7093\scratchpad\ppt\assets\icons\layers-w.png">    </p:cNvPr>
          <p:cNvPicPr>
            <a:picLocks noChangeAspect="1"/>
          </p:cNvPicPr>
          <p:nvPr/>
        </p:nvPicPr>
        <p:blipFill>
          <a:blip r:embed="rId5"/>
          <a:stretch>
            <a:fillRect/>
          </a:stretch>
        </p:blipFill>
        <p:spPr>
          <a:xfrm>
            <a:off x="923544" y="2788920"/>
            <a:ext cx="274320" cy="274320"/>
          </a:xfrm>
          <a:prstGeom prst="rect">
            <a:avLst/>
          </a:prstGeom>
        </p:spPr>
      </p:pic>
      <p:sp>
        <p:nvSpPr>
          <p:cNvPr id="12" name="Text 6"/>
          <p:cNvSpPr txBox="1"/>
          <p:nvPr/>
        </p:nvSpPr>
        <p:spPr>
          <a:xfrm>
            <a:off x="1536192" y="2578608"/>
            <a:ext cx="4219956" cy="347472"/>
          </a:xfrm>
          <a:prstGeom prst="rect">
            <a:avLst/>
          </a:prstGeom>
          <a:noFill/>
          <a:ln/>
        </p:spPr>
        <p:txBody>
          <a:bodyPr wrap="square" lIns="0" tIns="0" rIns="0" bIns="0" rtlCol="0" anchor="t"/>
          <a:lstStyle/>
          <a:p>
            <a:pPr indent="0" marL="0">
              <a:buNone/>
            </a:pPr>
            <a:r>
              <a:rPr lang="en-US" sz="1550" dirty="0">
                <a:solidFill>
                  <a:srgbClr val="FFFFFF"/>
                </a:solidFill>
                <a:latin typeface="Segoe UI Semibold" pitchFamily="34" charset="0"/>
                <a:ea typeface="Segoe UI Semibold" pitchFamily="34" charset="-122"/>
                <a:cs typeface="Segoe UI Semibold" pitchFamily="34" charset="-120"/>
              </a:rPr>
              <a:t>La lógica de comercio vive en Medusa</a:t>
            </a:r>
            <a:endParaRPr lang="en-US" sz="1550" dirty="0"/>
          </a:p>
        </p:txBody>
      </p:sp>
      <p:sp>
        <p:nvSpPr>
          <p:cNvPr id="13" name="Text 7"/>
          <p:cNvSpPr txBox="1"/>
          <p:nvPr/>
        </p:nvSpPr>
        <p:spPr>
          <a:xfrm>
            <a:off x="1536192" y="2944368"/>
            <a:ext cx="4219956" cy="868680"/>
          </a:xfrm>
          <a:prstGeom prst="rect">
            <a:avLst/>
          </a:prstGeom>
          <a:noFill/>
          <a:ln/>
        </p:spPr>
        <p:txBody>
          <a:bodyPr wrap="square" lIns="0" tIns="0" rIns="0" bIns="0" rtlCol="0" anchor="t"/>
          <a:lstStyle/>
          <a:p>
            <a:pPr indent="0" marL="0">
              <a:lnSpc>
                <a:spcPct val="108000"/>
              </a:lnSpc>
              <a:buNone/>
            </a:pPr>
            <a:r>
              <a:rPr lang="en-US" sz="1150" dirty="0">
                <a:solidFill>
                  <a:srgbClr val="D6DDF5"/>
                </a:solidFill>
                <a:latin typeface="Segoe UI" pitchFamily="34" charset="0"/>
                <a:ea typeface="Segoe UI" pitchFamily="34" charset="-122"/>
                <a:cs typeface="Segoe UI" pitchFamily="34" charset="-120"/>
              </a:rPr>
              <a:t>Precios por región, impuestos, inventario, pagos y órdenes son workflows de Medusa. Escribir tablas desde el navegador se saltaría toda esa lógica.</a:t>
            </a:r>
            <a:endParaRPr lang="en-US" sz="1150" dirty="0"/>
          </a:p>
        </p:txBody>
      </p:sp>
      <p:sp>
        <p:nvSpPr>
          <p:cNvPr id="14" name="Shape 8"/>
          <p:cNvSpPr/>
          <p:nvPr/>
        </p:nvSpPr>
        <p:spPr>
          <a:xfrm>
            <a:off x="6231636" y="2377440"/>
            <a:ext cx="5408676" cy="1517904"/>
          </a:xfrm>
          <a:prstGeom prst="roundRect">
            <a:avLst>
              <a:gd name="adj" fmla="val 13253"/>
            </a:avLst>
          </a:prstGeom>
          <a:solidFill>
            <a:srgbClr val="FFFFFF">
              <a:alpha val="9000"/>
            </a:srgbClr>
          </a:solidFill>
          <a:ln w="12700">
            <a:solidFill>
              <a:srgbClr val="FFFFFF">
                <a:alpha val="24000"/>
              </a:srgbClr>
            </a:solidFill>
            <a:prstDash val="solid"/>
          </a:ln>
        </p:spPr>
      </p:sp>
      <p:pic>
        <p:nvPicPr>
          <p:cNvPr id="15"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6469380" y="2651760"/>
            <a:ext cx="548640" cy="548640"/>
          </a:xfrm>
          <a:prstGeom prst="rect">
            <a:avLst/>
          </a:prstGeom>
        </p:spPr>
      </p:pic>
      <p:pic>
        <p:nvPicPr>
          <p:cNvPr id="16" name="Image 5" descr="C:\Users\AlexAmaze\AppData\Local\Temp\claude\C--My-Files-repos-supaday-ecommerce\b329a27c-f2be-420c-b170-4436a9ee7093\scratchpad\ppt\assets\icons\shield-w.png">    </p:cNvPr>
          <p:cNvPicPr>
            <a:picLocks noChangeAspect="1"/>
          </p:cNvPicPr>
          <p:nvPr/>
        </p:nvPicPr>
        <p:blipFill>
          <a:blip r:embed="rId7"/>
          <a:stretch>
            <a:fillRect/>
          </a:stretch>
        </p:blipFill>
        <p:spPr>
          <a:xfrm>
            <a:off x="6606540" y="2788920"/>
            <a:ext cx="274320" cy="274320"/>
          </a:xfrm>
          <a:prstGeom prst="rect">
            <a:avLst/>
          </a:prstGeom>
        </p:spPr>
      </p:pic>
      <p:sp>
        <p:nvSpPr>
          <p:cNvPr id="17" name="Text 9"/>
          <p:cNvSpPr txBox="1"/>
          <p:nvPr/>
        </p:nvSpPr>
        <p:spPr>
          <a:xfrm>
            <a:off x="7219188" y="2578608"/>
            <a:ext cx="4219956" cy="347472"/>
          </a:xfrm>
          <a:prstGeom prst="rect">
            <a:avLst/>
          </a:prstGeom>
          <a:noFill/>
          <a:ln/>
        </p:spPr>
        <p:txBody>
          <a:bodyPr wrap="square" lIns="0" tIns="0" rIns="0" bIns="0" rtlCol="0" anchor="t"/>
          <a:lstStyle/>
          <a:p>
            <a:pPr indent="0" marL="0">
              <a:buNone/>
            </a:pPr>
            <a:r>
              <a:rPr lang="en-US" sz="1550" dirty="0">
                <a:solidFill>
                  <a:srgbClr val="FFFFFF"/>
                </a:solidFill>
                <a:latin typeface="Segoe UI Semibold" pitchFamily="34" charset="0"/>
                <a:ea typeface="Segoe UI Semibold" pitchFamily="34" charset="-122"/>
                <a:cs typeface="Segoe UI Semibold" pitchFamily="34" charset="-120"/>
              </a:rPr>
              <a:t>Seguridad sin exponer la base</a:t>
            </a:r>
            <a:endParaRPr lang="en-US" sz="1550" dirty="0"/>
          </a:p>
        </p:txBody>
      </p:sp>
      <p:sp>
        <p:nvSpPr>
          <p:cNvPr id="18" name="Text 10"/>
          <p:cNvSpPr txBox="1"/>
          <p:nvPr/>
        </p:nvSpPr>
        <p:spPr>
          <a:xfrm>
            <a:off x="7219188" y="2944368"/>
            <a:ext cx="4219956" cy="868680"/>
          </a:xfrm>
          <a:prstGeom prst="rect">
            <a:avLst/>
          </a:prstGeom>
          <a:noFill/>
          <a:ln/>
        </p:spPr>
        <p:txBody>
          <a:bodyPr wrap="square" lIns="0" tIns="0" rIns="0" bIns="0" rtlCol="0" anchor="t"/>
          <a:lstStyle/>
          <a:p>
            <a:pPr indent="0" marL="0">
              <a:lnSpc>
                <a:spcPct val="108000"/>
              </a:lnSpc>
              <a:buNone/>
            </a:pPr>
            <a:r>
              <a:rPr lang="en-US" sz="1150" dirty="0">
                <a:solidFill>
                  <a:srgbClr val="D6DDF5"/>
                </a:solidFill>
                <a:latin typeface="Segoe UI" pitchFamily="34" charset="0"/>
                <a:ea typeface="Segoe UI" pitchFamily="34" charset="-122"/>
                <a:cs typeface="Segoe UI" pitchFamily="34" charset="-120"/>
              </a:rPr>
              <a:t>supabase-js usa la anon key en el navegador y obligaría a mantener RLS en 147 tablas. Aquí las credenciales de la base viven solo en el servidor.</a:t>
            </a:r>
            <a:endParaRPr lang="en-US" sz="1150" dirty="0"/>
          </a:p>
        </p:txBody>
      </p:sp>
      <p:sp>
        <p:nvSpPr>
          <p:cNvPr id="19" name="Shape 11"/>
          <p:cNvSpPr/>
          <p:nvPr/>
        </p:nvSpPr>
        <p:spPr>
          <a:xfrm>
            <a:off x="548640" y="4078224"/>
            <a:ext cx="5408676" cy="1517904"/>
          </a:xfrm>
          <a:prstGeom prst="roundRect">
            <a:avLst>
              <a:gd name="adj" fmla="val 13253"/>
            </a:avLst>
          </a:prstGeom>
          <a:solidFill>
            <a:srgbClr val="FFFFFF">
              <a:alpha val="9000"/>
            </a:srgbClr>
          </a:solidFill>
          <a:ln w="12700">
            <a:solidFill>
              <a:srgbClr val="FFFFFF">
                <a:alpha val="24000"/>
              </a:srgbClr>
            </a:solidFill>
            <a:prstDash val="solid"/>
          </a:ln>
        </p:spPr>
      </p:sp>
      <p:pic>
        <p:nvPicPr>
          <p:cNvPr id="20"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786384" y="4352544"/>
            <a:ext cx="548640" cy="548640"/>
          </a:xfrm>
          <a:prstGeom prst="rect">
            <a:avLst/>
          </a:prstGeom>
        </p:spPr>
      </p:pic>
      <p:pic>
        <p:nvPicPr>
          <p:cNvPr id="21" name="Image 7" descr="C:\Users\AlexAmaze\AppData\Local\Temp\claude\C--My-Files-repos-supaday-ecommerce\b329a27c-f2be-420c-b170-4436a9ee7093\scratchpad\ppt\assets\icons\branch-w.png">    </p:cNvPr>
          <p:cNvPicPr>
            <a:picLocks noChangeAspect="1"/>
          </p:cNvPicPr>
          <p:nvPr/>
        </p:nvPicPr>
        <p:blipFill>
          <a:blip r:embed="rId9"/>
          <a:stretch>
            <a:fillRect/>
          </a:stretch>
        </p:blipFill>
        <p:spPr>
          <a:xfrm>
            <a:off x="923544" y="4489704"/>
            <a:ext cx="274320" cy="274320"/>
          </a:xfrm>
          <a:prstGeom prst="rect">
            <a:avLst/>
          </a:prstGeom>
        </p:spPr>
      </p:pic>
      <p:sp>
        <p:nvSpPr>
          <p:cNvPr id="22" name="Text 12"/>
          <p:cNvSpPr txBox="1"/>
          <p:nvPr/>
        </p:nvSpPr>
        <p:spPr>
          <a:xfrm>
            <a:off x="1536192" y="4279392"/>
            <a:ext cx="4219956" cy="347472"/>
          </a:xfrm>
          <a:prstGeom prst="rect">
            <a:avLst/>
          </a:prstGeom>
          <a:noFill/>
          <a:ln/>
        </p:spPr>
        <p:txBody>
          <a:bodyPr wrap="square" lIns="0" tIns="0" rIns="0" bIns="0" rtlCol="0" anchor="t"/>
          <a:lstStyle/>
          <a:p>
            <a:pPr indent="0" marL="0">
              <a:buNone/>
            </a:pPr>
            <a:r>
              <a:rPr lang="en-US" sz="1550" dirty="0">
                <a:solidFill>
                  <a:srgbClr val="FFFFFF"/>
                </a:solidFill>
                <a:latin typeface="Segoe UI Semibold" pitchFamily="34" charset="0"/>
                <a:ea typeface="Segoe UI Semibold" pitchFamily="34" charset="-122"/>
                <a:cs typeface="Segoe UI Semibold" pitchFamily="34" charset="-120"/>
              </a:rPr>
              <a:t>Una sola fuente de verdad</a:t>
            </a:r>
            <a:endParaRPr lang="en-US" sz="1550" dirty="0"/>
          </a:p>
        </p:txBody>
      </p:sp>
      <p:sp>
        <p:nvSpPr>
          <p:cNvPr id="23" name="Text 13"/>
          <p:cNvSpPr txBox="1"/>
          <p:nvPr/>
        </p:nvSpPr>
        <p:spPr>
          <a:xfrm>
            <a:off x="1536192" y="4645152"/>
            <a:ext cx="4219956" cy="868680"/>
          </a:xfrm>
          <a:prstGeom prst="rect">
            <a:avLst/>
          </a:prstGeom>
          <a:noFill/>
          <a:ln/>
        </p:spPr>
        <p:txBody>
          <a:bodyPr wrap="square" lIns="0" tIns="0" rIns="0" bIns="0" rtlCol="0" anchor="t"/>
          <a:lstStyle/>
          <a:p>
            <a:pPr indent="0" marL="0">
              <a:lnSpc>
                <a:spcPct val="108000"/>
              </a:lnSpc>
              <a:buNone/>
            </a:pPr>
            <a:r>
              <a:rPr lang="en-US" sz="1150" dirty="0">
                <a:solidFill>
                  <a:srgbClr val="D6DDF5"/>
                </a:solidFill>
                <a:latin typeface="Segoe UI" pitchFamily="34" charset="0"/>
                <a:ea typeface="Segoe UI" pitchFamily="34" charset="-122"/>
                <a:cs typeface="Segoe UI" pitchFamily="34" charset="-120"/>
              </a:rPr>
              <a:t>Las migraciones de Medusa crean y versionan el esquema. Otro cliente escribiendo esas tablas rompería esa propiedad.</a:t>
            </a:r>
            <a:endParaRPr lang="en-US" sz="1150" dirty="0"/>
          </a:p>
        </p:txBody>
      </p:sp>
      <p:sp>
        <p:nvSpPr>
          <p:cNvPr id="24" name="Shape 14"/>
          <p:cNvSpPr/>
          <p:nvPr/>
        </p:nvSpPr>
        <p:spPr>
          <a:xfrm>
            <a:off x="6231636" y="4078224"/>
            <a:ext cx="5408676" cy="1517904"/>
          </a:xfrm>
          <a:prstGeom prst="roundRect">
            <a:avLst>
              <a:gd name="adj" fmla="val 13253"/>
            </a:avLst>
          </a:prstGeom>
          <a:solidFill>
            <a:srgbClr val="FFFFFF">
              <a:alpha val="9000"/>
            </a:srgbClr>
          </a:solidFill>
          <a:ln w="12700">
            <a:solidFill>
              <a:srgbClr val="FFFFFF">
                <a:alpha val="24000"/>
              </a:srgbClr>
            </a:solidFill>
            <a:prstDash val="solid"/>
          </a:ln>
        </p:spPr>
      </p:sp>
      <p:pic>
        <p:nvPicPr>
          <p:cNvPr id="25"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6469380" y="4352544"/>
            <a:ext cx="548640" cy="548640"/>
          </a:xfrm>
          <a:prstGeom prst="rect">
            <a:avLst/>
          </a:prstGeom>
        </p:spPr>
      </p:pic>
      <p:pic>
        <p:nvPicPr>
          <p:cNvPr id="26" name="Image 9" descr="C:\Users\AlexAmaze\AppData\Local\Temp\claude\C--My-Files-repos-supaday-ecommerce\b329a27c-f2be-420c-b170-4436a9ee7093\scratchpad\ppt\assets\icons\puzzle-w.png">    </p:cNvPr>
          <p:cNvPicPr>
            <a:picLocks noChangeAspect="1"/>
          </p:cNvPicPr>
          <p:nvPr/>
        </p:nvPicPr>
        <p:blipFill>
          <a:blip r:embed="rId11"/>
          <a:stretch>
            <a:fillRect/>
          </a:stretch>
        </p:blipFill>
        <p:spPr>
          <a:xfrm>
            <a:off x="6606540" y="4489704"/>
            <a:ext cx="274320" cy="274320"/>
          </a:xfrm>
          <a:prstGeom prst="rect">
            <a:avLst/>
          </a:prstGeom>
        </p:spPr>
      </p:pic>
      <p:sp>
        <p:nvSpPr>
          <p:cNvPr id="27" name="Text 15"/>
          <p:cNvSpPr txBox="1"/>
          <p:nvPr/>
        </p:nvSpPr>
        <p:spPr>
          <a:xfrm>
            <a:off x="7219188" y="4279392"/>
            <a:ext cx="4219956" cy="347472"/>
          </a:xfrm>
          <a:prstGeom prst="rect">
            <a:avLst/>
          </a:prstGeom>
          <a:noFill/>
          <a:ln/>
        </p:spPr>
        <p:txBody>
          <a:bodyPr wrap="square" lIns="0" tIns="0" rIns="0" bIns="0" rtlCol="0" anchor="t"/>
          <a:lstStyle/>
          <a:p>
            <a:pPr indent="0" marL="0">
              <a:buNone/>
            </a:pPr>
            <a:r>
              <a:rPr lang="en-US" sz="1550" dirty="0">
                <a:solidFill>
                  <a:srgbClr val="FFFFFF"/>
                </a:solidFill>
                <a:latin typeface="Segoe UI Semibold" pitchFamily="34" charset="0"/>
                <a:ea typeface="Segoe UI Semibold" pitchFamily="34" charset="-122"/>
                <a:cs typeface="Segoe UI Semibold" pitchFamily="34" charset="-120"/>
              </a:rPr>
              <a:t>Cada capa hace lo suyo</a:t>
            </a:r>
            <a:endParaRPr lang="en-US" sz="1550" dirty="0"/>
          </a:p>
        </p:txBody>
      </p:sp>
      <p:sp>
        <p:nvSpPr>
          <p:cNvPr id="28" name="Text 16"/>
          <p:cNvSpPr txBox="1"/>
          <p:nvPr/>
        </p:nvSpPr>
        <p:spPr>
          <a:xfrm>
            <a:off x="7219188" y="4645152"/>
            <a:ext cx="4219956" cy="868680"/>
          </a:xfrm>
          <a:prstGeom prst="rect">
            <a:avLst/>
          </a:prstGeom>
          <a:noFill/>
          <a:ln/>
        </p:spPr>
        <p:txBody>
          <a:bodyPr wrap="square" lIns="0" tIns="0" rIns="0" bIns="0" rtlCol="0" anchor="t"/>
          <a:lstStyle/>
          <a:p>
            <a:pPr indent="0" marL="0">
              <a:lnSpc>
                <a:spcPct val="108000"/>
              </a:lnSpc>
              <a:buNone/>
            </a:pPr>
            <a:r>
              <a:rPr lang="en-US" sz="1150" dirty="0">
                <a:solidFill>
                  <a:srgbClr val="D6DDF5"/>
                </a:solidFill>
                <a:latin typeface="Segoe UI" pitchFamily="34" charset="0"/>
                <a:ea typeface="Segoe UI" pitchFamily="34" charset="-122"/>
                <a:cs typeface="Segoe UI" pitchFamily="34" charset="-120"/>
              </a:rPr>
              <a:t>Supabase aporta Postgres administrado (pooler, backups, SQL Editor). Medusa aporta el comercio y el storefront, la experiencia.</a:t>
            </a:r>
            <a:endParaRPr lang="en-US" sz="1150" dirty="0"/>
          </a:p>
        </p:txBody>
      </p:sp>
      <p:pic>
        <p:nvPicPr>
          <p:cNvPr id="29" name="Image 10" descr="C:\Users\AlexAmaze\AppData\Local\Temp\claude\C--My-Files-repos-supaday-ecommerce\b329a27c-f2be-420c-b170-4436a9ee7093\scratchpad\ppt\assets\gen\g-1213x52-26.png">    </p:cNvPr>
          <p:cNvPicPr>
            <a:picLocks noChangeAspect="1"/>
          </p:cNvPicPr>
          <p:nvPr/>
        </p:nvPicPr>
        <p:blipFill>
          <a:blip r:embed="rId12"/>
          <a:stretch>
            <a:fillRect/>
          </a:stretch>
        </p:blipFill>
        <p:spPr>
          <a:xfrm>
            <a:off x="548640" y="5852160"/>
            <a:ext cx="11091672" cy="475488"/>
          </a:xfrm>
          <a:prstGeom prst="rect">
            <a:avLst/>
          </a:prstGeom>
        </p:spPr>
      </p:pic>
      <p:sp>
        <p:nvSpPr>
          <p:cNvPr id="30" name="Text 17"/>
          <p:cNvSpPr txBox="1"/>
          <p:nvPr/>
        </p:nvSpPr>
        <p:spPr>
          <a:xfrm>
            <a:off x="822960" y="5852160"/>
            <a:ext cx="10543032" cy="475488"/>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Verificado en el código: 0 referencias a @supabase · sin Supabase Auth · sin RLS · el navegador solo tiene la publishable key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12 / 15   ·   DEMO</a:t>
            </a:r>
            <a:endParaRPr lang="en-US" sz="1000" dirty="0"/>
          </a:p>
        </p:txBody>
      </p:sp>
      <p:sp>
        <p:nvSpPr>
          <p:cNvPr id="5" name="Shape 2"/>
          <p:cNvSpPr/>
          <p:nvPr/>
        </p:nvSpPr>
        <p:spPr>
          <a:xfrm>
            <a:off x="548640" y="1005840"/>
            <a:ext cx="2675534"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2309774"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EVIDENCIA EN VIVO</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DE LA COMPRA A </a:t>
            </a:r>
            <a:pPr indent="0" marL="0">
              <a:buNone/>
            </a:pPr>
            <a:r>
              <a:rPr lang="en-US" sz="4600" spc="100" kern="0" dirty="0">
                <a:solidFill>
                  <a:srgbClr val="0B1ED8"/>
                </a:solidFill>
                <a:latin typeface="Bebas Neue" pitchFamily="34" charset="0"/>
                <a:ea typeface="Bebas Neue" pitchFamily="34" charset="-122"/>
                <a:cs typeface="Bebas Neue" pitchFamily="34" charset="-120"/>
              </a:rPr>
              <a:t>LA FILA EN ORDER</a:t>
            </a:r>
            <a:endParaRPr lang="en-US" sz="4600" dirty="0"/>
          </a:p>
        </p:txBody>
      </p:sp>
      <p:pic>
        <p:nvPicPr>
          <p:cNvPr id="9"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548640" y="2432304"/>
            <a:ext cx="475488" cy="475488"/>
          </a:xfrm>
          <a:prstGeom prst="rect">
            <a:avLst/>
          </a:prstGeom>
        </p:spPr>
      </p:pic>
      <p:sp>
        <p:nvSpPr>
          <p:cNvPr id="10" name="Text 5"/>
          <p:cNvSpPr txBox="1"/>
          <p:nvPr/>
        </p:nvSpPr>
        <p:spPr>
          <a:xfrm>
            <a:off x="548640" y="243230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1</a:t>
            </a:r>
            <a:endParaRPr lang="en-US" sz="1900" dirty="0"/>
          </a:p>
        </p:txBody>
      </p:sp>
      <p:sp>
        <p:nvSpPr>
          <p:cNvPr id="11" name="Text 6"/>
          <p:cNvSpPr txBox="1"/>
          <p:nvPr/>
        </p:nvSpPr>
        <p:spPr>
          <a:xfrm>
            <a:off x="1188720" y="2395728"/>
            <a:ext cx="288036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Mostrar las tablas</a:t>
            </a:r>
            <a:endParaRPr lang="en-US" sz="1400" dirty="0"/>
          </a:p>
        </p:txBody>
      </p:sp>
      <p:sp>
        <p:nvSpPr>
          <p:cNvPr id="12" name="Text 7"/>
          <p:cNvSpPr txBox="1"/>
          <p:nvPr/>
        </p:nvSpPr>
        <p:spPr>
          <a:xfrm>
            <a:off x="1188720" y="2724912"/>
            <a:ext cx="2926080" cy="50292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Table Editor: product, region y order.</a:t>
            </a:r>
            <a:endParaRPr lang="en-US" sz="1100" dirty="0"/>
          </a:p>
        </p:txBody>
      </p:sp>
      <p:pic>
        <p:nvPicPr>
          <p:cNvPr id="13" name="Image 3" descr="C:\Users\AlexAmaze\AppData\Local\Temp\claude\C--My-Files-repos-supaday-ecommerce\b329a27c-f2be-420c-b170-4436a9ee7093\scratchpad\ppt\assets\circle-grad.png">    </p:cNvPr>
          <p:cNvPicPr>
            <a:picLocks noChangeAspect="1"/>
          </p:cNvPicPr>
          <p:nvPr/>
        </p:nvPicPr>
        <p:blipFill>
          <a:blip r:embed="rId5"/>
          <a:stretch>
            <a:fillRect/>
          </a:stretch>
        </p:blipFill>
        <p:spPr>
          <a:xfrm>
            <a:off x="548640" y="3392424"/>
            <a:ext cx="475488" cy="475488"/>
          </a:xfrm>
          <a:prstGeom prst="rect">
            <a:avLst/>
          </a:prstGeom>
        </p:spPr>
      </p:pic>
      <p:sp>
        <p:nvSpPr>
          <p:cNvPr id="14" name="Text 8"/>
          <p:cNvSpPr txBox="1"/>
          <p:nvPr/>
        </p:nvSpPr>
        <p:spPr>
          <a:xfrm>
            <a:off x="548640" y="339242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2</a:t>
            </a:r>
            <a:endParaRPr lang="en-US" sz="1900" dirty="0"/>
          </a:p>
        </p:txBody>
      </p:sp>
      <p:sp>
        <p:nvSpPr>
          <p:cNvPr id="15" name="Text 9"/>
          <p:cNvSpPr txBox="1"/>
          <p:nvPr/>
        </p:nvSpPr>
        <p:spPr>
          <a:xfrm>
            <a:off x="1188720" y="3355848"/>
            <a:ext cx="288036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Comprar en /ec</a:t>
            </a:r>
            <a:endParaRPr lang="en-US" sz="1400" dirty="0"/>
          </a:p>
        </p:txBody>
      </p:sp>
      <p:sp>
        <p:nvSpPr>
          <p:cNvPr id="16" name="Text 10"/>
          <p:cNvSpPr txBox="1"/>
          <p:nvPr/>
        </p:nvSpPr>
        <p:spPr>
          <a:xfrm>
            <a:off x="1188720" y="3685032"/>
            <a:ext cx="2926080" cy="50292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Hoodie M / Negro → checkout de 4 pasos.</a:t>
            </a:r>
            <a:endParaRPr lang="en-US" sz="1100" dirty="0"/>
          </a:p>
        </p:txBody>
      </p:sp>
      <p:pic>
        <p:nvPicPr>
          <p:cNvPr id="17"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548640" y="4352544"/>
            <a:ext cx="475488" cy="475488"/>
          </a:xfrm>
          <a:prstGeom prst="rect">
            <a:avLst/>
          </a:prstGeom>
        </p:spPr>
      </p:pic>
      <p:sp>
        <p:nvSpPr>
          <p:cNvPr id="18" name="Text 11"/>
          <p:cNvSpPr txBox="1"/>
          <p:nvPr/>
        </p:nvSpPr>
        <p:spPr>
          <a:xfrm>
            <a:off x="548640" y="435254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3</a:t>
            </a:r>
            <a:endParaRPr lang="en-US" sz="1900" dirty="0"/>
          </a:p>
        </p:txBody>
      </p:sp>
      <p:sp>
        <p:nvSpPr>
          <p:cNvPr id="19" name="Text 12"/>
          <p:cNvSpPr txBox="1"/>
          <p:nvPr/>
        </p:nvSpPr>
        <p:spPr>
          <a:xfrm>
            <a:off x="1188720" y="4315968"/>
            <a:ext cx="288036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Refrescar order</a:t>
            </a:r>
            <a:endParaRPr lang="en-US" sz="1400" dirty="0"/>
          </a:p>
        </p:txBody>
      </p:sp>
      <p:sp>
        <p:nvSpPr>
          <p:cNvPr id="20" name="Text 13"/>
          <p:cNvSpPr txBox="1"/>
          <p:nvPr/>
        </p:nvSpPr>
        <p:spPr>
          <a:xfrm>
            <a:off x="1188720" y="4645152"/>
            <a:ext cx="2926080" cy="50292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SQL Editor: la fila nueva aparece arriba.</a:t>
            </a:r>
            <a:endParaRPr lang="en-US" sz="1100" dirty="0"/>
          </a:p>
        </p:txBody>
      </p:sp>
      <p:pic>
        <p:nvPicPr>
          <p:cNvPr id="21" name="Image 5" descr="C:\Users\AlexAmaze\AppData\Local\Temp\claude\C--My-Files-repos-supaday-ecommerce\b329a27c-f2be-420c-b170-4436a9ee7093\scratchpad\ppt\assets\circle-grad.png">    </p:cNvPr>
          <p:cNvPicPr>
            <a:picLocks noChangeAspect="1"/>
          </p:cNvPicPr>
          <p:nvPr/>
        </p:nvPicPr>
        <p:blipFill>
          <a:blip r:embed="rId7"/>
          <a:stretch>
            <a:fillRect/>
          </a:stretch>
        </p:blipFill>
        <p:spPr>
          <a:xfrm>
            <a:off x="548640" y="5312664"/>
            <a:ext cx="475488" cy="475488"/>
          </a:xfrm>
          <a:prstGeom prst="rect">
            <a:avLst/>
          </a:prstGeom>
        </p:spPr>
      </p:pic>
      <p:sp>
        <p:nvSpPr>
          <p:cNvPr id="22" name="Text 14"/>
          <p:cNvSpPr txBox="1"/>
          <p:nvPr/>
        </p:nvSpPr>
        <p:spPr>
          <a:xfrm>
            <a:off x="548640" y="531266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4</a:t>
            </a:r>
            <a:endParaRPr lang="en-US" sz="1900" dirty="0"/>
          </a:p>
        </p:txBody>
      </p:sp>
      <p:sp>
        <p:nvSpPr>
          <p:cNvPr id="23" name="Text 15"/>
          <p:cNvSpPr txBox="1"/>
          <p:nvPr/>
        </p:nvSpPr>
        <p:spPr>
          <a:xfrm>
            <a:off x="1188720" y="5276088"/>
            <a:ext cx="2880360" cy="310896"/>
          </a:xfrm>
          <a:prstGeom prst="rect">
            <a:avLst/>
          </a:prstGeom>
          <a:noFill/>
          <a:ln/>
        </p:spPr>
        <p:txBody>
          <a:bodyPr wrap="square" lIns="0" tIns="0" rIns="0" bIns="0" rtlCol="0" anchor="t"/>
          <a:lstStyle/>
          <a:p>
            <a:pPr indent="0" marL="0">
              <a:buNone/>
            </a:pPr>
            <a:r>
              <a:rPr lang="en-US" sz="1400" dirty="0">
                <a:solidFill>
                  <a:srgbClr val="0A1033"/>
                </a:solidFill>
                <a:latin typeface="Segoe UI Semibold" pitchFamily="34" charset="0"/>
                <a:ea typeface="Segoe UI Semibold" pitchFamily="34" charset="-122"/>
                <a:cs typeface="Segoe UI Semibold" pitchFamily="34" charset="-120"/>
              </a:rPr>
              <a:t>Relacionar</a:t>
            </a:r>
            <a:endParaRPr lang="en-US" sz="1400" dirty="0"/>
          </a:p>
        </p:txBody>
      </p:sp>
      <p:sp>
        <p:nvSpPr>
          <p:cNvPr id="24" name="Text 16"/>
          <p:cNvSpPr txBox="1"/>
          <p:nvPr/>
        </p:nvSpPr>
        <p:spPr>
          <a:xfrm>
            <a:off x="1188720" y="5605272"/>
            <a:ext cx="2926080" cy="502920"/>
          </a:xfrm>
          <a:prstGeom prst="rect">
            <a:avLst/>
          </a:prstGeom>
          <a:noFill/>
          <a:ln/>
        </p:spPr>
        <p:txBody>
          <a:bodyPr wrap="square" lIns="0" tIns="0" rIns="0" bIns="0" rtlCol="0" anchor="t"/>
          <a:lstStyle/>
          <a:p>
            <a:pPr indent="0" marL="0">
              <a:buNone/>
            </a:pPr>
            <a:r>
              <a:rPr lang="en-US" sz="1100" dirty="0">
                <a:solidFill>
                  <a:srgbClr val="56607E"/>
                </a:solidFill>
                <a:latin typeface="Segoe UI" pitchFamily="34" charset="0"/>
                <a:ea typeface="Segoe UI" pitchFamily="34" charset="-122"/>
                <a:cs typeface="Segoe UI" pitchFamily="34" charset="-120"/>
              </a:rPr>
              <a:t>El #display_id y el order_… coinciden con la confirmación.</a:t>
            </a:r>
            <a:endParaRPr lang="en-US" sz="1100" dirty="0"/>
          </a:p>
        </p:txBody>
      </p:sp>
      <p:sp>
        <p:nvSpPr>
          <p:cNvPr id="25" name="Shape 17"/>
          <p:cNvSpPr/>
          <p:nvPr/>
        </p:nvSpPr>
        <p:spPr>
          <a:xfrm>
            <a:off x="4443984" y="2331720"/>
            <a:ext cx="3913632" cy="2247392"/>
          </a:xfrm>
          <a:prstGeom prst="roundRect">
            <a:avLst>
              <a:gd name="adj" fmla="val 8951"/>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6" name="Image 6" descr="C:\Users\AlexAmaze\AppData\Local\Temp\claude\C--My-Files-repos-supaday-ecommerce\b329a27c-f2be-420c-b170-4436a9ee7093\scratchpad\ppt\assets\shot-confirmed.png">    </p:cNvPr>
          <p:cNvPicPr>
            <a:picLocks noChangeAspect="1"/>
          </p:cNvPicPr>
          <p:nvPr/>
        </p:nvPicPr>
        <p:blipFill>
          <a:blip r:embed="rId8"/>
          <a:stretch>
            <a:fillRect/>
          </a:stretch>
        </p:blipFill>
        <p:spPr>
          <a:xfrm>
            <a:off x="4526280" y="2414016"/>
            <a:ext cx="3749040" cy="2082800"/>
          </a:xfrm>
          <a:prstGeom prst="rect">
            <a:avLst/>
          </a:prstGeom>
        </p:spPr>
      </p:pic>
      <p:sp>
        <p:nvSpPr>
          <p:cNvPr id="27" name="Shape 18"/>
          <p:cNvSpPr/>
          <p:nvPr/>
        </p:nvSpPr>
        <p:spPr>
          <a:xfrm>
            <a:off x="8549640" y="2331720"/>
            <a:ext cx="3090672" cy="2247392"/>
          </a:xfrm>
          <a:prstGeom prst="roundRect">
            <a:avLst>
              <a:gd name="adj" fmla="val 8137"/>
            </a:avLst>
          </a:prstGeom>
          <a:solidFill>
            <a:srgbClr val="0A1033"/>
          </a:solidFill>
          <a:ln w="12700">
            <a:solidFill>
              <a:srgbClr val="0A1033"/>
            </a:solidFill>
            <a:prstDash val="solid"/>
          </a:ln>
          <a:effectLst>
            <a:outerShdw sx="100000" sy="100000" kx="0" ky="0" algn="bl" rotWithShape="0" blurRad="228600" dist="63500" dir="5400000">
              <a:srgbClr val="0A1E5A">
                <a:alpha val="13000"/>
              </a:srgbClr>
            </a:outerShdw>
          </a:effectLst>
        </p:spPr>
      </p:sp>
      <p:sp>
        <p:nvSpPr>
          <p:cNvPr id="28" name="Text 19"/>
          <p:cNvSpPr txBox="1"/>
          <p:nvPr/>
        </p:nvSpPr>
        <p:spPr>
          <a:xfrm>
            <a:off x="8732520" y="2487168"/>
            <a:ext cx="2788920" cy="1991360"/>
          </a:xfrm>
          <a:prstGeom prst="rect">
            <a:avLst/>
          </a:prstGeom>
          <a:noFill/>
          <a:ln/>
        </p:spPr>
        <p:txBody>
          <a:bodyPr wrap="square" lIns="0" tIns="0" rIns="0" bIns="0" rtlCol="0" anchor="t"/>
          <a:lstStyle/>
          <a:p>
            <a:pPr indent="0" marL="0">
              <a:lnSpc>
                <a:spcPct val="130000"/>
              </a:lnSpc>
              <a:buNone/>
            </a:pPr>
            <a:r>
              <a:rPr lang="en-US" sz="950" dirty="0">
                <a:solidFill>
                  <a:srgbClr val="8C96B4"/>
                </a:solidFill>
                <a:latin typeface="Consolas" pitchFamily="34" charset="0"/>
                <a:ea typeface="Consolas" pitchFamily="34" charset="-122"/>
                <a:cs typeface="Consolas" pitchFamily="34" charset="-120"/>
              </a:rPr>
              <a:t>-- refrescar después de comprar</a:t>
            </a:r>
            <a:endParaRPr lang="en-US" sz="950" dirty="0"/>
          </a:p>
          <a:p>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select </a:t>
            </a:r>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o.id, o.display_id,</a:t>
            </a:r>
            <a:endParaRPr lang="en-US" sz="950" dirty="0"/>
          </a:p>
          <a:p>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       o.currency_code, r.name</a:t>
            </a:r>
            <a:endParaRPr lang="en-US" sz="950" dirty="0"/>
          </a:p>
          <a:p>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from </a:t>
            </a:r>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"order" o</a:t>
            </a:r>
            <a:endParaRPr lang="en-US" sz="950" dirty="0"/>
          </a:p>
          <a:p>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join </a:t>
            </a:r>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region r </a:t>
            </a:r>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on </a:t>
            </a:r>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r.id = o.region_id</a:t>
            </a:r>
            <a:endParaRPr lang="en-US" sz="950" dirty="0"/>
          </a:p>
          <a:p>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order by </a:t>
            </a:r>
            <a:pPr indent="0" marL="0">
              <a:lnSpc>
                <a:spcPct val="130000"/>
              </a:lnSpc>
              <a:buNone/>
            </a:pPr>
            <a:r>
              <a:rPr lang="en-US" sz="950" dirty="0">
                <a:solidFill>
                  <a:srgbClr val="FFFFFF"/>
                </a:solidFill>
                <a:latin typeface="Consolas" pitchFamily="34" charset="0"/>
                <a:ea typeface="Consolas" pitchFamily="34" charset="-122"/>
                <a:cs typeface="Consolas" pitchFamily="34" charset="-120"/>
              </a:rPr>
              <a:t>o.created_at </a:t>
            </a:r>
            <a:pPr indent="0" marL="0">
              <a:lnSpc>
                <a:spcPct val="130000"/>
              </a:lnSpc>
              <a:buNone/>
            </a:pPr>
            <a:r>
              <a:rPr lang="en-US" sz="950" dirty="0">
                <a:solidFill>
                  <a:srgbClr val="62CFF6"/>
                </a:solidFill>
                <a:latin typeface="Consolas" pitchFamily="34" charset="0"/>
                <a:ea typeface="Consolas" pitchFamily="34" charset="-122"/>
                <a:cs typeface="Consolas" pitchFamily="34" charset="-120"/>
              </a:rPr>
              <a:t>desc</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26280" y="4862576"/>
          <a:ext cx="7114032" cy="914400"/>
        </p:xfrm>
        <a:graphic>
          <a:graphicData uri="http://schemas.openxmlformats.org/drawingml/2006/table">
            <a:tbl>
              <a:tblPr/>
              <a:tblGrid>
                <a:gridCol w="2788920"/>
                <a:gridCol w="411480"/>
                <a:gridCol w="822960"/>
                <a:gridCol w="987552"/>
                <a:gridCol w="2103120"/>
              </a:tblGrid>
              <a:tr h="310896">
                <a:tc>
                  <a:txBody>
                    <a:bodyPr/>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id</a:t>
                      </a:r>
                      <a:endParaRPr lang="en-US" sz="1050" dirty="0">
                        <a:latin typeface="Segoe UI Semibold" charset="0"/>
                        <a:ea typeface="Segoe UI Semibold" charset="0"/>
                        <a:cs typeface="Segoe UI Semibold"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0A1033"/>
                    </a:solidFill>
                  </a:tcPr>
                </a:tc>
                <a:tc>
                  <a:txBody>
                    <a:bodyPr/>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a:t>
                      </a:r>
                      <a:endParaRPr lang="en-US" sz="1050" dirty="0">
                        <a:latin typeface="Segoe UI Semibold" charset="0"/>
                        <a:ea typeface="Segoe UI Semibold" charset="0"/>
                        <a:cs typeface="Segoe UI Semibold"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0A1033"/>
                    </a:solidFill>
                  </a:tcPr>
                </a:tc>
                <a:tc>
                  <a:txBody>
                    <a:bodyPr/>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moneda</a:t>
                      </a:r>
                      <a:endParaRPr lang="en-US" sz="1050" dirty="0">
                        <a:latin typeface="Segoe UI Semibold" charset="0"/>
                        <a:ea typeface="Segoe UI Semibold" charset="0"/>
                        <a:cs typeface="Segoe UI Semibold"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0A1033"/>
                    </a:solidFill>
                  </a:tcPr>
                </a:tc>
                <a:tc>
                  <a:txBody>
                    <a:bodyPr/>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región</a:t>
                      </a:r>
                      <a:endParaRPr lang="en-US" sz="1050" dirty="0">
                        <a:latin typeface="Segoe UI Semibold" charset="0"/>
                        <a:ea typeface="Segoe UI Semibold" charset="0"/>
                        <a:cs typeface="Segoe UI Semibold"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0A1033"/>
                    </a:solidFill>
                  </a:tcPr>
                </a:tc>
                <a:tc>
                  <a:txBody>
                    <a:bodyPr/>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email</a:t>
                      </a:r>
                      <a:endParaRPr lang="en-US" sz="1050" dirty="0">
                        <a:latin typeface="Segoe UI Semibold" charset="0"/>
                        <a:ea typeface="Segoe UI Semibold" charset="0"/>
                        <a:cs typeface="Segoe UI Semibold"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0A1033"/>
                    </a:solidFill>
                  </a:tcPr>
                </a:tc>
              </a:tr>
              <a:tr h="310896">
                <a:tc>
                  <a:txBody>
                    <a:bodyPr/>
                    <a:lstStyle/>
                    <a:p>
                      <a:pPr indent="0" marL="0">
                        <a:buNone/>
                      </a:pPr>
                      <a:r>
                        <a:rPr lang="en-US" sz="1050" dirty="0">
                          <a:solidFill>
                            <a:srgbClr val="0A1033"/>
                          </a:solidFill>
                          <a:latin typeface="Consolas" pitchFamily="34" charset="0"/>
                          <a:ea typeface="Consolas" pitchFamily="34" charset="-122"/>
                          <a:cs typeface="Consolas" pitchFamily="34" charset="-120"/>
                        </a:rPr>
                        <a:t>order_01M3M54VTRZYRMCCJXS5F1AA0A</a:t>
                      </a:r>
                      <a:endParaRPr lang="en-US" sz="1050" dirty="0">
                        <a:latin typeface="Consolas" charset="0"/>
                        <a:ea typeface="Consolas" charset="0"/>
                        <a:cs typeface="Consolas"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2</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eur</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Europe</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demo-eu@aklabs.test</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0A1033"/>
                          </a:solidFill>
                          <a:latin typeface="Consolas" pitchFamily="34" charset="0"/>
                          <a:ea typeface="Consolas" pitchFamily="34" charset="-122"/>
                          <a:cs typeface="Consolas" pitchFamily="34" charset="-120"/>
                        </a:rPr>
                        <a:t>order_01M3M4DH3FAV6KGJPMAS1HC3WX</a:t>
                      </a:r>
                      <a:endParaRPr lang="en-US" sz="1050" dirty="0">
                        <a:latin typeface="Consolas" charset="0"/>
                        <a:ea typeface="Consolas" charset="0"/>
                        <a:cs typeface="Consolas"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usd</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Ecuador</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c>
                  <a:txBody>
                    <a:bodyPr/>
                    <a:lstStyle/>
                    <a:p>
                      <a:pPr indent="0" marL="0">
                        <a:buNone/>
                      </a:pPr>
                      <a:r>
                        <a:rPr lang="en-US" sz="1050" dirty="0">
                          <a:solidFill>
                            <a:srgbClr val="0A1033"/>
                          </a:solidFill>
                          <a:latin typeface="Segoe UI" pitchFamily="34" charset="0"/>
                          <a:ea typeface="Segoe UI" pitchFamily="34" charset="-122"/>
                          <a:cs typeface="Segoe UI" pitchFamily="34" charset="-120"/>
                        </a:rPr>
                        <a:t>demo@aklabs.test</a:t>
                      </a:r>
                      <a:endParaRPr lang="en-US" sz="1050" dirty="0">
                        <a:latin typeface="Segoe UI" charset="0"/>
                        <a:ea typeface="Segoe UI" charset="0"/>
                        <a:cs typeface="Segoe UI" charset="0"/>
                      </a:endParaRPr>
                    </a:p>
                  </a:txBody>
                  <a:tcPr marL="73152" marR="73152" marT="27432" marB="27432" anchor="ctr">
                    <a:lnL w="9525" cap="flat" cmpd="sng" algn="ctr">
                      <a:solidFill>
                        <a:srgbClr val="D9E3F2"/>
                      </a:solidFill>
                      <a:prstDash val="solid"/>
                      <a:round/>
                      <a:headEnd type="none" w="med" len="med"/>
                      <a:tailEnd type="none" w="med" len="med"/>
                    </a:lnL>
                    <a:lnR w="9525" cap="flat" cmpd="sng" algn="ctr">
                      <a:solidFill>
                        <a:srgbClr val="D9E3F2"/>
                      </a:solidFill>
                      <a:prstDash val="solid"/>
                      <a:round/>
                      <a:headEnd type="none" w="med" len="med"/>
                      <a:tailEnd type="none" w="med" len="med"/>
                    </a:lnR>
                    <a:lnT w="9525" cap="flat" cmpd="sng" algn="ctr">
                      <a:solidFill>
                        <a:srgbClr val="D9E3F2"/>
                      </a:solidFill>
                      <a:prstDash val="solid"/>
                      <a:round/>
                      <a:headEnd type="none" w="med" len="med"/>
                      <a:tailEnd type="none" w="med" len="med"/>
                    </a:lnT>
                    <a:lnB w="9525" cap="flat" cmpd="sng" algn="ctr">
                      <a:solidFill>
                        <a:srgbClr val="D9E3F2"/>
                      </a:solidFill>
                      <a:prstDash val="solid"/>
                      <a:round/>
                      <a:headEnd type="none" w="med" len="med"/>
                      <a:tailEnd type="none" w="med" len="med"/>
                    </a:lnB>
                    <a:solidFill>
                      <a:srgbClr val="FFFFFF"/>
                    </a:solidFill>
                  </a:tcPr>
                </a:tc>
              </a:tr>
            </a:tbl>
          </a:graphicData>
        </a:graphic>
      </p:graphicFrame>
      <p:sp>
        <p:nvSpPr>
          <p:cNvPr id="30" name="Text 20"/>
          <p:cNvSpPr txBox="1"/>
          <p:nvPr/>
        </p:nvSpPr>
        <p:spPr>
          <a:xfrm>
            <a:off x="4526280" y="5886704"/>
            <a:ext cx="7114032" cy="274320"/>
          </a:xfrm>
          <a:prstGeom prst="rect">
            <a:avLst/>
          </a:prstGeom>
          <a:noFill/>
          <a:ln/>
        </p:spPr>
        <p:txBody>
          <a:bodyPr wrap="square" lIns="0" tIns="0" rIns="0" bIns="0" rtlCol="0" anchor="t"/>
          <a:lstStyle/>
          <a:p>
            <a:pPr indent="0" marL="0">
              <a:buNone/>
            </a:pPr>
            <a:r>
              <a:rPr lang="en-US" sz="1050" dirty="0">
                <a:solidFill>
                  <a:srgbClr val="56607E"/>
                </a:solidFill>
                <a:latin typeface="Segoe UI" pitchFamily="34" charset="0"/>
                <a:ea typeface="Segoe UI" pitchFamily="34" charset="-122"/>
                <a:cs typeface="Segoe UI" pitchFamily="34" charset="-120"/>
              </a:rPr>
              <a:t>Resultado real en Supabase (28/09/2026): orden #1 en USD desde /ec y orden #2 en EUR en la región Europe.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FFFFFF"/>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C9D2EE"/>
                </a:solidFill>
                <a:latin typeface="Segoe UI Semibold" pitchFamily="34" charset="0"/>
                <a:ea typeface="Segoe UI Semibold" pitchFamily="34" charset="-122"/>
                <a:cs typeface="Segoe UI Semibold" pitchFamily="34" charset="-120"/>
              </a:rPr>
              <a:t>13 / 15   ·   REPOSITORIO</a:t>
            </a:r>
            <a:endParaRPr lang="en-US" sz="1000" dirty="0"/>
          </a:p>
        </p:txBody>
      </p:sp>
      <p:sp>
        <p:nvSpPr>
          <p:cNvPr id="5" name="Shape 2"/>
          <p:cNvSpPr/>
          <p:nvPr/>
        </p:nvSpPr>
        <p:spPr>
          <a:xfrm>
            <a:off x="548640" y="1005840"/>
            <a:ext cx="3728923" cy="329184"/>
          </a:xfrm>
          <a:prstGeom prst="roundRect">
            <a:avLst>
              <a:gd name="adj" fmla="val 50000"/>
            </a:avLst>
          </a:prstGeom>
          <a:solidFill>
            <a:srgbClr val="FFFFFF">
              <a:alpha val="12000"/>
            </a:srgbClr>
          </a:solidFill>
          <a:ln w="9525">
            <a:solidFill>
              <a:srgbClr val="FFFFFF">
                <a:alpha val="28000"/>
              </a:srgbClr>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3363163" cy="329184"/>
          </a:xfrm>
          <a:prstGeom prst="rect">
            <a:avLst/>
          </a:prstGeom>
          <a:noFill/>
          <a:ln/>
        </p:spPr>
        <p:txBody>
          <a:bodyPr wrap="square" lIns="0" tIns="0" rIns="0" bIns="0" rtlCol="0" anchor="ctr"/>
          <a:lstStyle/>
          <a:p>
            <a:pPr indent="0" marL="0">
              <a:buNone/>
            </a:pPr>
            <a:r>
              <a:rPr lang="en-US" sz="1000" spc="300" kern="0" dirty="0">
                <a:solidFill>
                  <a:srgbClr val="62CFF6"/>
                </a:solidFill>
                <a:latin typeface="Segoe UI Semibold" pitchFamily="34" charset="0"/>
                <a:ea typeface="Segoe UI Semibold" pitchFamily="34" charset="-122"/>
                <a:cs typeface="Segoe UI Semibold" pitchFamily="34" charset="-120"/>
              </a:rPr>
              <a:t>HIGIENE Y REPRODUCIBILIDAD</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FFFFFF"/>
                </a:solidFill>
                <a:latin typeface="Bebas Neue" pitchFamily="34" charset="0"/>
                <a:ea typeface="Bebas Neue" pitchFamily="34" charset="-122"/>
                <a:cs typeface="Bebas Neue" pitchFamily="34" charset="-120"/>
              </a:rPr>
              <a:t>UN REPO QUE CUALQUIERA </a:t>
            </a:r>
            <a:pPr indent="0" marL="0">
              <a:buNone/>
            </a:pPr>
            <a:r>
              <a:rPr lang="en-US" sz="4600" spc="100" kern="0" dirty="0">
                <a:solidFill>
                  <a:srgbClr val="62CFF6"/>
                </a:solidFill>
                <a:latin typeface="Bebas Neue" pitchFamily="34" charset="0"/>
                <a:ea typeface="Bebas Neue" pitchFamily="34" charset="-122"/>
                <a:cs typeface="Bebas Neue" pitchFamily="34" charset="-120"/>
              </a:rPr>
              <a:t>PUEDE LEVANTAR</a:t>
            </a:r>
            <a:endParaRPr lang="en-US" sz="4600" dirty="0"/>
          </a:p>
        </p:txBody>
      </p:sp>
      <p:sp>
        <p:nvSpPr>
          <p:cNvPr id="9" name="Shape 5"/>
          <p:cNvSpPr/>
          <p:nvPr/>
        </p:nvSpPr>
        <p:spPr>
          <a:xfrm>
            <a:off x="548640" y="2377440"/>
            <a:ext cx="3566160" cy="3886200"/>
          </a:xfrm>
          <a:prstGeom prst="roundRect">
            <a:avLst>
              <a:gd name="adj" fmla="val 5641"/>
            </a:avLst>
          </a:prstGeom>
          <a:solidFill>
            <a:srgbClr val="000000">
              <a:alpha val="40000"/>
            </a:srgbClr>
          </a:solidFill>
          <a:ln w="12700">
            <a:solidFill>
              <a:srgbClr val="FFFFFF">
                <a:alpha val="24000"/>
              </a:srgbClr>
            </a:solidFill>
            <a:prstDash val="solid"/>
          </a:ln>
        </p:spPr>
      </p:sp>
      <p:sp>
        <p:nvSpPr>
          <p:cNvPr id="10" name="Text 6"/>
          <p:cNvSpPr txBox="1"/>
          <p:nvPr/>
        </p:nvSpPr>
        <p:spPr>
          <a:xfrm>
            <a:off x="777240" y="2560320"/>
            <a:ext cx="3200400" cy="3566160"/>
          </a:xfrm>
          <a:prstGeom prst="rect">
            <a:avLst/>
          </a:prstGeom>
          <a:noFill/>
          <a:ln/>
        </p:spPr>
        <p:txBody>
          <a:bodyPr wrap="square" lIns="0" tIns="0" rIns="0" bIns="0" rtlCol="0" anchor="t"/>
          <a:lstStyle/>
          <a:p>
            <a:pPr indent="0" marL="0">
              <a:lnSpc>
                <a:spcPct val="120000"/>
              </a:lnSpc>
              <a:buNone/>
            </a:pPr>
            <a:r>
              <a:rPr lang="en-US" sz="1100" dirty="0">
                <a:solidFill>
                  <a:srgbClr val="62CFF6"/>
                </a:solidFill>
                <a:latin typeface="Consolas" pitchFamily="34" charset="0"/>
                <a:ea typeface="Consolas" pitchFamily="34" charset="-122"/>
                <a:cs typeface="Consolas" pitchFamily="34" charset="-120"/>
              </a:rPr>
              <a:t>supaday-ecommerce/</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README.md</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PRESENTACION.md</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.gitignore</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store/</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apps/backend/</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 .env.example</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 src/scripts/</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 setup-aklabs.ts</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apps/storefront/</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.env.example</a:t>
            </a:r>
            <a:endParaRPr lang="en-US" sz="1100" dirty="0"/>
          </a:p>
          <a:p>
            <a:pPr indent="0" marL="0">
              <a:lnSpc>
                <a:spcPct val="120000"/>
              </a:lnSpc>
              <a:buNone/>
            </a:pPr>
            <a:r>
              <a:rPr lang="en-US" sz="1100" dirty="0">
                <a:solidFill>
                  <a:srgbClr val="D6DDF5"/>
                </a:solidFill>
                <a:latin typeface="Consolas" pitchFamily="34" charset="0"/>
                <a:ea typeface="Consolas" pitchFamily="34" charset="-122"/>
                <a:cs typeface="Consolas" pitchFamily="34" charset="-120"/>
              </a:rPr>
              <a:t>      └─ public/aklabs/</a:t>
            </a:r>
            <a:endParaRPr lang="en-US" sz="1100" dirty="0"/>
          </a:p>
        </p:txBody>
      </p:sp>
      <p:sp>
        <p:nvSpPr>
          <p:cNvPr id="11" name="Shape 7"/>
          <p:cNvSpPr/>
          <p:nvPr/>
        </p:nvSpPr>
        <p:spPr>
          <a:xfrm>
            <a:off x="4343400" y="2377440"/>
            <a:ext cx="3429000" cy="3886200"/>
          </a:xfrm>
          <a:prstGeom prst="roundRect">
            <a:avLst>
              <a:gd name="adj" fmla="val 5867"/>
            </a:avLst>
          </a:prstGeom>
          <a:solidFill>
            <a:srgbClr val="FFFFFF">
              <a:alpha val="9000"/>
            </a:srgbClr>
          </a:solidFill>
          <a:ln w="12700">
            <a:solidFill>
              <a:srgbClr val="FFFFFF">
                <a:alpha val="24000"/>
              </a:srgbClr>
            </a:solidFill>
            <a:prstDash val="solid"/>
          </a:ln>
        </p:spPr>
      </p:sp>
      <p:pic>
        <p:nvPicPr>
          <p:cNvPr id="12" name="Image 2" descr="C:\Users\AlexAmaze\AppData\Local\Temp\claude\C--My-Files-repos-supaday-ecommerce\b329a27c-f2be-420c-b170-4436a9ee7093\scratchpad\ppt\assets\icons\check-s.png">    </p:cNvPr>
          <p:cNvPicPr>
            <a:picLocks noChangeAspect="1"/>
          </p:cNvPicPr>
          <p:nvPr/>
        </p:nvPicPr>
        <p:blipFill>
          <a:blip r:embed="rId4"/>
          <a:stretch>
            <a:fillRect/>
          </a:stretch>
        </p:blipFill>
        <p:spPr>
          <a:xfrm>
            <a:off x="4572000" y="2633472"/>
            <a:ext cx="219456" cy="219456"/>
          </a:xfrm>
          <a:prstGeom prst="rect">
            <a:avLst/>
          </a:prstGeom>
        </p:spPr>
      </p:pic>
      <p:sp>
        <p:nvSpPr>
          <p:cNvPr id="13" name="Text 8"/>
          <p:cNvSpPr txBox="1"/>
          <p:nvPr/>
        </p:nvSpPr>
        <p:spPr>
          <a:xfrm>
            <a:off x="4901184" y="260604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.gitignore sin secretos ni builds</a:t>
            </a:r>
            <a:endParaRPr lang="en-US" sz="1200" dirty="0"/>
          </a:p>
        </p:txBody>
      </p:sp>
      <p:pic>
        <p:nvPicPr>
          <p:cNvPr id="14" name="Image 3" descr="C:\Users\AlexAmaze\AppData\Local\Temp\claude\C--My-Files-repos-supaday-ecommerce\b329a27c-f2be-420c-b170-4436a9ee7093\scratchpad\ppt\assets\icons\check-s.png">    </p:cNvPr>
          <p:cNvPicPr>
            <a:picLocks noChangeAspect="1"/>
          </p:cNvPicPr>
          <p:nvPr/>
        </p:nvPicPr>
        <p:blipFill>
          <a:blip r:embed="rId5"/>
          <a:stretch>
            <a:fillRect/>
          </a:stretch>
        </p:blipFill>
        <p:spPr>
          <a:xfrm>
            <a:off x="4572000" y="3136392"/>
            <a:ext cx="219456" cy="219456"/>
          </a:xfrm>
          <a:prstGeom prst="rect">
            <a:avLst/>
          </a:prstGeom>
        </p:spPr>
      </p:pic>
      <p:sp>
        <p:nvSpPr>
          <p:cNvPr id="15" name="Text 9"/>
          <p:cNvSpPr txBox="1"/>
          <p:nvPr/>
        </p:nvSpPr>
        <p:spPr>
          <a:xfrm>
            <a:off x="4901184" y="310896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.env.example en backend y storefront</a:t>
            </a:r>
            <a:endParaRPr lang="en-US" sz="1200" dirty="0"/>
          </a:p>
        </p:txBody>
      </p:sp>
      <p:pic>
        <p:nvPicPr>
          <p:cNvPr id="16" name="Image 4" descr="C:\Users\AlexAmaze\AppData\Local\Temp\claude\C--My-Files-repos-supaday-ecommerce\b329a27c-f2be-420c-b170-4436a9ee7093\scratchpad\ppt\assets\icons\check-s.png">    </p:cNvPr>
          <p:cNvPicPr>
            <a:picLocks noChangeAspect="1"/>
          </p:cNvPicPr>
          <p:nvPr/>
        </p:nvPicPr>
        <p:blipFill>
          <a:blip r:embed="rId6"/>
          <a:stretch>
            <a:fillRect/>
          </a:stretch>
        </p:blipFill>
        <p:spPr>
          <a:xfrm>
            <a:off x="4572000" y="3639312"/>
            <a:ext cx="219456" cy="219456"/>
          </a:xfrm>
          <a:prstGeom prst="rect">
            <a:avLst/>
          </a:prstGeom>
        </p:spPr>
      </p:pic>
      <p:sp>
        <p:nvSpPr>
          <p:cNvPr id="17" name="Text 10"/>
          <p:cNvSpPr txBox="1"/>
          <p:nvPr/>
        </p:nvSpPr>
        <p:spPr>
          <a:xfrm>
            <a:off x="4901184" y="361188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README con pasos de arranque</a:t>
            </a:r>
            <a:endParaRPr lang="en-US" sz="1200" dirty="0"/>
          </a:p>
        </p:txBody>
      </p:sp>
      <p:pic>
        <p:nvPicPr>
          <p:cNvPr id="18" name="Image 5" descr="C:\Users\AlexAmaze\AppData\Local\Temp\claude\C--My-Files-repos-supaday-ecommerce\b329a27c-f2be-420c-b170-4436a9ee7093\scratchpad\ppt\assets\icons\check-s.png">    </p:cNvPr>
          <p:cNvPicPr>
            <a:picLocks noChangeAspect="1"/>
          </p:cNvPicPr>
          <p:nvPr/>
        </p:nvPicPr>
        <p:blipFill>
          <a:blip r:embed="rId7"/>
          <a:stretch>
            <a:fillRect/>
          </a:stretch>
        </p:blipFill>
        <p:spPr>
          <a:xfrm>
            <a:off x="4572000" y="4142232"/>
            <a:ext cx="219456" cy="219456"/>
          </a:xfrm>
          <a:prstGeom prst="rect">
            <a:avLst/>
          </a:prstGeom>
        </p:spPr>
      </p:pic>
      <p:sp>
        <p:nvSpPr>
          <p:cNvPr id="19" name="Text 11"/>
          <p:cNvSpPr txBox="1"/>
          <p:nvPr/>
        </p:nvSpPr>
        <p:spPr>
          <a:xfrm>
            <a:off x="4901184" y="411480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Commits con mensajes descriptivos</a:t>
            </a:r>
            <a:endParaRPr lang="en-US" sz="1200" dirty="0"/>
          </a:p>
        </p:txBody>
      </p:sp>
      <p:pic>
        <p:nvPicPr>
          <p:cNvPr id="20" name="Image 6" descr="C:\Users\AlexAmaze\AppData\Local\Temp\claude\C--My-Files-repos-supaday-ecommerce\b329a27c-f2be-420c-b170-4436a9ee7093\scratchpad\ppt\assets\icons\check-s.png">    </p:cNvPr>
          <p:cNvPicPr>
            <a:picLocks noChangeAspect="1"/>
          </p:cNvPicPr>
          <p:nvPr/>
        </p:nvPicPr>
        <p:blipFill>
          <a:blip r:embed="rId8"/>
          <a:stretch>
            <a:fillRect/>
          </a:stretch>
        </p:blipFill>
        <p:spPr>
          <a:xfrm>
            <a:off x="4572000" y="4645152"/>
            <a:ext cx="219456" cy="219456"/>
          </a:xfrm>
          <a:prstGeom prst="rect">
            <a:avLst/>
          </a:prstGeom>
        </p:spPr>
      </p:pic>
      <p:sp>
        <p:nvSpPr>
          <p:cNvPr id="21" name="Text 12"/>
          <p:cNvSpPr txBox="1"/>
          <p:nvPr/>
        </p:nvSpPr>
        <p:spPr>
          <a:xfrm>
            <a:off x="4901184" y="461772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Sin supabase-js, Auth ni RLS</a:t>
            </a:r>
            <a:endParaRPr lang="en-US" sz="1200" dirty="0"/>
          </a:p>
        </p:txBody>
      </p:sp>
      <p:pic>
        <p:nvPicPr>
          <p:cNvPr id="22" name="Image 7" descr="C:\Users\AlexAmaze\AppData\Local\Temp\claude\C--My-Files-repos-supaday-ecommerce\b329a27c-f2be-420c-b170-4436a9ee7093\scratchpad\ppt\assets\icons\check-s.png">    </p:cNvPr>
          <p:cNvPicPr>
            <a:picLocks noChangeAspect="1"/>
          </p:cNvPicPr>
          <p:nvPr/>
        </p:nvPicPr>
        <p:blipFill>
          <a:blip r:embed="rId9"/>
          <a:stretch>
            <a:fillRect/>
          </a:stretch>
        </p:blipFill>
        <p:spPr>
          <a:xfrm>
            <a:off x="4572000" y="5148072"/>
            <a:ext cx="219456" cy="219456"/>
          </a:xfrm>
          <a:prstGeom prst="rect">
            <a:avLst/>
          </a:prstGeom>
        </p:spPr>
      </p:pic>
      <p:sp>
        <p:nvSpPr>
          <p:cNvPr id="23" name="Text 13"/>
          <p:cNvSpPr txBox="1"/>
          <p:nvPr/>
        </p:nvSpPr>
        <p:spPr>
          <a:xfrm>
            <a:off x="4901184" y="512064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Seed idempotente: pnpm seed</a:t>
            </a:r>
            <a:endParaRPr lang="en-US" sz="1200" dirty="0"/>
          </a:p>
        </p:txBody>
      </p:sp>
      <p:pic>
        <p:nvPicPr>
          <p:cNvPr id="24" name="Image 8" descr="C:\Users\AlexAmaze\AppData\Local\Temp\claude\C--My-Files-repos-supaday-ecommerce\b329a27c-f2be-420c-b170-4436a9ee7093\scratchpad\ppt\assets\icons\check-s.png">    </p:cNvPr>
          <p:cNvPicPr>
            <a:picLocks noChangeAspect="1"/>
          </p:cNvPicPr>
          <p:nvPr/>
        </p:nvPicPr>
        <p:blipFill>
          <a:blip r:embed="rId10"/>
          <a:stretch>
            <a:fillRect/>
          </a:stretch>
        </p:blipFill>
        <p:spPr>
          <a:xfrm>
            <a:off x="4572000" y="5650992"/>
            <a:ext cx="219456" cy="219456"/>
          </a:xfrm>
          <a:prstGeom prst="rect">
            <a:avLst/>
          </a:prstGeom>
        </p:spPr>
      </p:pic>
      <p:sp>
        <p:nvSpPr>
          <p:cNvPr id="25" name="Text 14"/>
          <p:cNvSpPr txBox="1"/>
          <p:nvPr/>
        </p:nvSpPr>
        <p:spPr>
          <a:xfrm>
            <a:off x="4901184" y="5623560"/>
            <a:ext cx="2734056" cy="274320"/>
          </a:xfrm>
          <a:prstGeom prst="rect">
            <a:avLst/>
          </a:prstGeom>
          <a:noFill/>
          <a:ln/>
        </p:spPr>
        <p:txBody>
          <a:bodyPr wrap="square" lIns="0" tIns="0" rIns="0" bIns="0"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Sin credenciales en slides ni capturas</a:t>
            </a:r>
            <a:endParaRPr lang="en-US" sz="1200" dirty="0"/>
          </a:p>
        </p:txBody>
      </p:sp>
      <p:sp>
        <p:nvSpPr>
          <p:cNvPr id="26" name="Shape 15"/>
          <p:cNvSpPr/>
          <p:nvPr/>
        </p:nvSpPr>
        <p:spPr>
          <a:xfrm>
            <a:off x="8001000" y="2377440"/>
            <a:ext cx="3639312" cy="3886200"/>
          </a:xfrm>
          <a:prstGeom prst="roundRect">
            <a:avLst>
              <a:gd name="adj" fmla="val 5528"/>
            </a:avLst>
          </a:prstGeom>
          <a:solidFill>
            <a:srgbClr val="FFFFFF">
              <a:alpha val="9000"/>
            </a:srgbClr>
          </a:solidFill>
          <a:ln w="12700">
            <a:solidFill>
              <a:srgbClr val="FFFFFF">
                <a:alpha val="24000"/>
              </a:srgbClr>
            </a:solidFill>
            <a:prstDash val="solid"/>
          </a:ln>
        </p:spPr>
      </p:sp>
      <p:sp>
        <p:nvSpPr>
          <p:cNvPr id="27" name="Text 16"/>
          <p:cNvSpPr txBox="1"/>
          <p:nvPr/>
        </p:nvSpPr>
        <p:spPr>
          <a:xfrm>
            <a:off x="8229600" y="2542032"/>
            <a:ext cx="3291840" cy="274320"/>
          </a:xfrm>
          <a:prstGeom prst="rect">
            <a:avLst/>
          </a:prstGeom>
          <a:noFill/>
          <a:ln/>
        </p:spPr>
        <p:txBody>
          <a:bodyPr wrap="square" lIns="0" tIns="0" rIns="0" bIns="0" rtlCol="0" anchor="t"/>
          <a:lstStyle/>
          <a:p>
            <a:pPr indent="0" marL="0">
              <a:buNone/>
            </a:pPr>
            <a:r>
              <a:rPr lang="en-US" sz="1100" dirty="0">
                <a:solidFill>
                  <a:srgbClr val="62CFF6"/>
                </a:solidFill>
                <a:latin typeface="Segoe UI Semibold" pitchFamily="34" charset="0"/>
                <a:ea typeface="Segoe UI Semibold" pitchFamily="34" charset="-122"/>
                <a:cs typeface="Segoe UI Semibold" pitchFamily="34" charset="-120"/>
              </a:rPr>
              <a:t>Historial (PR #1 · feat/aklabs-store → main)</a:t>
            </a:r>
            <a:endParaRPr lang="en-US" sz="1100" dirty="0"/>
          </a:p>
        </p:txBody>
      </p:sp>
      <p:sp>
        <p:nvSpPr>
          <p:cNvPr id="28" name="Text 17"/>
          <p:cNvSpPr txBox="1"/>
          <p:nvPr/>
        </p:nvSpPr>
        <p:spPr>
          <a:xfrm>
            <a:off x="8229600" y="2907792"/>
            <a:ext cx="3291840" cy="3200400"/>
          </a:xfrm>
          <a:prstGeom prst="rect">
            <a:avLst/>
          </a:prstGeom>
          <a:noFill/>
          <a:ln/>
        </p:spPr>
        <p:txBody>
          <a:bodyPr wrap="square" lIns="0" tIns="0" rIns="0" bIns="0" rtlCol="0" anchor="t"/>
          <a:lstStyle/>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chore: higiene del repo y .env.example</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feat(backend): catálogo AKLabs USD/EUR</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sistema de diseño AKLabs</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home + fix home vacía</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tienda y categorías</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página de producto</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carrito y checkout</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feat(storefront): confirmación y cuenta</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docs: README y guía de presentación</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chore: eliminar pnpm.overrides (pnpm 11)</a:t>
            </a:r>
            <a:endParaRPr lang="en-US" sz="950" dirty="0"/>
          </a:p>
          <a:p>
            <a:pPr indent="0" marL="0">
              <a:lnSpc>
                <a:spcPct val="128000"/>
              </a:lnSpc>
              <a:buNone/>
            </a:pPr>
            <a:r>
              <a:rPr lang="en-US" sz="950" dirty="0">
                <a:solidFill>
                  <a:srgbClr val="D6DDF5"/>
                </a:solidFill>
                <a:latin typeface="Consolas" pitchFamily="34" charset="0"/>
                <a:ea typeface="Consolas" pitchFamily="34" charset="-122"/>
                <a:cs typeface="Consolas" pitchFamily="34" charset="-120"/>
              </a:rPr>
              <a:t>feat(backend): tienda AKLabs Store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48640" y="384048"/>
            <a:ext cx="402336" cy="380390"/>
          </a:xfrm>
          <a:prstGeom prst="rect">
            <a:avLst/>
          </a:prstGeom>
        </p:spPr>
      </p:pic>
      <p:sp>
        <p:nvSpPr>
          <p:cNvPr id="3" name="Text 0"/>
          <p:cNvSpPr txBox="1"/>
          <p:nvPr/>
        </p:nvSpPr>
        <p:spPr>
          <a:xfrm>
            <a:off x="1033272" y="384048"/>
            <a:ext cx="1463040" cy="384048"/>
          </a:xfrm>
          <a:prstGeom prst="rect">
            <a:avLst/>
          </a:prstGeom>
          <a:noFill/>
          <a:ln/>
        </p:spPr>
        <p:txBody>
          <a:bodyPr wrap="square" lIns="0" tIns="0" rIns="0" bIns="0" rtlCol="0" anchor="ctr"/>
          <a:lstStyle/>
          <a:p>
            <a:pPr indent="0" marL="0">
              <a:buNone/>
            </a:pPr>
            <a:r>
              <a:rPr lang="en-US" sz="2100" spc="100" kern="0" dirty="0">
                <a:solidFill>
                  <a:srgbClr val="0A4FB3"/>
                </a:solidFill>
                <a:latin typeface="Bebas Neue" pitchFamily="34" charset="0"/>
                <a:ea typeface="Bebas Neue" pitchFamily="34" charset="-122"/>
                <a:cs typeface="Bebas Neue" pitchFamily="34" charset="-120"/>
              </a:rPr>
              <a:t>AKLABS</a:t>
            </a:r>
            <a:endParaRPr lang="en-US" sz="2100" dirty="0"/>
          </a:p>
        </p:txBody>
      </p:sp>
      <p:sp>
        <p:nvSpPr>
          <p:cNvPr id="4" name="Text 1"/>
          <p:cNvSpPr txBox="1"/>
          <p:nvPr/>
        </p:nvSpPr>
        <p:spPr>
          <a:xfrm>
            <a:off x="7068312" y="384048"/>
            <a:ext cx="4572000" cy="384048"/>
          </a:xfrm>
          <a:prstGeom prst="rect">
            <a:avLst/>
          </a:prstGeom>
          <a:noFill/>
          <a:ln/>
        </p:spPr>
        <p:txBody>
          <a:bodyPr wrap="square" lIns="0" tIns="0" rIns="0" bIns="0" rtlCol="0" anchor="ctr"/>
          <a:lstStyle/>
          <a:p>
            <a:pPr algn="r" indent="0" marL="0">
              <a:buNone/>
            </a:pPr>
            <a:r>
              <a:rPr lang="en-US" sz="1000" spc="200" kern="0" dirty="0">
                <a:solidFill>
                  <a:srgbClr val="56607E"/>
                </a:solidFill>
                <a:latin typeface="Segoe UI Semibold" pitchFamily="34" charset="0"/>
                <a:ea typeface="Segoe UI Semibold" pitchFamily="34" charset="-122"/>
                <a:cs typeface="Segoe UI Semibold" pitchFamily="34" charset="-120"/>
              </a:rPr>
              <a:t>14 / 15   ·   CIERRE TÉCNICO</a:t>
            </a:r>
            <a:endParaRPr lang="en-US" sz="1000" dirty="0"/>
          </a:p>
        </p:txBody>
      </p:sp>
      <p:sp>
        <p:nvSpPr>
          <p:cNvPr id="5" name="Shape 2"/>
          <p:cNvSpPr/>
          <p:nvPr/>
        </p:nvSpPr>
        <p:spPr>
          <a:xfrm>
            <a:off x="548640" y="1005840"/>
            <a:ext cx="2090318" cy="329184"/>
          </a:xfrm>
          <a:prstGeom prst="roundRect">
            <a:avLst>
              <a:gd name="adj" fmla="val 50000"/>
            </a:avLst>
          </a:prstGeom>
          <a:solidFill>
            <a:srgbClr val="FFFFFF">
              <a:alpha val="92000"/>
            </a:srgbClr>
          </a:solidFill>
          <a:ln w="9525">
            <a:solidFill>
              <a:srgbClr val="D9E3F2"/>
            </a:solidFill>
            <a:prstDash val="solid"/>
          </a:ln>
        </p:spPr>
      </p:sp>
      <p:pic>
        <p:nvPicPr>
          <p:cNvPr id="6" name="Image 1" descr="C:\Users\AlexAmaze\AppData\Local\Temp\claude\C--My-Files-repos-supaday-ecommerce\b329a27c-f2be-420c-b170-4436a9ee7093\scratchpad\ppt\assets\circle-grad.png">    </p:cNvPr>
          <p:cNvPicPr>
            <a:picLocks noChangeAspect="1"/>
          </p:cNvPicPr>
          <p:nvPr/>
        </p:nvPicPr>
        <p:blipFill>
          <a:blip r:embed="rId3"/>
          <a:stretch>
            <a:fillRect/>
          </a:stretch>
        </p:blipFill>
        <p:spPr>
          <a:xfrm>
            <a:off x="704088" y="1129284"/>
            <a:ext cx="82296" cy="82296"/>
          </a:xfrm>
          <a:prstGeom prst="rect">
            <a:avLst/>
          </a:prstGeom>
        </p:spPr>
      </p:pic>
      <p:sp>
        <p:nvSpPr>
          <p:cNvPr id="7" name="Text 3"/>
          <p:cNvSpPr txBox="1"/>
          <p:nvPr/>
        </p:nvSpPr>
        <p:spPr>
          <a:xfrm>
            <a:off x="859536" y="1005840"/>
            <a:ext cx="1724558" cy="329184"/>
          </a:xfrm>
          <a:prstGeom prst="rect">
            <a:avLst/>
          </a:prstGeom>
          <a:noFill/>
          <a:ln/>
        </p:spPr>
        <p:txBody>
          <a:bodyPr wrap="square" lIns="0" tIns="0" rIns="0" bIns="0" rtlCol="0" anchor="ctr"/>
          <a:lstStyle/>
          <a:p>
            <a:pPr indent="0" marL="0">
              <a:buNone/>
            </a:pPr>
            <a:r>
              <a:rPr lang="en-US" sz="1000" spc="300" kern="0" dirty="0">
                <a:solidFill>
                  <a:srgbClr val="0A4FB3"/>
                </a:solidFill>
                <a:latin typeface="Segoe UI Semibold" pitchFamily="34" charset="0"/>
                <a:ea typeface="Segoe UI Semibold" pitchFamily="34" charset="-122"/>
                <a:cs typeface="Segoe UI Semibold" pitchFamily="34" charset="-120"/>
              </a:rPr>
              <a:t>APRENDIZAJES</a:t>
            </a:r>
            <a:endParaRPr lang="en-US" sz="1000" dirty="0"/>
          </a:p>
        </p:txBody>
      </p:sp>
      <p:sp>
        <p:nvSpPr>
          <p:cNvPr id="8" name="Text 4"/>
          <p:cNvSpPr txBox="1"/>
          <p:nvPr/>
        </p:nvSpPr>
        <p:spPr>
          <a:xfrm>
            <a:off x="548640" y="1417320"/>
            <a:ext cx="11091672" cy="822960"/>
          </a:xfrm>
          <a:prstGeom prst="rect">
            <a:avLst/>
          </a:prstGeom>
          <a:noFill/>
          <a:ln/>
        </p:spPr>
        <p:txBody>
          <a:bodyPr wrap="square" lIns="0" tIns="0" rIns="0" bIns="0" rtlCol="0" anchor="ctr"/>
          <a:lstStyle/>
          <a:p>
            <a:pPr indent="0" marL="0">
              <a:buNone/>
            </a:pPr>
            <a:r>
              <a:rPr lang="en-US" sz="4600" spc="100" kern="0" dirty="0">
                <a:solidFill>
                  <a:srgbClr val="0A1033"/>
                </a:solidFill>
                <a:latin typeface="Bebas Neue" pitchFamily="34" charset="0"/>
                <a:ea typeface="Bebas Neue" pitchFamily="34" charset="-122"/>
                <a:cs typeface="Bebas Neue" pitchFamily="34" charset="-120"/>
              </a:rPr>
              <a:t>LO QUE APRENDÍ </a:t>
            </a:r>
            <a:pPr indent="0" marL="0">
              <a:buNone/>
            </a:pPr>
            <a:r>
              <a:rPr lang="en-US" sz="4600" spc="100" kern="0" dirty="0">
                <a:solidFill>
                  <a:srgbClr val="E3161F"/>
                </a:solidFill>
                <a:latin typeface="Bebas Neue" pitchFamily="34" charset="0"/>
                <a:ea typeface="Bebas Neue" pitchFamily="34" charset="-122"/>
                <a:cs typeface="Bebas Neue" pitchFamily="34" charset="-120"/>
              </a:rPr>
              <a:t>Y LO QUE SIGUE</a:t>
            </a:r>
            <a:endParaRPr lang="en-US" sz="4600" dirty="0"/>
          </a:p>
        </p:txBody>
      </p:sp>
      <p:sp>
        <p:nvSpPr>
          <p:cNvPr id="9" name="Shape 5"/>
          <p:cNvSpPr/>
          <p:nvPr/>
        </p:nvSpPr>
        <p:spPr>
          <a:xfrm>
            <a:off x="548640" y="2377440"/>
            <a:ext cx="3520440" cy="3886200"/>
          </a:xfrm>
          <a:prstGeom prst="roundRect">
            <a:avLst>
              <a:gd name="adj" fmla="val 6234"/>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0" name="Image 2" descr="C:\Users\AlexAmaze\AppData\Local\Temp\claude\C--My-Files-repos-supaday-ecommerce\b329a27c-f2be-420c-b170-4436a9ee7093\scratchpad\ppt\assets\circle-grad.png">    </p:cNvPr>
          <p:cNvPicPr>
            <a:picLocks noChangeAspect="1"/>
          </p:cNvPicPr>
          <p:nvPr/>
        </p:nvPicPr>
        <p:blipFill>
          <a:blip r:embed="rId4"/>
          <a:stretch>
            <a:fillRect/>
          </a:stretch>
        </p:blipFill>
        <p:spPr>
          <a:xfrm>
            <a:off x="777240" y="2606040"/>
            <a:ext cx="512064" cy="512064"/>
          </a:xfrm>
          <a:prstGeom prst="rect">
            <a:avLst/>
          </a:prstGeom>
        </p:spPr>
      </p:pic>
      <p:pic>
        <p:nvPicPr>
          <p:cNvPr id="11" name="Image 3" descr="C:\Users\AlexAmaze\AppData\Local\Temp\claude\C--My-Files-repos-supaday-ecommerce\b329a27c-f2be-420c-b170-4436a9ee7093\scratchpad\ppt\assets\icons\zap-w.png">    </p:cNvPr>
          <p:cNvPicPr>
            <a:picLocks noChangeAspect="1"/>
          </p:cNvPicPr>
          <p:nvPr/>
        </p:nvPicPr>
        <p:blipFill>
          <a:blip r:embed="rId5"/>
          <a:stretch>
            <a:fillRect/>
          </a:stretch>
        </p:blipFill>
        <p:spPr>
          <a:xfrm>
            <a:off x="905256" y="2734056"/>
            <a:ext cx="256032" cy="256032"/>
          </a:xfrm>
          <a:prstGeom prst="rect">
            <a:avLst/>
          </a:prstGeom>
        </p:spPr>
      </p:pic>
      <p:sp>
        <p:nvSpPr>
          <p:cNvPr id="12" name="Text 6"/>
          <p:cNvSpPr txBox="1"/>
          <p:nvPr/>
        </p:nvSpPr>
        <p:spPr>
          <a:xfrm>
            <a:off x="777240" y="3246120"/>
            <a:ext cx="3108960" cy="868680"/>
          </a:xfrm>
          <a:prstGeom prst="rect">
            <a:avLst/>
          </a:prstGeom>
          <a:noFill/>
          <a:ln/>
        </p:spPr>
        <p:txBody>
          <a:bodyPr wrap="square" lIns="0" tIns="0" rIns="0" bIns="0" rtlCol="0" anchor="t"/>
          <a:lstStyle/>
          <a:p>
            <a:pPr indent="0" marL="0">
              <a:buNone/>
            </a:pPr>
            <a:r>
              <a:rPr lang="en-US" sz="6000" dirty="0">
                <a:solidFill>
                  <a:srgbClr val="E3161F"/>
                </a:solidFill>
                <a:latin typeface="Bebas Neue" pitchFamily="34" charset="0"/>
                <a:ea typeface="Bebas Neue" pitchFamily="34" charset="-122"/>
                <a:cs typeface="Bebas Neue" pitchFamily="34" charset="-120"/>
              </a:rPr>
              <a:t>~160 ms</a:t>
            </a:r>
            <a:endParaRPr lang="en-US" sz="6000" dirty="0"/>
          </a:p>
        </p:txBody>
      </p:sp>
      <p:sp>
        <p:nvSpPr>
          <p:cNvPr id="13" name="Text 7"/>
          <p:cNvSpPr txBox="1"/>
          <p:nvPr/>
        </p:nvSpPr>
        <p:spPr>
          <a:xfrm>
            <a:off x="777240" y="4069080"/>
            <a:ext cx="3108960" cy="292608"/>
          </a:xfrm>
          <a:prstGeom prst="rect">
            <a:avLst/>
          </a:prstGeom>
          <a:noFill/>
          <a:ln/>
        </p:spPr>
        <p:txBody>
          <a:bodyPr wrap="square" lIns="0" tIns="0" rIns="0" bIns="0" rtlCol="0" anchor="t"/>
          <a:lstStyle/>
          <a:p>
            <a:pPr indent="0" marL="0">
              <a:buNone/>
            </a:pPr>
            <a:r>
              <a:rPr lang="en-US" sz="1300" dirty="0">
                <a:solidFill>
                  <a:srgbClr val="0A1033"/>
                </a:solidFill>
                <a:latin typeface="Segoe UI Semibold" pitchFamily="34" charset="0"/>
                <a:ea typeface="Segoe UI Semibold" pitchFamily="34" charset="-122"/>
                <a:cs typeface="Segoe UI Semibold" pitchFamily="34" charset="-120"/>
              </a:rPr>
              <a:t>por consulta hasta us-west-2</a:t>
            </a:r>
            <a:endParaRPr lang="en-US" sz="1300" dirty="0"/>
          </a:p>
        </p:txBody>
      </p:sp>
      <p:sp>
        <p:nvSpPr>
          <p:cNvPr id="14" name="Text 8"/>
          <p:cNvSpPr txBox="1"/>
          <p:nvPr/>
        </p:nvSpPr>
        <p:spPr>
          <a:xfrm>
            <a:off x="777240" y="4480560"/>
            <a:ext cx="3108960" cy="1554480"/>
          </a:xfrm>
          <a:prstGeom prst="rect">
            <a:avLst/>
          </a:prstGeom>
          <a:noFill/>
          <a:ln/>
        </p:spPr>
        <p:txBody>
          <a:bodyPr wrap="square" lIns="0" tIns="0" rIns="0" bIns="0" rtlCol="0" anchor="t"/>
          <a:lstStyle/>
          <a:p>
            <a:pPr indent="0" marL="0">
              <a:lnSpc>
                <a:spcPct val="108000"/>
              </a:lnSpc>
              <a:buNone/>
            </a:pPr>
            <a:r>
              <a:rPr lang="en-US" sz="1150" dirty="0">
                <a:solidFill>
                  <a:srgbClr val="56607E"/>
                </a:solidFill>
                <a:latin typeface="Segoe UI" pitchFamily="34" charset="0"/>
                <a:ea typeface="Segoe UI" pitchFamily="34" charset="-122"/>
                <a:cs typeface="Segoe UI" pitchFamily="34" charset="-120"/>
              </a:rPr>
              <a:t>Medusa hace decenas de consultas por paso del checkout: con la base lejos, cada paso tarda segundos. En producción irían base y backend en la misma región.</a:t>
            </a:r>
            <a:endParaRPr lang="en-US" sz="1150" dirty="0"/>
          </a:p>
        </p:txBody>
      </p:sp>
      <p:sp>
        <p:nvSpPr>
          <p:cNvPr id="15" name="Text 9"/>
          <p:cNvSpPr txBox="1"/>
          <p:nvPr/>
        </p:nvSpPr>
        <p:spPr>
          <a:xfrm>
            <a:off x="4389120" y="2377440"/>
            <a:ext cx="3383280" cy="365760"/>
          </a:xfrm>
          <a:prstGeom prst="rect">
            <a:avLst/>
          </a:prstGeom>
          <a:noFill/>
          <a:ln/>
        </p:spPr>
        <p:txBody>
          <a:bodyPr wrap="square" lIns="0" tIns="0" rIns="0" bIns="0" rtlCol="0" anchor="t"/>
          <a:lstStyle/>
          <a:p>
            <a:pPr indent="0" marL="0">
              <a:buNone/>
            </a:pPr>
            <a:r>
              <a:rPr lang="en-US" sz="2600" dirty="0">
                <a:solidFill>
                  <a:srgbClr val="0A1033"/>
                </a:solidFill>
                <a:latin typeface="Bebas Neue" pitchFamily="34" charset="0"/>
                <a:ea typeface="Bebas Neue" pitchFamily="34" charset="-122"/>
                <a:cs typeface="Bebas Neue" pitchFamily="34" charset="-120"/>
              </a:rPr>
              <a:t>Aprendí</a:t>
            </a:r>
            <a:endParaRPr lang="en-US" sz="2600" dirty="0"/>
          </a:p>
        </p:txBody>
      </p:sp>
      <p:sp>
        <p:nvSpPr>
          <p:cNvPr id="16" name="Shape 10"/>
          <p:cNvSpPr/>
          <p:nvPr/>
        </p:nvSpPr>
        <p:spPr>
          <a:xfrm>
            <a:off x="4389120" y="2880360"/>
            <a:ext cx="3383280" cy="932688"/>
          </a:xfrm>
          <a:prstGeom prst="roundRect">
            <a:avLst>
              <a:gd name="adj" fmla="val 19608"/>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17" name="Image 4" descr="C:\Users\AlexAmaze\AppData\Local\Temp\claude\C--My-Files-repos-supaday-ecommerce\b329a27c-f2be-420c-b170-4436a9ee7093\scratchpad\ppt\assets\circle-grad.png">    </p:cNvPr>
          <p:cNvPicPr>
            <a:picLocks noChangeAspect="1"/>
          </p:cNvPicPr>
          <p:nvPr/>
        </p:nvPicPr>
        <p:blipFill>
          <a:blip r:embed="rId6"/>
          <a:stretch>
            <a:fillRect/>
          </a:stretch>
        </p:blipFill>
        <p:spPr>
          <a:xfrm>
            <a:off x="4553712" y="3099816"/>
            <a:ext cx="475488" cy="475488"/>
          </a:xfrm>
          <a:prstGeom prst="rect">
            <a:avLst/>
          </a:prstGeom>
        </p:spPr>
      </p:pic>
      <p:pic>
        <p:nvPicPr>
          <p:cNvPr id="18" name="Image 5" descr="C:\Users\AlexAmaze\AppData\Local\Temp\claude\C--My-Files-repos-supaday-ecommerce\b329a27c-f2be-420c-b170-4436a9ee7093\scratchpad\ppt\assets\icons\bulb-w.png">    </p:cNvPr>
          <p:cNvPicPr>
            <a:picLocks noChangeAspect="1"/>
          </p:cNvPicPr>
          <p:nvPr/>
        </p:nvPicPr>
        <p:blipFill>
          <a:blip r:embed="rId7"/>
          <a:stretch>
            <a:fillRect/>
          </a:stretch>
        </p:blipFill>
        <p:spPr>
          <a:xfrm>
            <a:off x="4672584" y="3218688"/>
            <a:ext cx="237744" cy="237744"/>
          </a:xfrm>
          <a:prstGeom prst="rect">
            <a:avLst/>
          </a:prstGeom>
        </p:spPr>
      </p:pic>
      <p:sp>
        <p:nvSpPr>
          <p:cNvPr id="19" name="Text 11"/>
          <p:cNvSpPr txBox="1"/>
          <p:nvPr/>
        </p:nvSpPr>
        <p:spPr>
          <a:xfrm>
            <a:off x="5166360" y="2990088"/>
            <a:ext cx="2487168" cy="731520"/>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Medusa separa comercio y datos: módulos, workflows y tablas link.</a:t>
            </a:r>
            <a:endParaRPr lang="en-US" sz="1150" dirty="0"/>
          </a:p>
        </p:txBody>
      </p:sp>
      <p:sp>
        <p:nvSpPr>
          <p:cNvPr id="20" name="Shape 12"/>
          <p:cNvSpPr/>
          <p:nvPr/>
        </p:nvSpPr>
        <p:spPr>
          <a:xfrm>
            <a:off x="4389120" y="3977640"/>
            <a:ext cx="3383280" cy="932688"/>
          </a:xfrm>
          <a:prstGeom prst="roundRect">
            <a:avLst>
              <a:gd name="adj" fmla="val 19608"/>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1" name="Image 6" descr="C:\Users\AlexAmaze\AppData\Local\Temp\claude\C--My-Files-repos-supaday-ecommerce\b329a27c-f2be-420c-b170-4436a9ee7093\scratchpad\ppt\assets\circle-grad.png">    </p:cNvPr>
          <p:cNvPicPr>
            <a:picLocks noChangeAspect="1"/>
          </p:cNvPicPr>
          <p:nvPr/>
        </p:nvPicPr>
        <p:blipFill>
          <a:blip r:embed="rId8"/>
          <a:stretch>
            <a:fillRect/>
          </a:stretch>
        </p:blipFill>
        <p:spPr>
          <a:xfrm>
            <a:off x="4553712" y="4197096"/>
            <a:ext cx="475488" cy="475488"/>
          </a:xfrm>
          <a:prstGeom prst="rect">
            <a:avLst/>
          </a:prstGeom>
        </p:spPr>
      </p:pic>
      <p:pic>
        <p:nvPicPr>
          <p:cNvPr id="22" name="Image 7" descr="C:\Users\AlexAmaze\AppData\Local\Temp\claude\C--My-Files-repos-supaday-ecommerce\b329a27c-f2be-420c-b170-4436a9ee7093\scratchpad\ppt\assets\icons\plug-w.png">    </p:cNvPr>
          <p:cNvPicPr>
            <a:picLocks noChangeAspect="1"/>
          </p:cNvPicPr>
          <p:nvPr/>
        </p:nvPicPr>
        <p:blipFill>
          <a:blip r:embed="rId9"/>
          <a:stretch>
            <a:fillRect/>
          </a:stretch>
        </p:blipFill>
        <p:spPr>
          <a:xfrm>
            <a:off x="4672584" y="4315968"/>
            <a:ext cx="237744" cy="237744"/>
          </a:xfrm>
          <a:prstGeom prst="rect">
            <a:avLst/>
          </a:prstGeom>
        </p:spPr>
      </p:pic>
      <p:sp>
        <p:nvSpPr>
          <p:cNvPr id="23" name="Text 13"/>
          <p:cNvSpPr txBox="1"/>
          <p:nvPr/>
        </p:nvSpPr>
        <p:spPr>
          <a:xfrm>
            <a:off x="5166360" y="4087368"/>
            <a:ext cx="2487168" cy="731520"/>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El modo de conexión importa: Session pooler para ORMs que usan sesión.</a:t>
            </a:r>
            <a:endParaRPr lang="en-US" sz="1150" dirty="0"/>
          </a:p>
        </p:txBody>
      </p:sp>
      <p:sp>
        <p:nvSpPr>
          <p:cNvPr id="24" name="Shape 14"/>
          <p:cNvSpPr/>
          <p:nvPr/>
        </p:nvSpPr>
        <p:spPr>
          <a:xfrm>
            <a:off x="4389120" y="5074920"/>
            <a:ext cx="3383280" cy="932688"/>
          </a:xfrm>
          <a:prstGeom prst="roundRect">
            <a:avLst>
              <a:gd name="adj" fmla="val 19608"/>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25" name="Image 8" descr="C:\Users\AlexAmaze\AppData\Local\Temp\claude\C--My-Files-repos-supaday-ecommerce\b329a27c-f2be-420c-b170-4436a9ee7093\scratchpad\ppt\assets\circle-grad.png">    </p:cNvPr>
          <p:cNvPicPr>
            <a:picLocks noChangeAspect="1"/>
          </p:cNvPicPr>
          <p:nvPr/>
        </p:nvPicPr>
        <p:blipFill>
          <a:blip r:embed="rId10"/>
          <a:stretch>
            <a:fillRect/>
          </a:stretch>
        </p:blipFill>
        <p:spPr>
          <a:xfrm>
            <a:off x="4553712" y="5294376"/>
            <a:ext cx="475488" cy="475488"/>
          </a:xfrm>
          <a:prstGeom prst="rect">
            <a:avLst/>
          </a:prstGeom>
        </p:spPr>
      </p:pic>
      <p:pic>
        <p:nvPicPr>
          <p:cNvPr id="26" name="Image 9" descr="C:\Users\AlexAmaze\AppData\Local\Temp\claude\C--My-Files-repos-supaday-ecommerce\b329a27c-f2be-420c-b170-4436a9ee7093\scratchpad\ppt\assets\icons\globe-w.png">    </p:cNvPr>
          <p:cNvPicPr>
            <a:picLocks noChangeAspect="1"/>
          </p:cNvPicPr>
          <p:nvPr/>
        </p:nvPicPr>
        <p:blipFill>
          <a:blip r:embed="rId11"/>
          <a:stretch>
            <a:fillRect/>
          </a:stretch>
        </p:blipFill>
        <p:spPr>
          <a:xfrm>
            <a:off x="4672584" y="5413248"/>
            <a:ext cx="237744" cy="237744"/>
          </a:xfrm>
          <a:prstGeom prst="rect">
            <a:avLst/>
          </a:prstGeom>
        </p:spPr>
      </p:pic>
      <p:sp>
        <p:nvSpPr>
          <p:cNvPr id="27" name="Text 15"/>
          <p:cNvSpPr txBox="1"/>
          <p:nvPr/>
        </p:nvSpPr>
        <p:spPr>
          <a:xfrm>
            <a:off x="5166360" y="5184648"/>
            <a:ext cx="2487168" cy="731520"/>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Multi-región es moneda + impuestos + envíos, no solo un tipo de cambio.</a:t>
            </a:r>
            <a:endParaRPr lang="en-US" sz="1150" dirty="0"/>
          </a:p>
        </p:txBody>
      </p:sp>
      <p:sp>
        <p:nvSpPr>
          <p:cNvPr id="28" name="Text 16"/>
          <p:cNvSpPr txBox="1"/>
          <p:nvPr/>
        </p:nvSpPr>
        <p:spPr>
          <a:xfrm>
            <a:off x="8092440" y="2377440"/>
            <a:ext cx="3547872" cy="365760"/>
          </a:xfrm>
          <a:prstGeom prst="rect">
            <a:avLst/>
          </a:prstGeom>
          <a:noFill/>
          <a:ln/>
        </p:spPr>
        <p:txBody>
          <a:bodyPr wrap="square" lIns="0" tIns="0" rIns="0" bIns="0" rtlCol="0" anchor="t"/>
          <a:lstStyle/>
          <a:p>
            <a:pPr indent="0" marL="0">
              <a:buNone/>
            </a:pPr>
            <a:r>
              <a:rPr lang="en-US" sz="2600" dirty="0">
                <a:solidFill>
                  <a:srgbClr val="0A1033"/>
                </a:solidFill>
                <a:latin typeface="Bebas Neue" pitchFamily="34" charset="0"/>
                <a:ea typeface="Bebas Neue" pitchFamily="34" charset="-122"/>
                <a:cs typeface="Bebas Neue" pitchFamily="34" charset="-120"/>
              </a:rPr>
              <a:t>Lo que sigue</a:t>
            </a:r>
            <a:endParaRPr lang="en-US" sz="2600" dirty="0"/>
          </a:p>
        </p:txBody>
      </p:sp>
      <p:sp>
        <p:nvSpPr>
          <p:cNvPr id="29" name="Shape 17"/>
          <p:cNvSpPr/>
          <p:nvPr/>
        </p:nvSpPr>
        <p:spPr>
          <a:xfrm>
            <a:off x="8092440" y="2880360"/>
            <a:ext cx="3547872" cy="713232"/>
          </a:xfrm>
          <a:prstGeom prst="roundRect">
            <a:avLst>
              <a:gd name="adj" fmla="val 23077"/>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0" name="Image 10" descr="C:\Users\AlexAmaze\AppData\Local\Temp\claude\C--My-Files-repos-supaday-ecommerce\b329a27c-f2be-420c-b170-4436a9ee7093\scratchpad\ppt\assets\circle-grad.png">    </p:cNvPr>
          <p:cNvPicPr>
            <a:picLocks noChangeAspect="1"/>
          </p:cNvPicPr>
          <p:nvPr/>
        </p:nvPicPr>
        <p:blipFill>
          <a:blip r:embed="rId12"/>
          <a:stretch>
            <a:fillRect/>
          </a:stretch>
        </p:blipFill>
        <p:spPr>
          <a:xfrm>
            <a:off x="8247888" y="3017520"/>
            <a:ext cx="438912" cy="438912"/>
          </a:xfrm>
          <a:prstGeom prst="rect">
            <a:avLst/>
          </a:prstGeom>
        </p:spPr>
      </p:pic>
      <p:pic>
        <p:nvPicPr>
          <p:cNvPr id="31" name="Image 11" descr="C:\Users\AlexAmaze\AppData\Local\Temp\claude\C--My-Files-repos-supaday-ecommerce\b329a27c-f2be-420c-b170-4436a9ee7093\scratchpad\ppt\assets\icons\receipt-w.png">    </p:cNvPr>
          <p:cNvPicPr>
            <a:picLocks noChangeAspect="1"/>
          </p:cNvPicPr>
          <p:nvPr/>
        </p:nvPicPr>
        <p:blipFill>
          <a:blip r:embed="rId13"/>
          <a:stretch>
            <a:fillRect/>
          </a:stretch>
        </p:blipFill>
        <p:spPr>
          <a:xfrm>
            <a:off x="8357616" y="3127248"/>
            <a:ext cx="219456" cy="219456"/>
          </a:xfrm>
          <a:prstGeom prst="rect">
            <a:avLst/>
          </a:prstGeom>
        </p:spPr>
      </p:pic>
      <p:sp>
        <p:nvSpPr>
          <p:cNvPr id="32" name="Text 18"/>
          <p:cNvSpPr txBox="1"/>
          <p:nvPr/>
        </p:nvSpPr>
        <p:spPr>
          <a:xfrm>
            <a:off x="8823960" y="2880360"/>
            <a:ext cx="2697480" cy="713232"/>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IVA 15% en la tax region de Ecuador</a:t>
            </a:r>
            <a:endParaRPr lang="en-US" sz="1150" dirty="0"/>
          </a:p>
        </p:txBody>
      </p:sp>
      <p:sp>
        <p:nvSpPr>
          <p:cNvPr id="33" name="Shape 19"/>
          <p:cNvSpPr/>
          <p:nvPr/>
        </p:nvSpPr>
        <p:spPr>
          <a:xfrm>
            <a:off x="8092440" y="3721608"/>
            <a:ext cx="3547872" cy="713232"/>
          </a:xfrm>
          <a:prstGeom prst="roundRect">
            <a:avLst>
              <a:gd name="adj" fmla="val 23077"/>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4" name="Image 12" descr="C:\Users\AlexAmaze\AppData\Local\Temp\claude\C--My-Files-repos-supaday-ecommerce\b329a27c-f2be-420c-b170-4436a9ee7093\scratchpad\ppt\assets\circle-grad.png">    </p:cNvPr>
          <p:cNvPicPr>
            <a:picLocks noChangeAspect="1"/>
          </p:cNvPicPr>
          <p:nvPr/>
        </p:nvPicPr>
        <p:blipFill>
          <a:blip r:embed="rId14"/>
          <a:stretch>
            <a:fillRect/>
          </a:stretch>
        </p:blipFill>
        <p:spPr>
          <a:xfrm>
            <a:off x="8247888" y="3858768"/>
            <a:ext cx="438912" cy="438912"/>
          </a:xfrm>
          <a:prstGeom prst="rect">
            <a:avLst/>
          </a:prstGeom>
        </p:spPr>
      </p:pic>
      <p:pic>
        <p:nvPicPr>
          <p:cNvPr id="35" name="Image 13" descr="C:\Users\AlexAmaze\AppData\Local\Temp\claude\C--My-Files-repos-supaday-ecommerce\b329a27c-f2be-420c-b170-4436a9ee7093\scratchpad\ppt\assets\icons\card-w.png">    </p:cNvPr>
          <p:cNvPicPr>
            <a:picLocks noChangeAspect="1"/>
          </p:cNvPicPr>
          <p:nvPr/>
        </p:nvPicPr>
        <p:blipFill>
          <a:blip r:embed="rId15"/>
          <a:stretch>
            <a:fillRect/>
          </a:stretch>
        </p:blipFill>
        <p:spPr>
          <a:xfrm>
            <a:off x="8357616" y="3968496"/>
            <a:ext cx="219456" cy="219456"/>
          </a:xfrm>
          <a:prstGeom prst="rect">
            <a:avLst/>
          </a:prstGeom>
        </p:spPr>
      </p:pic>
      <p:sp>
        <p:nvSpPr>
          <p:cNvPr id="36" name="Text 20"/>
          <p:cNvSpPr txBox="1"/>
          <p:nvPr/>
        </p:nvSpPr>
        <p:spPr>
          <a:xfrm>
            <a:off x="8823960" y="3721608"/>
            <a:ext cx="2697480" cy="713232"/>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Pagos reales: PayPhone, Kushki o Stripe</a:t>
            </a:r>
            <a:endParaRPr lang="en-US" sz="1150" dirty="0"/>
          </a:p>
        </p:txBody>
      </p:sp>
      <p:sp>
        <p:nvSpPr>
          <p:cNvPr id="37" name="Shape 21"/>
          <p:cNvSpPr/>
          <p:nvPr/>
        </p:nvSpPr>
        <p:spPr>
          <a:xfrm>
            <a:off x="8092440" y="4562856"/>
            <a:ext cx="3547872" cy="713232"/>
          </a:xfrm>
          <a:prstGeom prst="roundRect">
            <a:avLst>
              <a:gd name="adj" fmla="val 23077"/>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38" name="Image 14" descr="C:\Users\AlexAmaze\AppData\Local\Temp\claude\C--My-Files-repos-supaday-ecommerce\b329a27c-f2be-420c-b170-4436a9ee7093\scratchpad\ppt\assets\circle-grad.png">    </p:cNvPr>
          <p:cNvPicPr>
            <a:picLocks noChangeAspect="1"/>
          </p:cNvPicPr>
          <p:nvPr/>
        </p:nvPicPr>
        <p:blipFill>
          <a:blip r:embed="rId16"/>
          <a:stretch>
            <a:fillRect/>
          </a:stretch>
        </p:blipFill>
        <p:spPr>
          <a:xfrm>
            <a:off x="8247888" y="4700016"/>
            <a:ext cx="438912" cy="438912"/>
          </a:xfrm>
          <a:prstGeom prst="rect">
            <a:avLst/>
          </a:prstGeom>
        </p:spPr>
      </p:pic>
      <p:pic>
        <p:nvPicPr>
          <p:cNvPr id="39" name="Image 15" descr="C:\Users\AlexAmaze\AppData\Local\Temp\claude\C--My-Files-repos-supaday-ecommerce\b329a27c-f2be-420c-b170-4436a9ee7093\scratchpad\ppt\assets\icons\server-w.png">    </p:cNvPr>
          <p:cNvPicPr>
            <a:picLocks noChangeAspect="1"/>
          </p:cNvPicPr>
          <p:nvPr/>
        </p:nvPicPr>
        <p:blipFill>
          <a:blip r:embed="rId17"/>
          <a:stretch>
            <a:fillRect/>
          </a:stretch>
        </p:blipFill>
        <p:spPr>
          <a:xfrm>
            <a:off x="8357616" y="4809744"/>
            <a:ext cx="219456" cy="219456"/>
          </a:xfrm>
          <a:prstGeom prst="rect">
            <a:avLst/>
          </a:prstGeom>
        </p:spPr>
      </p:pic>
      <p:sp>
        <p:nvSpPr>
          <p:cNvPr id="40" name="Text 22"/>
          <p:cNvSpPr txBox="1"/>
          <p:nvPr/>
        </p:nvSpPr>
        <p:spPr>
          <a:xfrm>
            <a:off x="8823960" y="4562856"/>
            <a:ext cx="2697480" cy="713232"/>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Redis para eventos y caché en producción</a:t>
            </a:r>
            <a:endParaRPr lang="en-US" sz="1150" dirty="0"/>
          </a:p>
        </p:txBody>
      </p:sp>
      <p:sp>
        <p:nvSpPr>
          <p:cNvPr id="41" name="Shape 23"/>
          <p:cNvSpPr/>
          <p:nvPr/>
        </p:nvSpPr>
        <p:spPr>
          <a:xfrm>
            <a:off x="8092440" y="5404104"/>
            <a:ext cx="3547872" cy="713232"/>
          </a:xfrm>
          <a:prstGeom prst="roundRect">
            <a:avLst>
              <a:gd name="adj" fmla="val 23077"/>
            </a:avLst>
          </a:prstGeom>
          <a:solidFill>
            <a:srgbClr val="FFFFFF">
              <a:alpha val="82000"/>
            </a:srgbClr>
          </a:solidFill>
          <a:ln w="15875">
            <a:solidFill>
              <a:srgbClr val="FFFFFF"/>
            </a:solidFill>
            <a:prstDash val="solid"/>
          </a:ln>
          <a:effectLst>
            <a:outerShdw sx="100000" sy="100000" kx="0" ky="0" algn="bl" rotWithShape="0" blurRad="228600" dist="63500" dir="5400000">
              <a:srgbClr val="0A1E5A">
                <a:alpha val="13000"/>
              </a:srgbClr>
            </a:outerShdw>
          </a:effectLst>
        </p:spPr>
      </p:sp>
      <p:pic>
        <p:nvPicPr>
          <p:cNvPr id="42" name="Image 16" descr="C:\Users\AlexAmaze\AppData\Local\Temp\claude\C--My-Files-repos-supaday-ecommerce\b329a27c-f2be-420c-b170-4436a9ee7093\scratchpad\ppt\assets\circle-grad.png">    </p:cNvPr>
          <p:cNvPicPr>
            <a:picLocks noChangeAspect="1"/>
          </p:cNvPicPr>
          <p:nvPr/>
        </p:nvPicPr>
        <p:blipFill>
          <a:blip r:embed="rId18"/>
          <a:stretch>
            <a:fillRect/>
          </a:stretch>
        </p:blipFill>
        <p:spPr>
          <a:xfrm>
            <a:off x="8247888" y="5541264"/>
            <a:ext cx="438912" cy="438912"/>
          </a:xfrm>
          <a:prstGeom prst="rect">
            <a:avLst/>
          </a:prstGeom>
        </p:spPr>
      </p:pic>
      <p:pic>
        <p:nvPicPr>
          <p:cNvPr id="43" name="Image 17" descr="C:\Users\AlexAmaze\AppData\Local\Temp\claude\C--My-Files-repos-supaday-ecommerce\b329a27c-f2be-420c-b170-4436a9ee7093\scratchpad\ppt\assets\icons\rocket-w.png">    </p:cNvPr>
          <p:cNvPicPr>
            <a:picLocks noChangeAspect="1"/>
          </p:cNvPicPr>
          <p:nvPr/>
        </p:nvPicPr>
        <p:blipFill>
          <a:blip r:embed="rId19"/>
          <a:stretch>
            <a:fillRect/>
          </a:stretch>
        </p:blipFill>
        <p:spPr>
          <a:xfrm>
            <a:off x="8357616" y="5650992"/>
            <a:ext cx="219456" cy="219456"/>
          </a:xfrm>
          <a:prstGeom prst="rect">
            <a:avLst/>
          </a:prstGeom>
        </p:spPr>
      </p:pic>
      <p:sp>
        <p:nvSpPr>
          <p:cNvPr id="44" name="Text 24"/>
          <p:cNvSpPr txBox="1"/>
          <p:nvPr/>
        </p:nvSpPr>
        <p:spPr>
          <a:xfrm>
            <a:off x="8823960" y="5404104"/>
            <a:ext cx="2697480" cy="713232"/>
          </a:xfrm>
          <a:prstGeom prst="rect">
            <a:avLst/>
          </a:prstGeom>
          <a:noFill/>
          <a:ln/>
        </p:spPr>
        <p:txBody>
          <a:bodyPr wrap="square" lIns="0" tIns="0" rIns="0" bIns="0" rtlCol="0" anchor="ctr"/>
          <a:lstStyle/>
          <a:p>
            <a:pPr indent="0" marL="0">
              <a:buNone/>
            </a:pPr>
            <a:r>
              <a:rPr lang="en-US" sz="1150" dirty="0">
                <a:solidFill>
                  <a:srgbClr val="0A1033"/>
                </a:solidFill>
                <a:latin typeface="Segoe UI" pitchFamily="34" charset="0"/>
                <a:ea typeface="Segoe UI" pitchFamily="34" charset="-122"/>
                <a:cs typeface="Segoe UI" pitchFamily="34" charset="-120"/>
              </a:rPr>
              <a:t>Deploy: backend en Railway o Render, storefront en Vercel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lexAmaze\AppData\Local\Temp\claude\C--My-Files-repos-supaday-ecommerce\b329a27c-f2be-420c-b170-4436a9ee7093\scratchpad\ppt\assets\logo-circle.png">    </p:cNvPr>
          <p:cNvPicPr>
            <a:picLocks noChangeAspect="1"/>
          </p:cNvPicPr>
          <p:nvPr/>
        </p:nvPicPr>
        <p:blipFill>
          <a:blip r:embed="rId2"/>
          <a:stretch>
            <a:fillRect/>
          </a:stretch>
        </p:blipFill>
        <p:spPr>
          <a:xfrm>
            <a:off x="5592928" y="777240"/>
            <a:ext cx="1005840" cy="950976"/>
          </a:xfrm>
          <a:prstGeom prst="rect">
            <a:avLst/>
          </a:prstGeom>
        </p:spPr>
      </p:pic>
      <p:pic>
        <p:nvPicPr>
          <p:cNvPr id="3" name="Image 1" descr="C:\Users\AlexAmaze\AppData\Local\Temp\claude\C--My-Files-repos-supaday-ecommerce\b329a27c-f2be-420c-b170-4436a9ee7093\scratchpad\ppt\assets\t-gracias.png">    </p:cNvPr>
          <p:cNvPicPr>
            <a:picLocks noChangeAspect="1"/>
          </p:cNvPicPr>
          <p:nvPr/>
        </p:nvPicPr>
        <p:blipFill>
          <a:blip r:embed="rId3"/>
          <a:stretch>
            <a:fillRect/>
          </a:stretch>
        </p:blipFill>
        <p:spPr>
          <a:xfrm>
            <a:off x="3078328" y="2011680"/>
            <a:ext cx="6035040" cy="1782723"/>
          </a:xfrm>
          <a:prstGeom prst="rect">
            <a:avLst/>
          </a:prstGeom>
        </p:spPr>
      </p:pic>
      <p:sp>
        <p:nvSpPr>
          <p:cNvPr id="4" name="Text 0"/>
          <p:cNvSpPr txBox="1"/>
          <p:nvPr/>
        </p:nvSpPr>
        <p:spPr>
          <a:xfrm>
            <a:off x="548640" y="3977640"/>
            <a:ext cx="11091672" cy="502920"/>
          </a:xfrm>
          <a:prstGeom prst="rect">
            <a:avLst/>
          </a:prstGeom>
          <a:noFill/>
          <a:ln/>
        </p:spPr>
        <p:txBody>
          <a:bodyPr wrap="square" lIns="0" tIns="0" rIns="0" bIns="0" rtlCol="0" anchor="t"/>
          <a:lstStyle/>
          <a:p>
            <a:pPr algn="ctr" indent="0" marL="0">
              <a:buNone/>
            </a:pPr>
            <a:r>
              <a:rPr lang="en-US" sz="2400" dirty="0">
                <a:solidFill>
                  <a:srgbClr val="FFFFFF"/>
                </a:solidFill>
                <a:latin typeface="Segoe UI Semibold" pitchFamily="34" charset="0"/>
                <a:ea typeface="Segoe UI Semibold" pitchFamily="34" charset="-122"/>
                <a:cs typeface="Segoe UI Semibold" pitchFamily="34" charset="-120"/>
              </a:rPr>
              <a:t>¿Preguntas?</a:t>
            </a:r>
            <a:endParaRPr lang="en-US" sz="2400" dirty="0"/>
          </a:p>
        </p:txBody>
      </p:sp>
      <p:sp>
        <p:nvSpPr>
          <p:cNvPr id="5" name="Shape 1"/>
          <p:cNvSpPr/>
          <p:nvPr/>
        </p:nvSpPr>
        <p:spPr>
          <a:xfrm>
            <a:off x="3261208" y="4709160"/>
            <a:ext cx="5669280" cy="457200"/>
          </a:xfrm>
          <a:prstGeom prst="roundRect">
            <a:avLst>
              <a:gd name="adj" fmla="val 50000"/>
            </a:avLst>
          </a:prstGeom>
          <a:solidFill>
            <a:srgbClr val="FFFFFF">
              <a:alpha val="14000"/>
            </a:srgbClr>
          </a:solidFill>
          <a:ln w="12700">
            <a:solidFill>
              <a:srgbClr val="FFFFFF">
                <a:alpha val="24000"/>
              </a:srgbClr>
            </a:solidFill>
            <a:prstDash val="solid"/>
          </a:ln>
        </p:spPr>
      </p:sp>
      <p:pic>
        <p:nvPicPr>
          <p:cNvPr id="6" name="Image 2" descr="C:\Users\AlexAmaze\AppData\Local\Temp\claude\C--My-Files-repos-supaday-ecommerce\b329a27c-f2be-420c-b170-4436a9ee7093\scratchpad\ppt\assets\icons\github-s.png">    </p:cNvPr>
          <p:cNvPicPr>
            <a:picLocks noChangeAspect="1"/>
          </p:cNvPicPr>
          <p:nvPr/>
        </p:nvPicPr>
        <p:blipFill>
          <a:blip r:embed="rId4"/>
          <a:stretch>
            <a:fillRect/>
          </a:stretch>
        </p:blipFill>
        <p:spPr>
          <a:xfrm>
            <a:off x="3462376" y="4828032"/>
            <a:ext cx="219456" cy="219456"/>
          </a:xfrm>
          <a:prstGeom prst="rect">
            <a:avLst/>
          </a:prstGeom>
        </p:spPr>
      </p:pic>
      <p:sp>
        <p:nvSpPr>
          <p:cNvPr id="7" name="Text 2"/>
          <p:cNvSpPr txBox="1"/>
          <p:nvPr/>
        </p:nvSpPr>
        <p:spPr>
          <a:xfrm>
            <a:off x="3791560" y="4709160"/>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github.com/alexanderkholodov1/supaday-ecommerce</a:t>
            </a:r>
            <a:endParaRPr lang="en-US" sz="1300" dirty="0"/>
          </a:p>
        </p:txBody>
      </p:sp>
      <p:sp>
        <p:nvSpPr>
          <p:cNvPr id="8" name="Shape 3"/>
          <p:cNvSpPr/>
          <p:nvPr/>
        </p:nvSpPr>
        <p:spPr>
          <a:xfrm>
            <a:off x="3261208" y="5276088"/>
            <a:ext cx="5669280" cy="457200"/>
          </a:xfrm>
          <a:prstGeom prst="roundRect">
            <a:avLst>
              <a:gd name="adj" fmla="val 50000"/>
            </a:avLst>
          </a:prstGeom>
          <a:solidFill>
            <a:srgbClr val="FFFFFF">
              <a:alpha val="14000"/>
            </a:srgbClr>
          </a:solidFill>
          <a:ln w="12700">
            <a:solidFill>
              <a:srgbClr val="FFFFFF">
                <a:alpha val="24000"/>
              </a:srgbClr>
            </a:solidFill>
            <a:prstDash val="solid"/>
          </a:ln>
        </p:spPr>
      </p:sp>
      <p:pic>
        <p:nvPicPr>
          <p:cNvPr id="9" name="Image 3" descr="C:\Users\AlexAmaze\AppData\Local\Temp\claude\C--My-Files-repos-supaday-ecommerce\b329a27c-f2be-420c-b170-4436a9ee7093\scratchpad\ppt\assets\icons\home-s.png">    </p:cNvPr>
          <p:cNvPicPr>
            <a:picLocks noChangeAspect="1"/>
          </p:cNvPicPr>
          <p:nvPr/>
        </p:nvPicPr>
        <p:blipFill>
          <a:blip r:embed="rId5"/>
          <a:stretch>
            <a:fillRect/>
          </a:stretch>
        </p:blipFill>
        <p:spPr>
          <a:xfrm>
            <a:off x="3462376" y="5394960"/>
            <a:ext cx="219456" cy="219456"/>
          </a:xfrm>
          <a:prstGeom prst="rect">
            <a:avLst/>
          </a:prstGeom>
        </p:spPr>
      </p:pic>
      <p:sp>
        <p:nvSpPr>
          <p:cNvPr id="10" name="Text 4"/>
          <p:cNvSpPr txBox="1"/>
          <p:nvPr/>
        </p:nvSpPr>
        <p:spPr>
          <a:xfrm>
            <a:off x="3791560" y="5276088"/>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localhost:8000/ec  ·  admin en localhost:9000/app</a:t>
            </a:r>
            <a:endParaRPr lang="en-US" sz="1300" dirty="0"/>
          </a:p>
        </p:txBody>
      </p:sp>
      <p:sp>
        <p:nvSpPr>
          <p:cNvPr id="11" name="Text 5"/>
          <p:cNvSpPr txBox="1"/>
          <p:nvPr/>
        </p:nvSpPr>
        <p:spPr>
          <a:xfrm>
            <a:off x="548640" y="6172200"/>
            <a:ext cx="11091672" cy="274320"/>
          </a:xfrm>
          <a:prstGeom prst="rect">
            <a:avLst/>
          </a:prstGeom>
          <a:noFill/>
          <a:ln/>
        </p:spPr>
        <p:txBody>
          <a:bodyPr wrap="square" lIns="0" tIns="0" rIns="0" bIns="0" rtlCol="0" anchor="t"/>
          <a:lstStyle/>
          <a:p>
            <a:pPr algn="ctr" indent="0" marL="0">
              <a:buNone/>
            </a:pPr>
            <a:r>
              <a:rPr lang="en-US" sz="1100" dirty="0">
                <a:solidFill>
                  <a:srgbClr val="C9D2EE"/>
                </a:solidFill>
                <a:latin typeface="Segoe UI" pitchFamily="34" charset="0"/>
                <a:ea typeface="Segoe UI" pitchFamily="34" charset="-122"/>
                <a:cs typeface="Segoe UI" pitchFamily="34" charset="-120"/>
              </a:rPr>
              <a:t>Alexander Kholodov  ·  AKLabs Store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ebas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AKLabs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AKLabs Store · Medusa v2 + Next.js + Supabase</dc:title>
  <dc:subject>PptxGenJS Presentation</dc:subject>
  <dc:creator>Alexander Kholodov</dc:creator>
  <cp:lastModifiedBy>Alexander Kholodov</cp:lastModifiedBy>
  <cp:revision>1</cp:revision>
  <dcterms:created xsi:type="dcterms:W3CDTF">2026-09-28T14:27:33Z</dcterms:created>
  <dcterms:modified xsi:type="dcterms:W3CDTF">2026-09-28T14:27:33Z</dcterms:modified>
</cp:coreProperties>
</file>